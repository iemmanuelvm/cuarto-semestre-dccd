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9" r:id="rId4"/>
    <p:sldId id="264" r:id="rId5"/>
    <p:sldId id="283" r:id="rId6"/>
    <p:sldId id="258" r:id="rId7"/>
    <p:sldId id="265" r:id="rId8"/>
    <p:sldId id="260" r:id="rId9"/>
    <p:sldId id="286" r:id="rId10"/>
    <p:sldId id="287" r:id="rId11"/>
    <p:sldId id="261" r:id="rId12"/>
    <p:sldId id="267" r:id="rId13"/>
    <p:sldId id="262" r:id="rId14"/>
    <p:sldId id="270" r:id="rId15"/>
    <p:sldId id="272" r:id="rId16"/>
    <p:sldId id="268" r:id="rId17"/>
    <p:sldId id="288" r:id="rId18"/>
    <p:sldId id="263" r:id="rId19"/>
    <p:sldId id="285" r:id="rId20"/>
    <p:sldId id="284" r:id="rId21"/>
    <p:sldId id="273" r:id="rId22"/>
    <p:sldId id="291" r:id="rId23"/>
    <p:sldId id="292" r:id="rId2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F73"/>
    <a:srgbClr val="0C3C57"/>
    <a:srgbClr val="4B809C"/>
    <a:srgbClr val="008E91"/>
    <a:srgbClr val="0D8F95"/>
    <a:srgbClr val="2D7B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88" autoAdjust="0"/>
    <p:restoredTop sz="95868" autoAdjust="0"/>
  </p:normalViewPr>
  <p:slideViewPr>
    <p:cSldViewPr snapToGrid="0">
      <p:cViewPr varScale="1">
        <p:scale>
          <a:sx n="109" d="100"/>
          <a:sy n="109" d="100"/>
        </p:scale>
        <p:origin x="9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590EC9-D202-4E5F-BA58-242D71CEA25B}" type="datetimeFigureOut">
              <a:rPr lang="es-MX" smtClean="0"/>
              <a:t>10/01/2026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966BE-E6A2-4E96-9217-BC457237271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9717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51ED4-7568-1F7D-1E58-44C198E4A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4C8AB9-5529-1C4D-DDC0-1C94723CE3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B05F43-500B-4893-F457-092CBE2A5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02A8C-6334-4A3A-93B6-99B3CB8CEEBC}" type="datetime1">
              <a:rPr lang="es-MX" smtClean="0"/>
              <a:t>10/01/2026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9BDDB2-24B3-AB94-3558-33F13FBA3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BIOSIGNAL 2026, 19TH INTERNATIONAL CONFERENCE ON BIO-INSPIRED SYSTEMS AND SIGNAL PROCESSING</a:t>
            </a:r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13750E-540F-2663-B477-2190EC41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1473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46E2B0-1080-2E29-6464-3635048EE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B1E6B7-5C18-A4EE-2C3A-E1FC15250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31719C-984A-9AEC-9ACC-5386173DF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279FB-120B-4E72-B465-0187E2B64CD1}" type="datetime1">
              <a:rPr lang="es-MX" smtClean="0"/>
              <a:t>10/01/2026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8406E9-A85D-7986-ADE9-0B66970C5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BIOSIGNAL 2026, 19TH INTERNATIONAL CONFERENCE ON BIO-INSPIRED SYSTEMS AND SIGNAL PROCESSING</a:t>
            </a:r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7BB299-21DC-91FE-0AE6-0CBE857C8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84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99C0F-B463-AF60-3919-F8B8C5B4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682769-273B-5B8C-D328-988741118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483AC6-BC91-97B1-0B79-135776186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3348-109D-4E06-8A8E-2B216247CDE8}" type="datetime1">
              <a:rPr lang="es-MX" smtClean="0"/>
              <a:t>10/01/2026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AB386B-6236-EE61-B6FF-8B451095D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BIOSIGNAL 2026, 19TH INTERNATIONAL CONFERENCE ON BIO-INSPIRED SYSTEMS AND SIGNAL PROCESSING</a:t>
            </a:r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A0E16E-8F8F-EB02-9220-F8CC20A79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446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F5E0F-A308-F7D9-0D25-DE713E605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80B021-8BBC-73BF-9B91-5CF0A9F8F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AC59354-0463-19D0-4EFE-517CB2D86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150DD9-D608-A577-1D5A-5BFDD7144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FFFA-95C3-44ED-ABED-2FE51EBC3574}" type="datetime1">
              <a:rPr lang="es-MX" smtClean="0"/>
              <a:t>10/01/2026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6D63C7-EBA7-EEEA-798A-CFC4FD81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BIOSIGNAL 2026, 19TH INTERNATIONAL CONFERENCE ON BIO-INSPIRED SYSTEMS AND SIGNAL PROCESSING</a:t>
            </a:r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755362-DC24-AFE1-E504-8737A9CC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7937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472BB-B4A4-79BD-675B-2525911F6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D420EF-0343-0DD2-73B4-AF2FBB16A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485119-FF03-A76A-C4C7-24447188E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A84DDF5-94B0-CFF7-3F55-CA512C6FD8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2ACB73A-C83A-4BEC-396E-26495DE83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278F600-C865-F2C9-D041-01C15F588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C6E2-99D3-4F4E-9F43-17C2E39CAA3F}" type="datetime1">
              <a:rPr lang="es-MX" smtClean="0"/>
              <a:t>10/01/2026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40EA58D-94AE-5018-26CF-EC732742E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BIOSIGNAL 2026, 19TH INTERNATIONAL CONFERENCE ON BIO-INSPIRED SYSTEMS AND SIGNAL PROCESSING</a:t>
            </a:r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0D6A363-EDDE-EB4B-4EED-EA0E5B8E0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1939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DCCA55-702A-18C0-CE65-B4DFE788B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E130604-E4EA-4BF1-B211-8190EE6B0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6530-91EE-4E74-ABBF-504B1BDEAE7B}" type="datetime1">
              <a:rPr lang="es-MX" smtClean="0"/>
              <a:t>10/01/2026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B13109D-13D1-2D6E-EB89-BC745545D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BIOSIGNAL 2026, 19TH INTERNATIONAL CONFERENCE ON BIO-INSPIRED SYSTEMS AND SIGNAL PROCESSING</a:t>
            </a:r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FC985F-DFAC-9A43-EE46-630FC7E2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2939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47947FA-8464-4399-836F-DEBAD713D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73459-DF9C-4D22-916C-591B4188400E}" type="datetime1">
              <a:rPr lang="es-MX" smtClean="0"/>
              <a:t>10/01/2026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2481000-D547-6F4D-3133-59D8A85D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BIOSIGNAL 2026, 19TH INTERNATIONAL CONFERENCE ON BIO-INSPIRED SYSTEMS AND SIGNAL PROCESSING</a:t>
            </a:r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F5C327-FE39-817E-7789-D155303CC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4954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40411-BA6E-44F0-B286-BD745B143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4E6416-C6FA-004E-611D-6607A15BD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D3D4FF-A6FC-C914-E946-12A811FBD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948EB1-3325-2D4A-BBB3-E0A15A558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D12F6-C5A6-4DE0-B230-F6AD2BB4DEC4}" type="datetime1">
              <a:rPr lang="es-MX" smtClean="0"/>
              <a:t>10/01/2026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97ED41-706B-3EDF-349A-5BCAAB6E4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BIOSIGNAL 2026, 19TH INTERNATIONAL CONFERENCE ON BIO-INSPIRED SYSTEMS AND SIGNAL PROCESSING</a:t>
            </a:r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0C61EF-350F-3AFE-1247-E9AA54884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11519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C7C5A-5128-CCCE-CFDC-8B7AA43C2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5308BC6-4D7A-9E44-FAA8-806E2FD442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FF9664-11D3-8755-DF8C-93489FEAE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7201EA-682C-7748-32DB-DC65E4A11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CD688-BDA8-49B5-8C29-ED9A0DF0F53A}" type="datetime1">
              <a:rPr lang="es-MX" smtClean="0"/>
              <a:t>10/01/2026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FF44C5-AEDC-A279-0E50-0D7FD2E2B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BIOSIGNAL 2026, 19TH INTERNATIONAL CONFERENCE ON BIO-INSPIRED SYSTEMS AND SIGNAL PROCESSING</a:t>
            </a:r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A41024-4DA9-D1BC-2D4C-2AEE67765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2912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752CE9-FA64-A8FE-D336-30DBB15A5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1FD2604-E61F-986C-844F-22194E8A7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F15058-0AFB-DB2C-F677-93C8BA579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AEDC-C1D5-4329-86EC-29413DEC4CB2}" type="datetime1">
              <a:rPr lang="es-MX" smtClean="0"/>
              <a:t>10/01/2026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E56057-290A-0139-6AE4-ADFB306FA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BIOSIGNAL 2026, 19TH INTERNATIONAL CONFERENCE ON BIO-INSPIRED SYSTEMS AND SIGNAL PROCESSING</a:t>
            </a:r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7D3B43-205E-91A1-8C68-12B316F1C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3491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58AD57-4393-A59B-2C70-CADC48A1A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534C2A-80AA-DDF8-6439-D0B606F43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DE39BA-DD5E-AD9D-4310-FEA4FC8F2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E958-D445-4BB0-9F3B-1133FA499F55}" type="datetime1">
              <a:rPr lang="es-MX" smtClean="0"/>
              <a:t>10/01/2026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42528F-5CF7-8A5E-67F1-06BDEA75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BIOSIGNAL 2026, 19TH INTERNATIONAL CONFERENCE ON BIO-INSPIRED SYSTEMS AND SIGNAL PROCESSING</a:t>
            </a:r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8C9487-B2C0-D94C-FD62-70DC5E604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4244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C2AB472-1945-2DB0-A6EE-A962B32D8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D5C9BB-662E-76C1-5B58-754B0B023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218E9C-3AD8-9273-E5A4-04A7FD8E05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4091FD-6C1C-4A46-890B-2DA280EE7EDB}" type="datetime1">
              <a:rPr lang="es-MX" smtClean="0"/>
              <a:t>10/01/2026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1ACE16-7D24-AC1D-A9BB-27B4DFEBE6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BIOSIGNAL 2026, 19TH INTERNATIONAL CONFERENCE ON BIO-INSPIRED SYSTEMS AND SIGNAL PROCESSING</a:t>
            </a:r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0447DA-7E3D-E171-436F-CE833E52A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AB0B9-C5C0-48C4-9184-1111787E723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4642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webp"/><Relationship Id="rId5" Type="http://schemas.openxmlformats.org/officeDocument/2006/relationships/image" Target="../media/image4.webp"/><Relationship Id="rId4" Type="http://schemas.openxmlformats.org/officeDocument/2006/relationships/image" Target="../media/image3.web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webp"/><Relationship Id="rId5" Type="http://schemas.openxmlformats.org/officeDocument/2006/relationships/image" Target="../media/image4.webp"/><Relationship Id="rId4" Type="http://schemas.openxmlformats.org/officeDocument/2006/relationships/image" Target="../media/image3.webp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B05564-3C8F-6CE7-7F2B-8676BC54E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1470" y="2337422"/>
            <a:ext cx="9144000" cy="1352936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RESEARCH TOPIC:</a:t>
            </a:r>
            <a:b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DA-NN: A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ResNet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-Based Architecture with Domain Adaptation for Automatic EEG Artifact Identification</a:t>
            </a:r>
            <a:endParaRPr lang="es-MX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72116A-5D5B-4DC6-A01A-71A116C4A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94935" y="4265194"/>
            <a:ext cx="2431228" cy="1183106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INFOTEC</a:t>
            </a:r>
          </a:p>
          <a:p>
            <a:pPr algn="l">
              <a:lnSpc>
                <a:spcPct val="110000"/>
              </a:lnSpc>
            </a:pP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Centro de Investigación e Innovación en Tecnologías de la Información y Comunicación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AB7E1F7-922E-C37A-A8EC-D99C2107F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" y="-28364"/>
            <a:ext cx="12192000" cy="2084832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D8BD507-0185-9679-ADE2-1229C53A1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79" y="5877870"/>
            <a:ext cx="2510120" cy="72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F8B237A-578E-18D3-0B91-38B4B572D4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046" y="5884300"/>
            <a:ext cx="1968500" cy="5461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C261623-2670-AE95-B032-F3B7728A39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893" y="5775138"/>
            <a:ext cx="952500" cy="889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3774C0B-6DEA-4A1C-7DF9-72D100BD9D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739" y="5827110"/>
            <a:ext cx="1701800" cy="825500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9F276F8C-70C6-E621-48E5-C8E751DB73DB}"/>
              </a:ext>
            </a:extLst>
          </p:cNvPr>
          <p:cNvSpPr/>
          <p:nvPr/>
        </p:nvSpPr>
        <p:spPr>
          <a:xfrm>
            <a:off x="1708639" y="2227454"/>
            <a:ext cx="74441" cy="3065566"/>
          </a:xfrm>
          <a:prstGeom prst="rect">
            <a:avLst/>
          </a:prstGeom>
          <a:solidFill>
            <a:srgbClr val="008E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A086A773-153A-4D81-621C-CBDB22C1C0DD}"/>
              </a:ext>
            </a:extLst>
          </p:cNvPr>
          <p:cNvSpPr txBox="1">
            <a:spLocks/>
          </p:cNvSpPr>
          <p:nvPr/>
        </p:nvSpPr>
        <p:spPr>
          <a:xfrm>
            <a:off x="2850931" y="4265196"/>
            <a:ext cx="2431227" cy="90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Emmanuel de Jesús </a:t>
            </a:r>
          </a:p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Velásquez-Martínez</a:t>
            </a:r>
            <a:endParaRPr lang="es-MX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EF3ECE5B-26C9-C1E9-448E-D9F35131AF41}"/>
              </a:ext>
            </a:extLst>
          </p:cNvPr>
          <p:cNvSpPr txBox="1">
            <a:spLocks/>
          </p:cNvSpPr>
          <p:nvPr/>
        </p:nvSpPr>
        <p:spPr>
          <a:xfrm>
            <a:off x="6364580" y="4265196"/>
            <a:ext cx="2431228" cy="9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Miguel Ángel </a:t>
            </a:r>
          </a:p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Porta-García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2FF996F8-1BBD-38DE-161D-1037157A147C}"/>
              </a:ext>
            </a:extLst>
          </p:cNvPr>
          <p:cNvSpPr/>
          <p:nvPr/>
        </p:nvSpPr>
        <p:spPr>
          <a:xfrm>
            <a:off x="1905804" y="4265196"/>
            <a:ext cx="864197" cy="864197"/>
          </a:xfrm>
          <a:prstGeom prst="ellipse">
            <a:avLst/>
          </a:prstGeom>
          <a:solidFill>
            <a:srgbClr val="008E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A6FE9090-83BE-352D-E3C5-72A1D876D24F}"/>
              </a:ext>
            </a:extLst>
          </p:cNvPr>
          <p:cNvSpPr/>
          <p:nvPr/>
        </p:nvSpPr>
        <p:spPr>
          <a:xfrm>
            <a:off x="5634023" y="4265196"/>
            <a:ext cx="864197" cy="864197"/>
          </a:xfrm>
          <a:prstGeom prst="ellipse">
            <a:avLst/>
          </a:prstGeom>
          <a:solidFill>
            <a:srgbClr val="008E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</a:p>
        </p:txBody>
      </p:sp>
      <p:pic>
        <p:nvPicPr>
          <p:cNvPr id="1030" name="Picture 6" descr="School Vector Icons free download in SVG, PNG Format">
            <a:extLst>
              <a:ext uri="{FF2B5EF4-FFF2-40B4-BE49-F238E27FC236}">
                <a16:creationId xmlns:a16="http://schemas.microsoft.com/office/drawing/2014/main" id="{BD937F6C-9EF9-AB51-B87D-0F6B25839468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1" t="16016" r="11487" b="14843"/>
          <a:stretch>
            <a:fillRect/>
          </a:stretch>
        </p:blipFill>
        <p:spPr bwMode="auto">
          <a:xfrm>
            <a:off x="8896350" y="4476750"/>
            <a:ext cx="368130" cy="378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691368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64EDE7A6-8A44-E38E-B25C-773660B48277}"/>
              </a:ext>
            </a:extLst>
          </p:cNvPr>
          <p:cNvSpPr/>
          <p:nvPr/>
        </p:nvSpPr>
        <p:spPr>
          <a:xfrm>
            <a:off x="0" y="-119062"/>
            <a:ext cx="12192000" cy="657225"/>
          </a:xfrm>
          <a:prstGeom prst="rect">
            <a:avLst/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>
                <a:latin typeface="Bahnschrift SemiBold" panose="020B0502040204020203" pitchFamily="34" charset="0"/>
                <a:cs typeface="Arial" panose="020B0604020202020204" pitchFamily="34" charset="0"/>
              </a:rPr>
              <a:t>    BIOSIGNALS </a:t>
            </a:r>
            <a:r>
              <a:rPr lang="es-MX" sz="2800" dirty="0">
                <a:solidFill>
                  <a:srgbClr val="0C3C57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FA67EB-BD5E-7FAD-03AC-DCE56B8C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292183-CCE3-7C42-1DEE-C79EB01EA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Related Works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Materials and Methods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Sinkhorn-Based Domain Alignment Process Applied to Deep Learning Models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Experimentation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BD6B089-68C0-C418-D2D4-29FDBBE6E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8077" y="6356350"/>
            <a:ext cx="7447085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BIOSIGNAL 2026, 19TH INTERNATIONAL CONFERENCE ON BIO-INSPIRED SYSTEMS AND SIGNAL PROCESSING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4F92EA3-CAA2-0617-8624-3993B3500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b="1" smtClean="0">
                <a:solidFill>
                  <a:schemeClr val="tx1"/>
                </a:solidFill>
              </a:rPr>
              <a:t>2</a:t>
            </a:fld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78E02DB-E88B-2200-9FDE-A3A7BEB642C5}"/>
              </a:ext>
            </a:extLst>
          </p:cNvPr>
          <p:cNvSpPr/>
          <p:nvPr/>
        </p:nvSpPr>
        <p:spPr>
          <a:xfrm>
            <a:off x="10703122" y="6667500"/>
            <a:ext cx="1488878" cy="193934"/>
          </a:xfrm>
          <a:prstGeom prst="rect">
            <a:avLst/>
          </a:prstGeom>
          <a:solidFill>
            <a:srgbClr val="2D7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8093595-FBB8-41AB-F6DD-693D4FE19FFB}"/>
              </a:ext>
            </a:extLst>
          </p:cNvPr>
          <p:cNvSpPr/>
          <p:nvPr/>
        </p:nvSpPr>
        <p:spPr>
          <a:xfrm>
            <a:off x="8918378" y="6777038"/>
            <a:ext cx="3273622" cy="88900"/>
          </a:xfrm>
          <a:prstGeom prst="rect">
            <a:avLst/>
          </a:prstGeom>
          <a:solidFill>
            <a:srgbClr val="0D8F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398359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993AF-A687-96D5-4847-2933BF38D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F4B168-B739-7659-9391-A1B9F3785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DD5077-1AA6-E6EE-79E8-32188E3E8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noProof="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Related Works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Materials and Methods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Sinkhorn-Based Domain Alignment Process Applied to Deep Learning Models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Experimentation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C0A8868-359A-68B2-FA79-60BD72576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8077" y="6356350"/>
            <a:ext cx="7447085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BIOSIGNAL 2026, 19TH INTERNATIONAL CONFERENCE ON BIO-INSPIRED SYSTEMS AND SIGNAL PROCESSING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7680A23-2C3E-F3FE-B0E7-F1B459F21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b="1" smtClean="0">
                <a:solidFill>
                  <a:schemeClr val="tx1"/>
                </a:solidFill>
              </a:rPr>
              <a:t>3</a:t>
            </a:fld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ED556D3-6081-72F0-7523-F75643D3DBB5}"/>
              </a:ext>
            </a:extLst>
          </p:cNvPr>
          <p:cNvSpPr/>
          <p:nvPr/>
        </p:nvSpPr>
        <p:spPr>
          <a:xfrm>
            <a:off x="10703122" y="6667500"/>
            <a:ext cx="1488878" cy="193934"/>
          </a:xfrm>
          <a:prstGeom prst="rect">
            <a:avLst/>
          </a:prstGeom>
          <a:solidFill>
            <a:srgbClr val="2D7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4FE72DE-51D6-3D9F-DEA0-21A65B43AFC9}"/>
              </a:ext>
            </a:extLst>
          </p:cNvPr>
          <p:cNvSpPr/>
          <p:nvPr/>
        </p:nvSpPr>
        <p:spPr>
          <a:xfrm>
            <a:off x="8918378" y="6777038"/>
            <a:ext cx="3273622" cy="88900"/>
          </a:xfrm>
          <a:prstGeom prst="rect">
            <a:avLst/>
          </a:prstGeom>
          <a:solidFill>
            <a:srgbClr val="0D8F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E9A0118-BBC5-9961-F1E3-7251D6C633DD}"/>
              </a:ext>
            </a:extLst>
          </p:cNvPr>
          <p:cNvSpPr/>
          <p:nvPr/>
        </p:nvSpPr>
        <p:spPr>
          <a:xfrm>
            <a:off x="0" y="-119062"/>
            <a:ext cx="12192000" cy="657225"/>
          </a:xfrm>
          <a:prstGeom prst="rect">
            <a:avLst/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>
                <a:latin typeface="Bahnschrift SemiBold" panose="020B0502040204020203" pitchFamily="34" charset="0"/>
                <a:cs typeface="Arial" panose="020B0604020202020204" pitchFamily="34" charset="0"/>
              </a:rPr>
              <a:t>    BIOSIGNALS </a:t>
            </a:r>
            <a:r>
              <a:rPr lang="es-MX" sz="2800" dirty="0">
                <a:solidFill>
                  <a:srgbClr val="0C3C57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01631585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94EDD-5B42-3742-CFF6-C8A4AFAF3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A22FA4EA-4A2E-75A8-FABD-DAD61235067B}"/>
              </a:ext>
            </a:extLst>
          </p:cNvPr>
          <p:cNvSpPr/>
          <p:nvPr/>
        </p:nvSpPr>
        <p:spPr>
          <a:xfrm>
            <a:off x="838200" y="1844675"/>
            <a:ext cx="6638925" cy="3876675"/>
          </a:xfrm>
          <a:prstGeom prst="roundRect">
            <a:avLst>
              <a:gd name="adj" fmla="val 2171"/>
            </a:avLst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6A261E4-554A-0B8E-E0D9-63EB3A8C7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9113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br>
              <a:rPr lang="en-US" sz="28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EEG Essentials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B969A01-7FB9-D2F8-3045-8161BC19E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8077" y="6356350"/>
            <a:ext cx="7447085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BIOSIGNAL 2026, 19TH INTERNATIONAL CONFERENCE ON BIO-INSPIRED SYSTEMS AND SIGNAL PROCESSING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0D69F0D-5764-C71B-E90E-258C3B1D0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b="1" smtClean="0">
                <a:solidFill>
                  <a:schemeClr val="tx1"/>
                </a:solidFill>
              </a:rPr>
              <a:t>4</a:t>
            </a:fld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613857F-43ED-92CD-ABB8-F7BEF271A142}"/>
              </a:ext>
            </a:extLst>
          </p:cNvPr>
          <p:cNvSpPr/>
          <p:nvPr/>
        </p:nvSpPr>
        <p:spPr>
          <a:xfrm>
            <a:off x="10703122" y="6667500"/>
            <a:ext cx="1488878" cy="193934"/>
          </a:xfrm>
          <a:prstGeom prst="rect">
            <a:avLst/>
          </a:prstGeom>
          <a:solidFill>
            <a:srgbClr val="2D7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F048007-B4A4-5063-8643-4790C1D47303}"/>
              </a:ext>
            </a:extLst>
          </p:cNvPr>
          <p:cNvSpPr/>
          <p:nvPr/>
        </p:nvSpPr>
        <p:spPr>
          <a:xfrm>
            <a:off x="8918378" y="6777038"/>
            <a:ext cx="3273622" cy="88900"/>
          </a:xfrm>
          <a:prstGeom prst="rect">
            <a:avLst/>
          </a:prstGeom>
          <a:solidFill>
            <a:srgbClr val="0D8F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5A1FDAC-FF02-550D-5642-A8160819D47F}"/>
              </a:ext>
            </a:extLst>
          </p:cNvPr>
          <p:cNvSpPr/>
          <p:nvPr/>
        </p:nvSpPr>
        <p:spPr>
          <a:xfrm>
            <a:off x="0" y="-119062"/>
            <a:ext cx="12192000" cy="657225"/>
          </a:xfrm>
          <a:prstGeom prst="rect">
            <a:avLst/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>
                <a:latin typeface="Bahnschrift SemiBold" panose="020B0502040204020203" pitchFamily="34" charset="0"/>
                <a:cs typeface="Arial" panose="020B0604020202020204" pitchFamily="34" charset="0"/>
              </a:rPr>
              <a:t>    BIOSIGNALS </a:t>
            </a:r>
            <a:r>
              <a:rPr lang="es-MX" sz="2800" dirty="0">
                <a:solidFill>
                  <a:srgbClr val="0C3C57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3CDE8B20-490D-A90B-DF74-BBBAF5FCB676}"/>
              </a:ext>
            </a:extLst>
          </p:cNvPr>
          <p:cNvSpPr/>
          <p:nvPr/>
        </p:nvSpPr>
        <p:spPr>
          <a:xfrm>
            <a:off x="914400" y="1844676"/>
            <a:ext cx="6638925" cy="3876675"/>
          </a:xfrm>
          <a:prstGeom prst="roundRect">
            <a:avLst>
              <a:gd name="adj" fmla="val 21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b="1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Electroencephalography (EEG) captures cortical electrical activity through non-invasive scalp electrodes </a:t>
            </a:r>
            <a:r>
              <a:rPr lang="es-MX" sz="1600" b="1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(Ahmed, 2022)</a:t>
            </a:r>
            <a:r>
              <a:rPr lang="en-US" sz="1600" b="1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600" b="1" dirty="0">
              <a:solidFill>
                <a:srgbClr val="0C3C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s-MX" sz="1600" b="1" dirty="0" err="1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</a:t>
            </a:r>
            <a:r>
              <a:rPr lang="es-MX" sz="1600" b="1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s-MX" sz="1600" b="1" dirty="0" err="1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  <a:r>
              <a:rPr lang="es-MX" sz="1600" b="1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 err="1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Utility</a:t>
            </a:r>
            <a:r>
              <a:rPr lang="es-MX" sz="1600" b="1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MX" sz="1600" dirty="0" err="1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Essential</a:t>
            </a:r>
            <a:r>
              <a:rPr lang="es-MX" sz="1600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s-MX" sz="1600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neurology</a:t>
            </a:r>
            <a:r>
              <a:rPr lang="es-MX" sz="1600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MX" sz="1600" dirty="0" err="1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epilepsy</a:t>
            </a:r>
            <a:r>
              <a:rPr lang="es-MX" sz="1600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s-MX" sz="1600" dirty="0" err="1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sleep</a:t>
            </a:r>
            <a:r>
              <a:rPr lang="es-MX" sz="1600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medicine, cognitive </a:t>
            </a:r>
            <a:r>
              <a:rPr lang="es-MX" sz="1600" dirty="0" err="1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neuroscience</a:t>
            </a:r>
            <a:r>
              <a:rPr lang="es-MX" sz="1600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sz="1600" dirty="0" err="1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Brain-Computer</a:t>
            </a:r>
            <a:r>
              <a:rPr lang="es-MX" sz="1600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Interfaces (BCI), and ICU </a:t>
            </a:r>
            <a:r>
              <a:rPr lang="es-MX" sz="1600" dirty="0" err="1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monitoring</a:t>
            </a:r>
            <a:r>
              <a:rPr lang="es-MX" sz="1600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(Saba-</a:t>
            </a:r>
            <a:r>
              <a:rPr lang="es-MX" sz="1600" dirty="0" err="1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Sadiya</a:t>
            </a:r>
            <a:r>
              <a:rPr lang="es-MX" sz="1600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al., 2021).</a:t>
            </a:r>
          </a:p>
          <a:p>
            <a:pPr lvl="1" algn="just"/>
            <a:endParaRPr lang="es-MX" sz="1600" b="1" dirty="0">
              <a:solidFill>
                <a:srgbClr val="0C3C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s-MX" sz="1600" b="1" dirty="0" err="1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Critical</a:t>
            </a:r>
            <a:r>
              <a:rPr lang="es-MX" sz="1600" b="1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 err="1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</a:t>
            </a:r>
            <a:r>
              <a:rPr lang="es-MX" sz="1600" b="1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Diagnostic accuracy heavily relies on clean signals. Artifacts can mimic pathology, making robust identification crucial.</a:t>
            </a:r>
            <a:r>
              <a:rPr lang="es-MX" sz="1600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MX" sz="1600" dirty="0" err="1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Chuang</a:t>
            </a:r>
            <a:r>
              <a:rPr lang="es-MX" sz="1600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al., 2022).</a:t>
            </a:r>
          </a:p>
          <a:p>
            <a:pPr lvl="1" algn="just"/>
            <a:endParaRPr lang="es-MX" sz="1600" b="1" dirty="0">
              <a:solidFill>
                <a:srgbClr val="0C3C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1600" b="1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Characteristics: </a:t>
            </a:r>
            <a:r>
              <a:rPr lang="en-US" sz="1600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temporal resolution but low spatial resolution; signals are microvolt-scale (µV) and highly susceptible to noise </a:t>
            </a:r>
            <a:r>
              <a:rPr lang="es-MX" sz="1600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(Huang et al., 2024)</a:t>
            </a:r>
            <a:r>
              <a:rPr lang="en-US" sz="1600" dirty="0">
                <a:solidFill>
                  <a:srgbClr val="0C3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sz="1600" dirty="0">
              <a:solidFill>
                <a:srgbClr val="0C3C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Google Shape;9346;p75">
            <a:extLst>
              <a:ext uri="{FF2B5EF4-FFF2-40B4-BE49-F238E27FC236}">
                <a16:creationId xmlns:a16="http://schemas.microsoft.com/office/drawing/2014/main" id="{228261D9-3370-EA0D-3BF4-6E7284544CE3}"/>
              </a:ext>
            </a:extLst>
          </p:cNvPr>
          <p:cNvSpPr/>
          <p:nvPr/>
        </p:nvSpPr>
        <p:spPr>
          <a:xfrm>
            <a:off x="1036280" y="2901030"/>
            <a:ext cx="353180" cy="314589"/>
          </a:xfrm>
          <a:custGeom>
            <a:avLst/>
            <a:gdLst/>
            <a:ahLst/>
            <a:cxnLst/>
            <a:rect l="l" t="t" r="r" b="b"/>
            <a:pathLst>
              <a:path w="11815" h="10524" extrusionOk="0">
                <a:moveTo>
                  <a:pt x="8664" y="726"/>
                </a:moveTo>
                <a:cubicBezTo>
                  <a:pt x="9326" y="726"/>
                  <a:pt x="9956" y="1009"/>
                  <a:pt x="10428" y="1482"/>
                </a:cubicBezTo>
                <a:cubicBezTo>
                  <a:pt x="10869" y="1954"/>
                  <a:pt x="11090" y="2616"/>
                  <a:pt x="11090" y="3309"/>
                </a:cubicBezTo>
                <a:cubicBezTo>
                  <a:pt x="11090" y="4191"/>
                  <a:pt x="10712" y="4853"/>
                  <a:pt x="10082" y="5577"/>
                </a:cubicBezTo>
                <a:lnTo>
                  <a:pt x="7435" y="5577"/>
                </a:lnTo>
                <a:cubicBezTo>
                  <a:pt x="7309" y="5577"/>
                  <a:pt x="7215" y="5640"/>
                  <a:pt x="7120" y="5735"/>
                </a:cubicBezTo>
                <a:lnTo>
                  <a:pt x="6648" y="6522"/>
                </a:lnTo>
                <a:lnTo>
                  <a:pt x="5545" y="3687"/>
                </a:lnTo>
                <a:cubicBezTo>
                  <a:pt x="5514" y="3561"/>
                  <a:pt x="5388" y="3435"/>
                  <a:pt x="5230" y="3435"/>
                </a:cubicBezTo>
                <a:cubicBezTo>
                  <a:pt x="5073" y="3435"/>
                  <a:pt x="4947" y="3529"/>
                  <a:pt x="4915" y="3624"/>
                </a:cubicBezTo>
                <a:lnTo>
                  <a:pt x="4096" y="5514"/>
                </a:lnTo>
                <a:lnTo>
                  <a:pt x="1702" y="5514"/>
                </a:lnTo>
                <a:cubicBezTo>
                  <a:pt x="1103" y="4853"/>
                  <a:pt x="693" y="4191"/>
                  <a:pt x="693" y="3309"/>
                </a:cubicBezTo>
                <a:cubicBezTo>
                  <a:pt x="693" y="2616"/>
                  <a:pt x="945" y="1986"/>
                  <a:pt x="1355" y="1482"/>
                </a:cubicBezTo>
                <a:cubicBezTo>
                  <a:pt x="1796" y="1009"/>
                  <a:pt x="2426" y="726"/>
                  <a:pt x="3151" y="726"/>
                </a:cubicBezTo>
                <a:cubicBezTo>
                  <a:pt x="4096" y="726"/>
                  <a:pt x="4726" y="1293"/>
                  <a:pt x="5073" y="1797"/>
                </a:cubicBezTo>
                <a:cubicBezTo>
                  <a:pt x="5388" y="2206"/>
                  <a:pt x="5545" y="2647"/>
                  <a:pt x="5577" y="2836"/>
                </a:cubicBezTo>
                <a:cubicBezTo>
                  <a:pt x="5608" y="2994"/>
                  <a:pt x="5766" y="3088"/>
                  <a:pt x="5892" y="3088"/>
                </a:cubicBezTo>
                <a:cubicBezTo>
                  <a:pt x="6049" y="3088"/>
                  <a:pt x="6175" y="2994"/>
                  <a:pt x="6207" y="2836"/>
                </a:cubicBezTo>
                <a:cubicBezTo>
                  <a:pt x="6238" y="2679"/>
                  <a:pt x="6459" y="2206"/>
                  <a:pt x="6742" y="1797"/>
                </a:cubicBezTo>
                <a:cubicBezTo>
                  <a:pt x="7089" y="1293"/>
                  <a:pt x="7687" y="726"/>
                  <a:pt x="8664" y="726"/>
                </a:cubicBezTo>
                <a:close/>
                <a:moveTo>
                  <a:pt x="5293" y="4790"/>
                </a:moveTo>
                <a:lnTo>
                  <a:pt x="6364" y="7468"/>
                </a:lnTo>
                <a:cubicBezTo>
                  <a:pt x="6396" y="7562"/>
                  <a:pt x="6522" y="7657"/>
                  <a:pt x="6648" y="7688"/>
                </a:cubicBezTo>
                <a:lnTo>
                  <a:pt x="6679" y="7688"/>
                </a:lnTo>
                <a:cubicBezTo>
                  <a:pt x="6805" y="7688"/>
                  <a:pt x="6931" y="7625"/>
                  <a:pt x="6994" y="7531"/>
                </a:cubicBezTo>
                <a:lnTo>
                  <a:pt x="7750" y="6302"/>
                </a:lnTo>
                <a:lnTo>
                  <a:pt x="9483" y="6302"/>
                </a:lnTo>
                <a:cubicBezTo>
                  <a:pt x="9168" y="6459"/>
                  <a:pt x="8916" y="6711"/>
                  <a:pt x="8664" y="6932"/>
                </a:cubicBezTo>
                <a:cubicBezTo>
                  <a:pt x="7813" y="7688"/>
                  <a:pt x="6868" y="8507"/>
                  <a:pt x="5923" y="9610"/>
                </a:cubicBezTo>
                <a:cubicBezTo>
                  <a:pt x="4978" y="8507"/>
                  <a:pt x="4033" y="7688"/>
                  <a:pt x="3214" y="6932"/>
                </a:cubicBezTo>
                <a:cubicBezTo>
                  <a:pt x="2930" y="6711"/>
                  <a:pt x="2710" y="6459"/>
                  <a:pt x="2458" y="6270"/>
                </a:cubicBezTo>
                <a:lnTo>
                  <a:pt x="4411" y="6270"/>
                </a:lnTo>
                <a:cubicBezTo>
                  <a:pt x="4505" y="6270"/>
                  <a:pt x="4663" y="6207"/>
                  <a:pt x="4726" y="6081"/>
                </a:cubicBezTo>
                <a:lnTo>
                  <a:pt x="5293" y="4790"/>
                </a:lnTo>
                <a:close/>
                <a:moveTo>
                  <a:pt x="3151" y="1"/>
                </a:moveTo>
                <a:cubicBezTo>
                  <a:pt x="2269" y="1"/>
                  <a:pt x="1449" y="379"/>
                  <a:pt x="851" y="1009"/>
                </a:cubicBezTo>
                <a:cubicBezTo>
                  <a:pt x="315" y="1576"/>
                  <a:pt x="0" y="2427"/>
                  <a:pt x="0" y="3309"/>
                </a:cubicBezTo>
                <a:cubicBezTo>
                  <a:pt x="0" y="4097"/>
                  <a:pt x="252" y="4821"/>
                  <a:pt x="819" y="5514"/>
                </a:cubicBezTo>
                <a:lnTo>
                  <a:pt x="819" y="5577"/>
                </a:lnTo>
                <a:lnTo>
                  <a:pt x="347" y="5577"/>
                </a:lnTo>
                <a:cubicBezTo>
                  <a:pt x="158" y="5577"/>
                  <a:pt x="0" y="5735"/>
                  <a:pt x="0" y="5924"/>
                </a:cubicBezTo>
                <a:cubicBezTo>
                  <a:pt x="0" y="6113"/>
                  <a:pt x="158" y="6270"/>
                  <a:pt x="347" y="6270"/>
                </a:cubicBezTo>
                <a:lnTo>
                  <a:pt x="1418" y="6270"/>
                </a:lnTo>
                <a:cubicBezTo>
                  <a:pt x="1796" y="6680"/>
                  <a:pt x="2237" y="7058"/>
                  <a:pt x="2710" y="7468"/>
                </a:cubicBezTo>
                <a:cubicBezTo>
                  <a:pt x="3623" y="8255"/>
                  <a:pt x="4600" y="9137"/>
                  <a:pt x="5640" y="10366"/>
                </a:cubicBezTo>
                <a:lnTo>
                  <a:pt x="5640" y="10397"/>
                </a:lnTo>
                <a:cubicBezTo>
                  <a:pt x="5703" y="10492"/>
                  <a:pt x="5797" y="10524"/>
                  <a:pt x="5892" y="10524"/>
                </a:cubicBezTo>
                <a:cubicBezTo>
                  <a:pt x="6018" y="10524"/>
                  <a:pt x="6081" y="10492"/>
                  <a:pt x="6175" y="10397"/>
                </a:cubicBezTo>
                <a:lnTo>
                  <a:pt x="6175" y="10366"/>
                </a:lnTo>
                <a:cubicBezTo>
                  <a:pt x="7152" y="9137"/>
                  <a:pt x="8192" y="8287"/>
                  <a:pt x="9074" y="7468"/>
                </a:cubicBezTo>
                <a:cubicBezTo>
                  <a:pt x="9546" y="7026"/>
                  <a:pt x="9987" y="6617"/>
                  <a:pt x="10397" y="6270"/>
                </a:cubicBezTo>
                <a:lnTo>
                  <a:pt x="11437" y="6270"/>
                </a:lnTo>
                <a:cubicBezTo>
                  <a:pt x="11657" y="6270"/>
                  <a:pt x="11815" y="6113"/>
                  <a:pt x="11815" y="5924"/>
                </a:cubicBezTo>
                <a:cubicBezTo>
                  <a:pt x="11815" y="5735"/>
                  <a:pt x="11657" y="5577"/>
                  <a:pt x="11437" y="5577"/>
                </a:cubicBezTo>
                <a:lnTo>
                  <a:pt x="10964" y="5577"/>
                </a:lnTo>
                <a:lnTo>
                  <a:pt x="10964" y="5514"/>
                </a:lnTo>
                <a:cubicBezTo>
                  <a:pt x="11531" y="4821"/>
                  <a:pt x="11815" y="4097"/>
                  <a:pt x="11815" y="3309"/>
                </a:cubicBezTo>
                <a:cubicBezTo>
                  <a:pt x="11815" y="2458"/>
                  <a:pt x="11500" y="1639"/>
                  <a:pt x="10932" y="1009"/>
                </a:cubicBezTo>
                <a:cubicBezTo>
                  <a:pt x="10365" y="379"/>
                  <a:pt x="9578" y="1"/>
                  <a:pt x="8664" y="1"/>
                </a:cubicBezTo>
                <a:cubicBezTo>
                  <a:pt x="7404" y="1"/>
                  <a:pt x="6616" y="757"/>
                  <a:pt x="6175" y="1387"/>
                </a:cubicBezTo>
                <a:cubicBezTo>
                  <a:pt x="6049" y="1545"/>
                  <a:pt x="5986" y="1702"/>
                  <a:pt x="5892" y="1860"/>
                </a:cubicBezTo>
                <a:cubicBezTo>
                  <a:pt x="5829" y="1702"/>
                  <a:pt x="5703" y="1545"/>
                  <a:pt x="5640" y="1387"/>
                </a:cubicBezTo>
                <a:cubicBezTo>
                  <a:pt x="5199" y="757"/>
                  <a:pt x="4411" y="1"/>
                  <a:pt x="3151" y="1"/>
                </a:cubicBezTo>
                <a:close/>
              </a:path>
            </a:pathLst>
          </a:cu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9346;p75">
            <a:extLst>
              <a:ext uri="{FF2B5EF4-FFF2-40B4-BE49-F238E27FC236}">
                <a16:creationId xmlns:a16="http://schemas.microsoft.com/office/drawing/2014/main" id="{D9A4084E-D705-984A-F4E1-9A37E7764559}"/>
              </a:ext>
            </a:extLst>
          </p:cNvPr>
          <p:cNvSpPr/>
          <p:nvPr/>
        </p:nvSpPr>
        <p:spPr>
          <a:xfrm>
            <a:off x="1036280" y="3850618"/>
            <a:ext cx="353180" cy="314589"/>
          </a:xfrm>
          <a:custGeom>
            <a:avLst/>
            <a:gdLst/>
            <a:ahLst/>
            <a:cxnLst/>
            <a:rect l="l" t="t" r="r" b="b"/>
            <a:pathLst>
              <a:path w="11815" h="10524" extrusionOk="0">
                <a:moveTo>
                  <a:pt x="8664" y="726"/>
                </a:moveTo>
                <a:cubicBezTo>
                  <a:pt x="9326" y="726"/>
                  <a:pt x="9956" y="1009"/>
                  <a:pt x="10428" y="1482"/>
                </a:cubicBezTo>
                <a:cubicBezTo>
                  <a:pt x="10869" y="1954"/>
                  <a:pt x="11090" y="2616"/>
                  <a:pt x="11090" y="3309"/>
                </a:cubicBezTo>
                <a:cubicBezTo>
                  <a:pt x="11090" y="4191"/>
                  <a:pt x="10712" y="4853"/>
                  <a:pt x="10082" y="5577"/>
                </a:cubicBezTo>
                <a:lnTo>
                  <a:pt x="7435" y="5577"/>
                </a:lnTo>
                <a:cubicBezTo>
                  <a:pt x="7309" y="5577"/>
                  <a:pt x="7215" y="5640"/>
                  <a:pt x="7120" y="5735"/>
                </a:cubicBezTo>
                <a:lnTo>
                  <a:pt x="6648" y="6522"/>
                </a:lnTo>
                <a:lnTo>
                  <a:pt x="5545" y="3687"/>
                </a:lnTo>
                <a:cubicBezTo>
                  <a:pt x="5514" y="3561"/>
                  <a:pt x="5388" y="3435"/>
                  <a:pt x="5230" y="3435"/>
                </a:cubicBezTo>
                <a:cubicBezTo>
                  <a:pt x="5073" y="3435"/>
                  <a:pt x="4947" y="3529"/>
                  <a:pt x="4915" y="3624"/>
                </a:cubicBezTo>
                <a:lnTo>
                  <a:pt x="4096" y="5514"/>
                </a:lnTo>
                <a:lnTo>
                  <a:pt x="1702" y="5514"/>
                </a:lnTo>
                <a:cubicBezTo>
                  <a:pt x="1103" y="4853"/>
                  <a:pt x="693" y="4191"/>
                  <a:pt x="693" y="3309"/>
                </a:cubicBezTo>
                <a:cubicBezTo>
                  <a:pt x="693" y="2616"/>
                  <a:pt x="945" y="1986"/>
                  <a:pt x="1355" y="1482"/>
                </a:cubicBezTo>
                <a:cubicBezTo>
                  <a:pt x="1796" y="1009"/>
                  <a:pt x="2426" y="726"/>
                  <a:pt x="3151" y="726"/>
                </a:cubicBezTo>
                <a:cubicBezTo>
                  <a:pt x="4096" y="726"/>
                  <a:pt x="4726" y="1293"/>
                  <a:pt x="5073" y="1797"/>
                </a:cubicBezTo>
                <a:cubicBezTo>
                  <a:pt x="5388" y="2206"/>
                  <a:pt x="5545" y="2647"/>
                  <a:pt x="5577" y="2836"/>
                </a:cubicBezTo>
                <a:cubicBezTo>
                  <a:pt x="5608" y="2994"/>
                  <a:pt x="5766" y="3088"/>
                  <a:pt x="5892" y="3088"/>
                </a:cubicBezTo>
                <a:cubicBezTo>
                  <a:pt x="6049" y="3088"/>
                  <a:pt x="6175" y="2994"/>
                  <a:pt x="6207" y="2836"/>
                </a:cubicBezTo>
                <a:cubicBezTo>
                  <a:pt x="6238" y="2679"/>
                  <a:pt x="6459" y="2206"/>
                  <a:pt x="6742" y="1797"/>
                </a:cubicBezTo>
                <a:cubicBezTo>
                  <a:pt x="7089" y="1293"/>
                  <a:pt x="7687" y="726"/>
                  <a:pt x="8664" y="726"/>
                </a:cubicBezTo>
                <a:close/>
                <a:moveTo>
                  <a:pt x="5293" y="4790"/>
                </a:moveTo>
                <a:lnTo>
                  <a:pt x="6364" y="7468"/>
                </a:lnTo>
                <a:cubicBezTo>
                  <a:pt x="6396" y="7562"/>
                  <a:pt x="6522" y="7657"/>
                  <a:pt x="6648" y="7688"/>
                </a:cubicBezTo>
                <a:lnTo>
                  <a:pt x="6679" y="7688"/>
                </a:lnTo>
                <a:cubicBezTo>
                  <a:pt x="6805" y="7688"/>
                  <a:pt x="6931" y="7625"/>
                  <a:pt x="6994" y="7531"/>
                </a:cubicBezTo>
                <a:lnTo>
                  <a:pt x="7750" y="6302"/>
                </a:lnTo>
                <a:lnTo>
                  <a:pt x="9483" y="6302"/>
                </a:lnTo>
                <a:cubicBezTo>
                  <a:pt x="9168" y="6459"/>
                  <a:pt x="8916" y="6711"/>
                  <a:pt x="8664" y="6932"/>
                </a:cubicBezTo>
                <a:cubicBezTo>
                  <a:pt x="7813" y="7688"/>
                  <a:pt x="6868" y="8507"/>
                  <a:pt x="5923" y="9610"/>
                </a:cubicBezTo>
                <a:cubicBezTo>
                  <a:pt x="4978" y="8507"/>
                  <a:pt x="4033" y="7688"/>
                  <a:pt x="3214" y="6932"/>
                </a:cubicBezTo>
                <a:cubicBezTo>
                  <a:pt x="2930" y="6711"/>
                  <a:pt x="2710" y="6459"/>
                  <a:pt x="2458" y="6270"/>
                </a:cubicBezTo>
                <a:lnTo>
                  <a:pt x="4411" y="6270"/>
                </a:lnTo>
                <a:cubicBezTo>
                  <a:pt x="4505" y="6270"/>
                  <a:pt x="4663" y="6207"/>
                  <a:pt x="4726" y="6081"/>
                </a:cubicBezTo>
                <a:lnTo>
                  <a:pt x="5293" y="4790"/>
                </a:lnTo>
                <a:close/>
                <a:moveTo>
                  <a:pt x="3151" y="1"/>
                </a:moveTo>
                <a:cubicBezTo>
                  <a:pt x="2269" y="1"/>
                  <a:pt x="1449" y="379"/>
                  <a:pt x="851" y="1009"/>
                </a:cubicBezTo>
                <a:cubicBezTo>
                  <a:pt x="315" y="1576"/>
                  <a:pt x="0" y="2427"/>
                  <a:pt x="0" y="3309"/>
                </a:cubicBezTo>
                <a:cubicBezTo>
                  <a:pt x="0" y="4097"/>
                  <a:pt x="252" y="4821"/>
                  <a:pt x="819" y="5514"/>
                </a:cubicBezTo>
                <a:lnTo>
                  <a:pt x="819" y="5577"/>
                </a:lnTo>
                <a:lnTo>
                  <a:pt x="347" y="5577"/>
                </a:lnTo>
                <a:cubicBezTo>
                  <a:pt x="158" y="5577"/>
                  <a:pt x="0" y="5735"/>
                  <a:pt x="0" y="5924"/>
                </a:cubicBezTo>
                <a:cubicBezTo>
                  <a:pt x="0" y="6113"/>
                  <a:pt x="158" y="6270"/>
                  <a:pt x="347" y="6270"/>
                </a:cubicBezTo>
                <a:lnTo>
                  <a:pt x="1418" y="6270"/>
                </a:lnTo>
                <a:cubicBezTo>
                  <a:pt x="1796" y="6680"/>
                  <a:pt x="2237" y="7058"/>
                  <a:pt x="2710" y="7468"/>
                </a:cubicBezTo>
                <a:cubicBezTo>
                  <a:pt x="3623" y="8255"/>
                  <a:pt x="4600" y="9137"/>
                  <a:pt x="5640" y="10366"/>
                </a:cubicBezTo>
                <a:lnTo>
                  <a:pt x="5640" y="10397"/>
                </a:lnTo>
                <a:cubicBezTo>
                  <a:pt x="5703" y="10492"/>
                  <a:pt x="5797" y="10524"/>
                  <a:pt x="5892" y="10524"/>
                </a:cubicBezTo>
                <a:cubicBezTo>
                  <a:pt x="6018" y="10524"/>
                  <a:pt x="6081" y="10492"/>
                  <a:pt x="6175" y="10397"/>
                </a:cubicBezTo>
                <a:lnTo>
                  <a:pt x="6175" y="10366"/>
                </a:lnTo>
                <a:cubicBezTo>
                  <a:pt x="7152" y="9137"/>
                  <a:pt x="8192" y="8287"/>
                  <a:pt x="9074" y="7468"/>
                </a:cubicBezTo>
                <a:cubicBezTo>
                  <a:pt x="9546" y="7026"/>
                  <a:pt x="9987" y="6617"/>
                  <a:pt x="10397" y="6270"/>
                </a:cubicBezTo>
                <a:lnTo>
                  <a:pt x="11437" y="6270"/>
                </a:lnTo>
                <a:cubicBezTo>
                  <a:pt x="11657" y="6270"/>
                  <a:pt x="11815" y="6113"/>
                  <a:pt x="11815" y="5924"/>
                </a:cubicBezTo>
                <a:cubicBezTo>
                  <a:pt x="11815" y="5735"/>
                  <a:pt x="11657" y="5577"/>
                  <a:pt x="11437" y="5577"/>
                </a:cubicBezTo>
                <a:lnTo>
                  <a:pt x="10964" y="5577"/>
                </a:lnTo>
                <a:lnTo>
                  <a:pt x="10964" y="5514"/>
                </a:lnTo>
                <a:cubicBezTo>
                  <a:pt x="11531" y="4821"/>
                  <a:pt x="11815" y="4097"/>
                  <a:pt x="11815" y="3309"/>
                </a:cubicBezTo>
                <a:cubicBezTo>
                  <a:pt x="11815" y="2458"/>
                  <a:pt x="11500" y="1639"/>
                  <a:pt x="10932" y="1009"/>
                </a:cubicBezTo>
                <a:cubicBezTo>
                  <a:pt x="10365" y="379"/>
                  <a:pt x="9578" y="1"/>
                  <a:pt x="8664" y="1"/>
                </a:cubicBezTo>
                <a:cubicBezTo>
                  <a:pt x="7404" y="1"/>
                  <a:pt x="6616" y="757"/>
                  <a:pt x="6175" y="1387"/>
                </a:cubicBezTo>
                <a:cubicBezTo>
                  <a:pt x="6049" y="1545"/>
                  <a:pt x="5986" y="1702"/>
                  <a:pt x="5892" y="1860"/>
                </a:cubicBezTo>
                <a:cubicBezTo>
                  <a:pt x="5829" y="1702"/>
                  <a:pt x="5703" y="1545"/>
                  <a:pt x="5640" y="1387"/>
                </a:cubicBezTo>
                <a:cubicBezTo>
                  <a:pt x="5199" y="757"/>
                  <a:pt x="4411" y="1"/>
                  <a:pt x="3151" y="1"/>
                </a:cubicBezTo>
                <a:close/>
              </a:path>
            </a:pathLst>
          </a:cu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9346;p75">
            <a:extLst>
              <a:ext uri="{FF2B5EF4-FFF2-40B4-BE49-F238E27FC236}">
                <a16:creationId xmlns:a16="http://schemas.microsoft.com/office/drawing/2014/main" id="{4C2DFECD-9D1F-2FCC-4A61-84FC7F82CAD4}"/>
              </a:ext>
            </a:extLst>
          </p:cNvPr>
          <p:cNvSpPr/>
          <p:nvPr/>
        </p:nvSpPr>
        <p:spPr>
          <a:xfrm>
            <a:off x="1036280" y="4800206"/>
            <a:ext cx="353180" cy="314589"/>
          </a:xfrm>
          <a:custGeom>
            <a:avLst/>
            <a:gdLst/>
            <a:ahLst/>
            <a:cxnLst/>
            <a:rect l="l" t="t" r="r" b="b"/>
            <a:pathLst>
              <a:path w="11815" h="10524" extrusionOk="0">
                <a:moveTo>
                  <a:pt x="8664" y="726"/>
                </a:moveTo>
                <a:cubicBezTo>
                  <a:pt x="9326" y="726"/>
                  <a:pt x="9956" y="1009"/>
                  <a:pt x="10428" y="1482"/>
                </a:cubicBezTo>
                <a:cubicBezTo>
                  <a:pt x="10869" y="1954"/>
                  <a:pt x="11090" y="2616"/>
                  <a:pt x="11090" y="3309"/>
                </a:cubicBezTo>
                <a:cubicBezTo>
                  <a:pt x="11090" y="4191"/>
                  <a:pt x="10712" y="4853"/>
                  <a:pt x="10082" y="5577"/>
                </a:cubicBezTo>
                <a:lnTo>
                  <a:pt x="7435" y="5577"/>
                </a:lnTo>
                <a:cubicBezTo>
                  <a:pt x="7309" y="5577"/>
                  <a:pt x="7215" y="5640"/>
                  <a:pt x="7120" y="5735"/>
                </a:cubicBezTo>
                <a:lnTo>
                  <a:pt x="6648" y="6522"/>
                </a:lnTo>
                <a:lnTo>
                  <a:pt x="5545" y="3687"/>
                </a:lnTo>
                <a:cubicBezTo>
                  <a:pt x="5514" y="3561"/>
                  <a:pt x="5388" y="3435"/>
                  <a:pt x="5230" y="3435"/>
                </a:cubicBezTo>
                <a:cubicBezTo>
                  <a:pt x="5073" y="3435"/>
                  <a:pt x="4947" y="3529"/>
                  <a:pt x="4915" y="3624"/>
                </a:cubicBezTo>
                <a:lnTo>
                  <a:pt x="4096" y="5514"/>
                </a:lnTo>
                <a:lnTo>
                  <a:pt x="1702" y="5514"/>
                </a:lnTo>
                <a:cubicBezTo>
                  <a:pt x="1103" y="4853"/>
                  <a:pt x="693" y="4191"/>
                  <a:pt x="693" y="3309"/>
                </a:cubicBezTo>
                <a:cubicBezTo>
                  <a:pt x="693" y="2616"/>
                  <a:pt x="945" y="1986"/>
                  <a:pt x="1355" y="1482"/>
                </a:cubicBezTo>
                <a:cubicBezTo>
                  <a:pt x="1796" y="1009"/>
                  <a:pt x="2426" y="726"/>
                  <a:pt x="3151" y="726"/>
                </a:cubicBezTo>
                <a:cubicBezTo>
                  <a:pt x="4096" y="726"/>
                  <a:pt x="4726" y="1293"/>
                  <a:pt x="5073" y="1797"/>
                </a:cubicBezTo>
                <a:cubicBezTo>
                  <a:pt x="5388" y="2206"/>
                  <a:pt x="5545" y="2647"/>
                  <a:pt x="5577" y="2836"/>
                </a:cubicBezTo>
                <a:cubicBezTo>
                  <a:pt x="5608" y="2994"/>
                  <a:pt x="5766" y="3088"/>
                  <a:pt x="5892" y="3088"/>
                </a:cubicBezTo>
                <a:cubicBezTo>
                  <a:pt x="6049" y="3088"/>
                  <a:pt x="6175" y="2994"/>
                  <a:pt x="6207" y="2836"/>
                </a:cubicBezTo>
                <a:cubicBezTo>
                  <a:pt x="6238" y="2679"/>
                  <a:pt x="6459" y="2206"/>
                  <a:pt x="6742" y="1797"/>
                </a:cubicBezTo>
                <a:cubicBezTo>
                  <a:pt x="7089" y="1293"/>
                  <a:pt x="7687" y="726"/>
                  <a:pt x="8664" y="726"/>
                </a:cubicBezTo>
                <a:close/>
                <a:moveTo>
                  <a:pt x="5293" y="4790"/>
                </a:moveTo>
                <a:lnTo>
                  <a:pt x="6364" y="7468"/>
                </a:lnTo>
                <a:cubicBezTo>
                  <a:pt x="6396" y="7562"/>
                  <a:pt x="6522" y="7657"/>
                  <a:pt x="6648" y="7688"/>
                </a:cubicBezTo>
                <a:lnTo>
                  <a:pt x="6679" y="7688"/>
                </a:lnTo>
                <a:cubicBezTo>
                  <a:pt x="6805" y="7688"/>
                  <a:pt x="6931" y="7625"/>
                  <a:pt x="6994" y="7531"/>
                </a:cubicBezTo>
                <a:lnTo>
                  <a:pt x="7750" y="6302"/>
                </a:lnTo>
                <a:lnTo>
                  <a:pt x="9483" y="6302"/>
                </a:lnTo>
                <a:cubicBezTo>
                  <a:pt x="9168" y="6459"/>
                  <a:pt x="8916" y="6711"/>
                  <a:pt x="8664" y="6932"/>
                </a:cubicBezTo>
                <a:cubicBezTo>
                  <a:pt x="7813" y="7688"/>
                  <a:pt x="6868" y="8507"/>
                  <a:pt x="5923" y="9610"/>
                </a:cubicBezTo>
                <a:cubicBezTo>
                  <a:pt x="4978" y="8507"/>
                  <a:pt x="4033" y="7688"/>
                  <a:pt x="3214" y="6932"/>
                </a:cubicBezTo>
                <a:cubicBezTo>
                  <a:pt x="2930" y="6711"/>
                  <a:pt x="2710" y="6459"/>
                  <a:pt x="2458" y="6270"/>
                </a:cubicBezTo>
                <a:lnTo>
                  <a:pt x="4411" y="6270"/>
                </a:lnTo>
                <a:cubicBezTo>
                  <a:pt x="4505" y="6270"/>
                  <a:pt x="4663" y="6207"/>
                  <a:pt x="4726" y="6081"/>
                </a:cubicBezTo>
                <a:lnTo>
                  <a:pt x="5293" y="4790"/>
                </a:lnTo>
                <a:close/>
                <a:moveTo>
                  <a:pt x="3151" y="1"/>
                </a:moveTo>
                <a:cubicBezTo>
                  <a:pt x="2269" y="1"/>
                  <a:pt x="1449" y="379"/>
                  <a:pt x="851" y="1009"/>
                </a:cubicBezTo>
                <a:cubicBezTo>
                  <a:pt x="315" y="1576"/>
                  <a:pt x="0" y="2427"/>
                  <a:pt x="0" y="3309"/>
                </a:cubicBezTo>
                <a:cubicBezTo>
                  <a:pt x="0" y="4097"/>
                  <a:pt x="252" y="4821"/>
                  <a:pt x="819" y="5514"/>
                </a:cubicBezTo>
                <a:lnTo>
                  <a:pt x="819" y="5577"/>
                </a:lnTo>
                <a:lnTo>
                  <a:pt x="347" y="5577"/>
                </a:lnTo>
                <a:cubicBezTo>
                  <a:pt x="158" y="5577"/>
                  <a:pt x="0" y="5735"/>
                  <a:pt x="0" y="5924"/>
                </a:cubicBezTo>
                <a:cubicBezTo>
                  <a:pt x="0" y="6113"/>
                  <a:pt x="158" y="6270"/>
                  <a:pt x="347" y="6270"/>
                </a:cubicBezTo>
                <a:lnTo>
                  <a:pt x="1418" y="6270"/>
                </a:lnTo>
                <a:cubicBezTo>
                  <a:pt x="1796" y="6680"/>
                  <a:pt x="2237" y="7058"/>
                  <a:pt x="2710" y="7468"/>
                </a:cubicBezTo>
                <a:cubicBezTo>
                  <a:pt x="3623" y="8255"/>
                  <a:pt x="4600" y="9137"/>
                  <a:pt x="5640" y="10366"/>
                </a:cubicBezTo>
                <a:lnTo>
                  <a:pt x="5640" y="10397"/>
                </a:lnTo>
                <a:cubicBezTo>
                  <a:pt x="5703" y="10492"/>
                  <a:pt x="5797" y="10524"/>
                  <a:pt x="5892" y="10524"/>
                </a:cubicBezTo>
                <a:cubicBezTo>
                  <a:pt x="6018" y="10524"/>
                  <a:pt x="6081" y="10492"/>
                  <a:pt x="6175" y="10397"/>
                </a:cubicBezTo>
                <a:lnTo>
                  <a:pt x="6175" y="10366"/>
                </a:lnTo>
                <a:cubicBezTo>
                  <a:pt x="7152" y="9137"/>
                  <a:pt x="8192" y="8287"/>
                  <a:pt x="9074" y="7468"/>
                </a:cubicBezTo>
                <a:cubicBezTo>
                  <a:pt x="9546" y="7026"/>
                  <a:pt x="9987" y="6617"/>
                  <a:pt x="10397" y="6270"/>
                </a:cubicBezTo>
                <a:lnTo>
                  <a:pt x="11437" y="6270"/>
                </a:lnTo>
                <a:cubicBezTo>
                  <a:pt x="11657" y="6270"/>
                  <a:pt x="11815" y="6113"/>
                  <a:pt x="11815" y="5924"/>
                </a:cubicBezTo>
                <a:cubicBezTo>
                  <a:pt x="11815" y="5735"/>
                  <a:pt x="11657" y="5577"/>
                  <a:pt x="11437" y="5577"/>
                </a:cubicBezTo>
                <a:lnTo>
                  <a:pt x="10964" y="5577"/>
                </a:lnTo>
                <a:lnTo>
                  <a:pt x="10964" y="5514"/>
                </a:lnTo>
                <a:cubicBezTo>
                  <a:pt x="11531" y="4821"/>
                  <a:pt x="11815" y="4097"/>
                  <a:pt x="11815" y="3309"/>
                </a:cubicBezTo>
                <a:cubicBezTo>
                  <a:pt x="11815" y="2458"/>
                  <a:pt x="11500" y="1639"/>
                  <a:pt x="10932" y="1009"/>
                </a:cubicBezTo>
                <a:cubicBezTo>
                  <a:pt x="10365" y="379"/>
                  <a:pt x="9578" y="1"/>
                  <a:pt x="8664" y="1"/>
                </a:cubicBezTo>
                <a:cubicBezTo>
                  <a:pt x="7404" y="1"/>
                  <a:pt x="6616" y="757"/>
                  <a:pt x="6175" y="1387"/>
                </a:cubicBezTo>
                <a:cubicBezTo>
                  <a:pt x="6049" y="1545"/>
                  <a:pt x="5986" y="1702"/>
                  <a:pt x="5892" y="1860"/>
                </a:cubicBezTo>
                <a:cubicBezTo>
                  <a:pt x="5829" y="1702"/>
                  <a:pt x="5703" y="1545"/>
                  <a:pt x="5640" y="1387"/>
                </a:cubicBezTo>
                <a:cubicBezTo>
                  <a:pt x="5199" y="757"/>
                  <a:pt x="4411" y="1"/>
                  <a:pt x="3151" y="1"/>
                </a:cubicBezTo>
                <a:close/>
              </a:path>
            </a:pathLst>
          </a:cu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Picture 1">
            <a:extLst>
              <a:ext uri="{FF2B5EF4-FFF2-40B4-BE49-F238E27FC236}">
                <a16:creationId xmlns:a16="http://schemas.microsoft.com/office/drawing/2014/main" id="{016D9D2C-B3EC-D4E7-46D8-C18FCB6497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95" t="9426" r="3004"/>
          <a:stretch>
            <a:fillRect/>
          </a:stretch>
        </p:blipFill>
        <p:spPr>
          <a:xfrm>
            <a:off x="8268382" y="1401537"/>
            <a:ext cx="3323770" cy="3567410"/>
          </a:xfrm>
          <a:prstGeom prst="rect">
            <a:avLst/>
          </a:prstGeom>
        </p:spPr>
      </p:pic>
      <p:sp>
        <p:nvSpPr>
          <p:cNvPr id="39" name="CuadroTexto 38">
            <a:extLst>
              <a:ext uri="{FF2B5EF4-FFF2-40B4-BE49-F238E27FC236}">
                <a16:creationId xmlns:a16="http://schemas.microsoft.com/office/drawing/2014/main" id="{27553A50-D22E-A1E3-92C2-974DF4091225}"/>
              </a:ext>
            </a:extLst>
          </p:cNvPr>
          <p:cNvSpPr txBox="1"/>
          <p:nvPr/>
        </p:nvSpPr>
        <p:spPr>
          <a:xfrm>
            <a:off x="8268382" y="5280097"/>
            <a:ext cx="33237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Figure 1.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Propagation of the neuronal signal. Source: (Jackson &amp; Bolger, 2014).</a:t>
            </a:r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49422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203B9-2951-5AB1-CB23-4D6FF0C9F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8B228A0A-CFA9-5AB5-FD33-2C945FAD6D9F}"/>
              </a:ext>
            </a:extLst>
          </p:cNvPr>
          <p:cNvSpPr/>
          <p:nvPr/>
        </p:nvSpPr>
        <p:spPr>
          <a:xfrm>
            <a:off x="315687" y="2424548"/>
            <a:ext cx="3037114" cy="3876675"/>
          </a:xfrm>
          <a:prstGeom prst="roundRect">
            <a:avLst>
              <a:gd name="adj" fmla="val 2171"/>
            </a:avLst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506DC9-C61A-5EA3-6ED8-EAE74C091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9113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PROBLEM DEFINITION</a:t>
            </a:r>
            <a:br>
              <a:rPr lang="en-US" sz="28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Artifacts in EEG: Types and Impact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764C07A-8F97-05A7-73E8-0066ECFE8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8077" y="6356350"/>
            <a:ext cx="7447085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BIOSIGNAL 2026, 19TH INTERNATIONAL CONFERENCE ON BIO-INSPIRED SYSTEMS AND SIGNAL PROCESSING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7310491-25A8-BC5B-E23C-E37219C3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b="1" smtClean="0">
                <a:solidFill>
                  <a:schemeClr val="tx1"/>
                </a:solidFill>
              </a:rPr>
              <a:t>5</a:t>
            </a:fld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6E7EE60-A459-843D-E2D2-FBEEAA04E930}"/>
              </a:ext>
            </a:extLst>
          </p:cNvPr>
          <p:cNvSpPr/>
          <p:nvPr/>
        </p:nvSpPr>
        <p:spPr>
          <a:xfrm>
            <a:off x="10703122" y="6667500"/>
            <a:ext cx="1488878" cy="193934"/>
          </a:xfrm>
          <a:prstGeom prst="rect">
            <a:avLst/>
          </a:prstGeom>
          <a:solidFill>
            <a:srgbClr val="2D7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BD62631-2379-BB09-2AE1-141C263B73C4}"/>
              </a:ext>
            </a:extLst>
          </p:cNvPr>
          <p:cNvSpPr/>
          <p:nvPr/>
        </p:nvSpPr>
        <p:spPr>
          <a:xfrm>
            <a:off x="8918378" y="6777038"/>
            <a:ext cx="3273622" cy="88900"/>
          </a:xfrm>
          <a:prstGeom prst="rect">
            <a:avLst/>
          </a:prstGeom>
          <a:solidFill>
            <a:srgbClr val="0D8F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EE0A5C7-E6B8-7B1A-4FA7-DA10EC25AE80}"/>
              </a:ext>
            </a:extLst>
          </p:cNvPr>
          <p:cNvSpPr/>
          <p:nvPr/>
        </p:nvSpPr>
        <p:spPr>
          <a:xfrm>
            <a:off x="0" y="-119062"/>
            <a:ext cx="12192000" cy="657225"/>
          </a:xfrm>
          <a:prstGeom prst="rect">
            <a:avLst/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>
                <a:latin typeface="Bahnschrift SemiBold" panose="020B0502040204020203" pitchFamily="34" charset="0"/>
                <a:cs typeface="Arial" panose="020B0604020202020204" pitchFamily="34" charset="0"/>
              </a:rPr>
              <a:t>    BIOSIGNALS </a:t>
            </a:r>
            <a:r>
              <a:rPr lang="es-MX" sz="2800" dirty="0">
                <a:solidFill>
                  <a:srgbClr val="0C3C57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A5C18191-3037-F074-9A4D-57A136148EF0}"/>
              </a:ext>
            </a:extLst>
          </p:cNvPr>
          <p:cNvSpPr/>
          <p:nvPr/>
        </p:nvSpPr>
        <p:spPr>
          <a:xfrm>
            <a:off x="315685" y="2524335"/>
            <a:ext cx="3037115" cy="3876675"/>
          </a:xfrm>
          <a:prstGeom prst="roundRect">
            <a:avLst>
              <a:gd name="adj" fmla="val 21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s-MX" sz="1600" dirty="0">
              <a:solidFill>
                <a:srgbClr val="0C3C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Google Shape;9346;p75">
            <a:extLst>
              <a:ext uri="{FF2B5EF4-FFF2-40B4-BE49-F238E27FC236}">
                <a16:creationId xmlns:a16="http://schemas.microsoft.com/office/drawing/2014/main" id="{8772DD65-7CD6-0C56-549F-C8E9E5A7B4DA}"/>
              </a:ext>
            </a:extLst>
          </p:cNvPr>
          <p:cNvSpPr/>
          <p:nvPr/>
        </p:nvSpPr>
        <p:spPr>
          <a:xfrm>
            <a:off x="528280" y="2748135"/>
            <a:ext cx="353180" cy="314589"/>
          </a:xfrm>
          <a:custGeom>
            <a:avLst/>
            <a:gdLst/>
            <a:ahLst/>
            <a:cxnLst/>
            <a:rect l="l" t="t" r="r" b="b"/>
            <a:pathLst>
              <a:path w="11815" h="10524" extrusionOk="0">
                <a:moveTo>
                  <a:pt x="8664" y="726"/>
                </a:moveTo>
                <a:cubicBezTo>
                  <a:pt x="9326" y="726"/>
                  <a:pt x="9956" y="1009"/>
                  <a:pt x="10428" y="1482"/>
                </a:cubicBezTo>
                <a:cubicBezTo>
                  <a:pt x="10869" y="1954"/>
                  <a:pt x="11090" y="2616"/>
                  <a:pt x="11090" y="3309"/>
                </a:cubicBezTo>
                <a:cubicBezTo>
                  <a:pt x="11090" y="4191"/>
                  <a:pt x="10712" y="4853"/>
                  <a:pt x="10082" y="5577"/>
                </a:cubicBezTo>
                <a:lnTo>
                  <a:pt x="7435" y="5577"/>
                </a:lnTo>
                <a:cubicBezTo>
                  <a:pt x="7309" y="5577"/>
                  <a:pt x="7215" y="5640"/>
                  <a:pt x="7120" y="5735"/>
                </a:cubicBezTo>
                <a:lnTo>
                  <a:pt x="6648" y="6522"/>
                </a:lnTo>
                <a:lnTo>
                  <a:pt x="5545" y="3687"/>
                </a:lnTo>
                <a:cubicBezTo>
                  <a:pt x="5514" y="3561"/>
                  <a:pt x="5388" y="3435"/>
                  <a:pt x="5230" y="3435"/>
                </a:cubicBezTo>
                <a:cubicBezTo>
                  <a:pt x="5073" y="3435"/>
                  <a:pt x="4947" y="3529"/>
                  <a:pt x="4915" y="3624"/>
                </a:cubicBezTo>
                <a:lnTo>
                  <a:pt x="4096" y="5514"/>
                </a:lnTo>
                <a:lnTo>
                  <a:pt x="1702" y="5514"/>
                </a:lnTo>
                <a:cubicBezTo>
                  <a:pt x="1103" y="4853"/>
                  <a:pt x="693" y="4191"/>
                  <a:pt x="693" y="3309"/>
                </a:cubicBezTo>
                <a:cubicBezTo>
                  <a:pt x="693" y="2616"/>
                  <a:pt x="945" y="1986"/>
                  <a:pt x="1355" y="1482"/>
                </a:cubicBezTo>
                <a:cubicBezTo>
                  <a:pt x="1796" y="1009"/>
                  <a:pt x="2426" y="726"/>
                  <a:pt x="3151" y="726"/>
                </a:cubicBezTo>
                <a:cubicBezTo>
                  <a:pt x="4096" y="726"/>
                  <a:pt x="4726" y="1293"/>
                  <a:pt x="5073" y="1797"/>
                </a:cubicBezTo>
                <a:cubicBezTo>
                  <a:pt x="5388" y="2206"/>
                  <a:pt x="5545" y="2647"/>
                  <a:pt x="5577" y="2836"/>
                </a:cubicBezTo>
                <a:cubicBezTo>
                  <a:pt x="5608" y="2994"/>
                  <a:pt x="5766" y="3088"/>
                  <a:pt x="5892" y="3088"/>
                </a:cubicBezTo>
                <a:cubicBezTo>
                  <a:pt x="6049" y="3088"/>
                  <a:pt x="6175" y="2994"/>
                  <a:pt x="6207" y="2836"/>
                </a:cubicBezTo>
                <a:cubicBezTo>
                  <a:pt x="6238" y="2679"/>
                  <a:pt x="6459" y="2206"/>
                  <a:pt x="6742" y="1797"/>
                </a:cubicBezTo>
                <a:cubicBezTo>
                  <a:pt x="7089" y="1293"/>
                  <a:pt x="7687" y="726"/>
                  <a:pt x="8664" y="726"/>
                </a:cubicBezTo>
                <a:close/>
                <a:moveTo>
                  <a:pt x="5293" y="4790"/>
                </a:moveTo>
                <a:lnTo>
                  <a:pt x="6364" y="7468"/>
                </a:lnTo>
                <a:cubicBezTo>
                  <a:pt x="6396" y="7562"/>
                  <a:pt x="6522" y="7657"/>
                  <a:pt x="6648" y="7688"/>
                </a:cubicBezTo>
                <a:lnTo>
                  <a:pt x="6679" y="7688"/>
                </a:lnTo>
                <a:cubicBezTo>
                  <a:pt x="6805" y="7688"/>
                  <a:pt x="6931" y="7625"/>
                  <a:pt x="6994" y="7531"/>
                </a:cubicBezTo>
                <a:lnTo>
                  <a:pt x="7750" y="6302"/>
                </a:lnTo>
                <a:lnTo>
                  <a:pt x="9483" y="6302"/>
                </a:lnTo>
                <a:cubicBezTo>
                  <a:pt x="9168" y="6459"/>
                  <a:pt x="8916" y="6711"/>
                  <a:pt x="8664" y="6932"/>
                </a:cubicBezTo>
                <a:cubicBezTo>
                  <a:pt x="7813" y="7688"/>
                  <a:pt x="6868" y="8507"/>
                  <a:pt x="5923" y="9610"/>
                </a:cubicBezTo>
                <a:cubicBezTo>
                  <a:pt x="4978" y="8507"/>
                  <a:pt x="4033" y="7688"/>
                  <a:pt x="3214" y="6932"/>
                </a:cubicBezTo>
                <a:cubicBezTo>
                  <a:pt x="2930" y="6711"/>
                  <a:pt x="2710" y="6459"/>
                  <a:pt x="2458" y="6270"/>
                </a:cubicBezTo>
                <a:lnTo>
                  <a:pt x="4411" y="6270"/>
                </a:lnTo>
                <a:cubicBezTo>
                  <a:pt x="4505" y="6270"/>
                  <a:pt x="4663" y="6207"/>
                  <a:pt x="4726" y="6081"/>
                </a:cubicBezTo>
                <a:lnTo>
                  <a:pt x="5293" y="4790"/>
                </a:lnTo>
                <a:close/>
                <a:moveTo>
                  <a:pt x="3151" y="1"/>
                </a:moveTo>
                <a:cubicBezTo>
                  <a:pt x="2269" y="1"/>
                  <a:pt x="1449" y="379"/>
                  <a:pt x="851" y="1009"/>
                </a:cubicBezTo>
                <a:cubicBezTo>
                  <a:pt x="315" y="1576"/>
                  <a:pt x="0" y="2427"/>
                  <a:pt x="0" y="3309"/>
                </a:cubicBezTo>
                <a:cubicBezTo>
                  <a:pt x="0" y="4097"/>
                  <a:pt x="252" y="4821"/>
                  <a:pt x="819" y="5514"/>
                </a:cubicBezTo>
                <a:lnTo>
                  <a:pt x="819" y="5577"/>
                </a:lnTo>
                <a:lnTo>
                  <a:pt x="347" y="5577"/>
                </a:lnTo>
                <a:cubicBezTo>
                  <a:pt x="158" y="5577"/>
                  <a:pt x="0" y="5735"/>
                  <a:pt x="0" y="5924"/>
                </a:cubicBezTo>
                <a:cubicBezTo>
                  <a:pt x="0" y="6113"/>
                  <a:pt x="158" y="6270"/>
                  <a:pt x="347" y="6270"/>
                </a:cubicBezTo>
                <a:lnTo>
                  <a:pt x="1418" y="6270"/>
                </a:lnTo>
                <a:cubicBezTo>
                  <a:pt x="1796" y="6680"/>
                  <a:pt x="2237" y="7058"/>
                  <a:pt x="2710" y="7468"/>
                </a:cubicBezTo>
                <a:cubicBezTo>
                  <a:pt x="3623" y="8255"/>
                  <a:pt x="4600" y="9137"/>
                  <a:pt x="5640" y="10366"/>
                </a:cubicBezTo>
                <a:lnTo>
                  <a:pt x="5640" y="10397"/>
                </a:lnTo>
                <a:cubicBezTo>
                  <a:pt x="5703" y="10492"/>
                  <a:pt x="5797" y="10524"/>
                  <a:pt x="5892" y="10524"/>
                </a:cubicBezTo>
                <a:cubicBezTo>
                  <a:pt x="6018" y="10524"/>
                  <a:pt x="6081" y="10492"/>
                  <a:pt x="6175" y="10397"/>
                </a:cubicBezTo>
                <a:lnTo>
                  <a:pt x="6175" y="10366"/>
                </a:lnTo>
                <a:cubicBezTo>
                  <a:pt x="7152" y="9137"/>
                  <a:pt x="8192" y="8287"/>
                  <a:pt x="9074" y="7468"/>
                </a:cubicBezTo>
                <a:cubicBezTo>
                  <a:pt x="9546" y="7026"/>
                  <a:pt x="9987" y="6617"/>
                  <a:pt x="10397" y="6270"/>
                </a:cubicBezTo>
                <a:lnTo>
                  <a:pt x="11437" y="6270"/>
                </a:lnTo>
                <a:cubicBezTo>
                  <a:pt x="11657" y="6270"/>
                  <a:pt x="11815" y="6113"/>
                  <a:pt x="11815" y="5924"/>
                </a:cubicBezTo>
                <a:cubicBezTo>
                  <a:pt x="11815" y="5735"/>
                  <a:pt x="11657" y="5577"/>
                  <a:pt x="11437" y="5577"/>
                </a:cubicBezTo>
                <a:lnTo>
                  <a:pt x="10964" y="5577"/>
                </a:lnTo>
                <a:lnTo>
                  <a:pt x="10964" y="5514"/>
                </a:lnTo>
                <a:cubicBezTo>
                  <a:pt x="11531" y="4821"/>
                  <a:pt x="11815" y="4097"/>
                  <a:pt x="11815" y="3309"/>
                </a:cubicBezTo>
                <a:cubicBezTo>
                  <a:pt x="11815" y="2458"/>
                  <a:pt x="11500" y="1639"/>
                  <a:pt x="10932" y="1009"/>
                </a:cubicBezTo>
                <a:cubicBezTo>
                  <a:pt x="10365" y="379"/>
                  <a:pt x="9578" y="1"/>
                  <a:pt x="8664" y="1"/>
                </a:cubicBezTo>
                <a:cubicBezTo>
                  <a:pt x="7404" y="1"/>
                  <a:pt x="6616" y="757"/>
                  <a:pt x="6175" y="1387"/>
                </a:cubicBezTo>
                <a:cubicBezTo>
                  <a:pt x="6049" y="1545"/>
                  <a:pt x="5986" y="1702"/>
                  <a:pt x="5892" y="1860"/>
                </a:cubicBezTo>
                <a:cubicBezTo>
                  <a:pt x="5829" y="1702"/>
                  <a:pt x="5703" y="1545"/>
                  <a:pt x="5640" y="1387"/>
                </a:cubicBezTo>
                <a:cubicBezTo>
                  <a:pt x="5199" y="757"/>
                  <a:pt x="4411" y="1"/>
                  <a:pt x="3151" y="1"/>
                </a:cubicBezTo>
                <a:close/>
              </a:path>
            </a:pathLst>
          </a:cu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9786;p76">
            <a:extLst>
              <a:ext uri="{FF2B5EF4-FFF2-40B4-BE49-F238E27FC236}">
                <a16:creationId xmlns:a16="http://schemas.microsoft.com/office/drawing/2014/main" id="{21F7B2C2-531F-3BEA-2E92-C4C4CF24890E}"/>
              </a:ext>
            </a:extLst>
          </p:cNvPr>
          <p:cNvGrpSpPr/>
          <p:nvPr/>
        </p:nvGrpSpPr>
        <p:grpSpPr>
          <a:xfrm>
            <a:off x="396582" y="1808899"/>
            <a:ext cx="351315" cy="348513"/>
            <a:chOff x="6167350" y="2672800"/>
            <a:chExt cx="297750" cy="295375"/>
          </a:xfrm>
          <a:solidFill>
            <a:schemeClr val="bg1">
              <a:lumMod val="10000"/>
            </a:schemeClr>
          </a:solidFill>
        </p:grpSpPr>
        <p:sp>
          <p:nvSpPr>
            <p:cNvPr id="12" name="Google Shape;9787;p76">
              <a:extLst>
                <a:ext uri="{FF2B5EF4-FFF2-40B4-BE49-F238E27FC236}">
                  <a16:creationId xmlns:a16="http://schemas.microsoft.com/office/drawing/2014/main" id="{DBE68C82-A67D-CE33-95DC-32F70AD721C8}"/>
                </a:ext>
              </a:extLst>
            </p:cNvPr>
            <p:cNvSpPr/>
            <p:nvPr/>
          </p:nvSpPr>
          <p:spPr>
            <a:xfrm>
              <a:off x="6167350" y="2672800"/>
              <a:ext cx="226850" cy="295375"/>
            </a:xfrm>
            <a:custGeom>
              <a:avLst/>
              <a:gdLst/>
              <a:ahLst/>
              <a:cxnLst/>
              <a:rect l="l" t="t" r="r" b="b"/>
              <a:pathLst>
                <a:path w="9074" h="11815" extrusionOk="0">
                  <a:moveTo>
                    <a:pt x="4537" y="725"/>
                  </a:moveTo>
                  <a:cubicBezTo>
                    <a:pt x="4758" y="725"/>
                    <a:pt x="4915" y="882"/>
                    <a:pt x="4915" y="1071"/>
                  </a:cubicBezTo>
                  <a:cubicBezTo>
                    <a:pt x="4915" y="1260"/>
                    <a:pt x="5073" y="1418"/>
                    <a:pt x="5262" y="1418"/>
                  </a:cubicBezTo>
                  <a:lnTo>
                    <a:pt x="5955" y="1418"/>
                  </a:lnTo>
                  <a:cubicBezTo>
                    <a:pt x="6175" y="1418"/>
                    <a:pt x="6333" y="1575"/>
                    <a:pt x="6333" y="1796"/>
                  </a:cubicBezTo>
                  <a:cubicBezTo>
                    <a:pt x="6333" y="1985"/>
                    <a:pt x="6175" y="2142"/>
                    <a:pt x="5955" y="2142"/>
                  </a:cubicBezTo>
                  <a:lnTo>
                    <a:pt x="3119" y="2142"/>
                  </a:lnTo>
                  <a:cubicBezTo>
                    <a:pt x="2930" y="2142"/>
                    <a:pt x="2773" y="1985"/>
                    <a:pt x="2773" y="1796"/>
                  </a:cubicBezTo>
                  <a:cubicBezTo>
                    <a:pt x="2773" y="1575"/>
                    <a:pt x="2930" y="1418"/>
                    <a:pt x="3151" y="1418"/>
                  </a:cubicBezTo>
                  <a:lnTo>
                    <a:pt x="3844" y="1418"/>
                  </a:lnTo>
                  <a:cubicBezTo>
                    <a:pt x="4033" y="1418"/>
                    <a:pt x="4191" y="1260"/>
                    <a:pt x="4191" y="1071"/>
                  </a:cubicBezTo>
                  <a:cubicBezTo>
                    <a:pt x="4191" y="882"/>
                    <a:pt x="4348" y="725"/>
                    <a:pt x="4537" y="725"/>
                  </a:cubicBezTo>
                  <a:close/>
                  <a:moveTo>
                    <a:pt x="8066" y="2111"/>
                  </a:moveTo>
                  <a:cubicBezTo>
                    <a:pt x="8255" y="2111"/>
                    <a:pt x="8412" y="2268"/>
                    <a:pt x="8412" y="2458"/>
                  </a:cubicBezTo>
                  <a:lnTo>
                    <a:pt x="8412" y="10806"/>
                  </a:lnTo>
                  <a:lnTo>
                    <a:pt x="8381" y="10806"/>
                  </a:lnTo>
                  <a:cubicBezTo>
                    <a:pt x="8381" y="10995"/>
                    <a:pt x="8223" y="11153"/>
                    <a:pt x="8034" y="11153"/>
                  </a:cubicBezTo>
                  <a:lnTo>
                    <a:pt x="1040" y="11153"/>
                  </a:lnTo>
                  <a:cubicBezTo>
                    <a:pt x="851" y="11153"/>
                    <a:pt x="693" y="10995"/>
                    <a:pt x="693" y="10806"/>
                  </a:cubicBezTo>
                  <a:lnTo>
                    <a:pt x="693" y="2458"/>
                  </a:lnTo>
                  <a:cubicBezTo>
                    <a:pt x="693" y="2268"/>
                    <a:pt x="851" y="2111"/>
                    <a:pt x="1040" y="2111"/>
                  </a:cubicBezTo>
                  <a:lnTo>
                    <a:pt x="2143" y="2111"/>
                  </a:lnTo>
                  <a:cubicBezTo>
                    <a:pt x="2300" y="2489"/>
                    <a:pt x="2647" y="2804"/>
                    <a:pt x="3119" y="2804"/>
                  </a:cubicBezTo>
                  <a:lnTo>
                    <a:pt x="5986" y="2804"/>
                  </a:lnTo>
                  <a:cubicBezTo>
                    <a:pt x="6396" y="2804"/>
                    <a:pt x="6805" y="2521"/>
                    <a:pt x="6963" y="2111"/>
                  </a:cubicBezTo>
                  <a:close/>
                  <a:moveTo>
                    <a:pt x="4506" y="0"/>
                  </a:moveTo>
                  <a:cubicBezTo>
                    <a:pt x="4096" y="0"/>
                    <a:pt x="3686" y="284"/>
                    <a:pt x="3529" y="725"/>
                  </a:cubicBezTo>
                  <a:lnTo>
                    <a:pt x="3088" y="725"/>
                  </a:lnTo>
                  <a:cubicBezTo>
                    <a:pt x="2678" y="725"/>
                    <a:pt x="2269" y="1008"/>
                    <a:pt x="2111" y="1418"/>
                  </a:cubicBezTo>
                  <a:lnTo>
                    <a:pt x="1009" y="1418"/>
                  </a:lnTo>
                  <a:cubicBezTo>
                    <a:pt x="410" y="1418"/>
                    <a:pt x="0" y="1890"/>
                    <a:pt x="0" y="2458"/>
                  </a:cubicBezTo>
                  <a:lnTo>
                    <a:pt x="0" y="10806"/>
                  </a:lnTo>
                  <a:cubicBezTo>
                    <a:pt x="0" y="11405"/>
                    <a:pt x="473" y="11814"/>
                    <a:pt x="1009" y="11814"/>
                  </a:cubicBezTo>
                  <a:lnTo>
                    <a:pt x="7971" y="11814"/>
                  </a:lnTo>
                  <a:cubicBezTo>
                    <a:pt x="8570" y="11814"/>
                    <a:pt x="9011" y="11342"/>
                    <a:pt x="9011" y="10806"/>
                  </a:cubicBezTo>
                  <a:lnTo>
                    <a:pt x="9011" y="2458"/>
                  </a:lnTo>
                  <a:cubicBezTo>
                    <a:pt x="9074" y="1859"/>
                    <a:pt x="8601" y="1418"/>
                    <a:pt x="8034" y="1418"/>
                  </a:cubicBezTo>
                  <a:lnTo>
                    <a:pt x="6931" y="1418"/>
                  </a:lnTo>
                  <a:cubicBezTo>
                    <a:pt x="6774" y="1040"/>
                    <a:pt x="6396" y="725"/>
                    <a:pt x="5923" y="725"/>
                  </a:cubicBezTo>
                  <a:lnTo>
                    <a:pt x="5545" y="725"/>
                  </a:lnTo>
                  <a:cubicBezTo>
                    <a:pt x="5514" y="567"/>
                    <a:pt x="5388" y="441"/>
                    <a:pt x="5262" y="315"/>
                  </a:cubicBezTo>
                  <a:cubicBezTo>
                    <a:pt x="5073" y="126"/>
                    <a:pt x="4789" y="0"/>
                    <a:pt x="45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88;p76">
              <a:extLst>
                <a:ext uri="{FF2B5EF4-FFF2-40B4-BE49-F238E27FC236}">
                  <a16:creationId xmlns:a16="http://schemas.microsoft.com/office/drawing/2014/main" id="{49E82A5C-2173-0C81-3747-E9052565A329}"/>
                </a:ext>
              </a:extLst>
            </p:cNvPr>
            <p:cNvSpPr/>
            <p:nvPr/>
          </p:nvSpPr>
          <p:spPr>
            <a:xfrm>
              <a:off x="6201225" y="2762575"/>
              <a:ext cx="52775" cy="49650"/>
            </a:xfrm>
            <a:custGeom>
              <a:avLst/>
              <a:gdLst/>
              <a:ahLst/>
              <a:cxnLst/>
              <a:rect l="l" t="t" r="r" b="b"/>
              <a:pathLst>
                <a:path w="2111" h="1986" extrusionOk="0">
                  <a:moveTo>
                    <a:pt x="406" y="1"/>
                  </a:moveTo>
                  <a:cubicBezTo>
                    <a:pt x="315" y="1"/>
                    <a:pt x="221" y="32"/>
                    <a:pt x="158" y="95"/>
                  </a:cubicBezTo>
                  <a:cubicBezTo>
                    <a:pt x="63" y="190"/>
                    <a:pt x="63" y="442"/>
                    <a:pt x="158" y="568"/>
                  </a:cubicBezTo>
                  <a:lnTo>
                    <a:pt x="599" y="977"/>
                  </a:lnTo>
                  <a:lnTo>
                    <a:pt x="158" y="1418"/>
                  </a:lnTo>
                  <a:cubicBezTo>
                    <a:pt x="0" y="1544"/>
                    <a:pt x="0" y="1733"/>
                    <a:pt x="158" y="1891"/>
                  </a:cubicBezTo>
                  <a:cubicBezTo>
                    <a:pt x="221" y="1954"/>
                    <a:pt x="315" y="1985"/>
                    <a:pt x="406" y="1985"/>
                  </a:cubicBezTo>
                  <a:cubicBezTo>
                    <a:pt x="496" y="1985"/>
                    <a:pt x="583" y="1954"/>
                    <a:pt x="630" y="1891"/>
                  </a:cubicBezTo>
                  <a:lnTo>
                    <a:pt x="1071" y="1450"/>
                  </a:lnTo>
                  <a:lnTo>
                    <a:pt x="1512" y="1891"/>
                  </a:lnTo>
                  <a:cubicBezTo>
                    <a:pt x="1575" y="1954"/>
                    <a:pt x="1662" y="1985"/>
                    <a:pt x="1749" y="1985"/>
                  </a:cubicBezTo>
                  <a:cubicBezTo>
                    <a:pt x="1835" y="1985"/>
                    <a:pt x="1922" y="1954"/>
                    <a:pt x="1985" y="1891"/>
                  </a:cubicBezTo>
                  <a:cubicBezTo>
                    <a:pt x="2111" y="1765"/>
                    <a:pt x="2111" y="1544"/>
                    <a:pt x="1985" y="1418"/>
                  </a:cubicBezTo>
                  <a:lnTo>
                    <a:pt x="1544" y="977"/>
                  </a:lnTo>
                  <a:lnTo>
                    <a:pt x="1985" y="568"/>
                  </a:lnTo>
                  <a:cubicBezTo>
                    <a:pt x="2111" y="442"/>
                    <a:pt x="2111" y="190"/>
                    <a:pt x="1985" y="95"/>
                  </a:cubicBezTo>
                  <a:cubicBezTo>
                    <a:pt x="1922" y="32"/>
                    <a:pt x="1835" y="1"/>
                    <a:pt x="1749" y="1"/>
                  </a:cubicBezTo>
                  <a:cubicBezTo>
                    <a:pt x="1662" y="1"/>
                    <a:pt x="1575" y="32"/>
                    <a:pt x="1512" y="95"/>
                  </a:cubicBezTo>
                  <a:lnTo>
                    <a:pt x="1071" y="505"/>
                  </a:lnTo>
                  <a:lnTo>
                    <a:pt x="630" y="95"/>
                  </a:lnTo>
                  <a:cubicBezTo>
                    <a:pt x="583" y="32"/>
                    <a:pt x="496" y="1"/>
                    <a:pt x="4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789;p76">
              <a:extLst>
                <a:ext uri="{FF2B5EF4-FFF2-40B4-BE49-F238E27FC236}">
                  <a16:creationId xmlns:a16="http://schemas.microsoft.com/office/drawing/2014/main" id="{79F63A77-1E03-F17D-93AD-DE2DED676021}"/>
                </a:ext>
              </a:extLst>
            </p:cNvPr>
            <p:cNvSpPr/>
            <p:nvPr/>
          </p:nvSpPr>
          <p:spPr>
            <a:xfrm>
              <a:off x="6308325" y="2882300"/>
              <a:ext cx="51225" cy="49650"/>
            </a:xfrm>
            <a:custGeom>
              <a:avLst/>
              <a:gdLst/>
              <a:ahLst/>
              <a:cxnLst/>
              <a:rect l="l" t="t" r="r" b="b"/>
              <a:pathLst>
                <a:path w="2049" h="1986" extrusionOk="0">
                  <a:moveTo>
                    <a:pt x="363" y="0"/>
                  </a:moveTo>
                  <a:cubicBezTo>
                    <a:pt x="276" y="0"/>
                    <a:pt x="190" y="32"/>
                    <a:pt x="127" y="95"/>
                  </a:cubicBezTo>
                  <a:cubicBezTo>
                    <a:pt x="1" y="221"/>
                    <a:pt x="1" y="441"/>
                    <a:pt x="127" y="567"/>
                  </a:cubicBezTo>
                  <a:lnTo>
                    <a:pt x="568" y="1009"/>
                  </a:lnTo>
                  <a:lnTo>
                    <a:pt x="127" y="1450"/>
                  </a:lnTo>
                  <a:cubicBezTo>
                    <a:pt x="1" y="1544"/>
                    <a:pt x="1" y="1796"/>
                    <a:pt x="127" y="1891"/>
                  </a:cubicBezTo>
                  <a:cubicBezTo>
                    <a:pt x="190" y="1954"/>
                    <a:pt x="276" y="1985"/>
                    <a:pt x="363" y="1985"/>
                  </a:cubicBezTo>
                  <a:cubicBezTo>
                    <a:pt x="450" y="1985"/>
                    <a:pt x="536" y="1954"/>
                    <a:pt x="599" y="1891"/>
                  </a:cubicBezTo>
                  <a:lnTo>
                    <a:pt x="1040" y="1481"/>
                  </a:lnTo>
                  <a:lnTo>
                    <a:pt x="1481" y="1891"/>
                  </a:lnTo>
                  <a:cubicBezTo>
                    <a:pt x="1529" y="1954"/>
                    <a:pt x="1615" y="1985"/>
                    <a:pt x="1706" y="1985"/>
                  </a:cubicBezTo>
                  <a:cubicBezTo>
                    <a:pt x="1797" y="1985"/>
                    <a:pt x="1891" y="1954"/>
                    <a:pt x="1954" y="1891"/>
                  </a:cubicBezTo>
                  <a:cubicBezTo>
                    <a:pt x="2049" y="1796"/>
                    <a:pt x="2049" y="1544"/>
                    <a:pt x="1954" y="1450"/>
                  </a:cubicBezTo>
                  <a:lnTo>
                    <a:pt x="1513" y="1009"/>
                  </a:lnTo>
                  <a:lnTo>
                    <a:pt x="1954" y="567"/>
                  </a:lnTo>
                  <a:cubicBezTo>
                    <a:pt x="2049" y="441"/>
                    <a:pt x="2049" y="252"/>
                    <a:pt x="1954" y="95"/>
                  </a:cubicBezTo>
                  <a:cubicBezTo>
                    <a:pt x="1891" y="32"/>
                    <a:pt x="1804" y="0"/>
                    <a:pt x="1718" y="0"/>
                  </a:cubicBezTo>
                  <a:cubicBezTo>
                    <a:pt x="1631" y="0"/>
                    <a:pt x="1544" y="32"/>
                    <a:pt x="1481" y="95"/>
                  </a:cubicBezTo>
                  <a:lnTo>
                    <a:pt x="1040" y="536"/>
                  </a:lnTo>
                  <a:lnTo>
                    <a:pt x="599" y="95"/>
                  </a:lnTo>
                  <a:cubicBezTo>
                    <a:pt x="536" y="32"/>
                    <a:pt x="450" y="0"/>
                    <a:pt x="3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790;p76">
              <a:extLst>
                <a:ext uri="{FF2B5EF4-FFF2-40B4-BE49-F238E27FC236}">
                  <a16:creationId xmlns:a16="http://schemas.microsoft.com/office/drawing/2014/main" id="{1DCF54A0-214E-E8EF-E9DD-237FAA96A6B4}"/>
                </a:ext>
              </a:extLst>
            </p:cNvPr>
            <p:cNvSpPr/>
            <p:nvPr/>
          </p:nvSpPr>
          <p:spPr>
            <a:xfrm>
              <a:off x="6200425" y="2759425"/>
              <a:ext cx="156775" cy="174875"/>
            </a:xfrm>
            <a:custGeom>
              <a:avLst/>
              <a:gdLst/>
              <a:ahLst/>
              <a:cxnLst/>
              <a:rect l="l" t="t" r="r" b="b"/>
              <a:pathLst>
                <a:path w="6271" h="6995" extrusionOk="0">
                  <a:moveTo>
                    <a:pt x="1103" y="5609"/>
                  </a:moveTo>
                  <a:cubicBezTo>
                    <a:pt x="1292" y="5609"/>
                    <a:pt x="1450" y="5766"/>
                    <a:pt x="1450" y="5955"/>
                  </a:cubicBezTo>
                  <a:cubicBezTo>
                    <a:pt x="1450" y="6144"/>
                    <a:pt x="1292" y="6302"/>
                    <a:pt x="1103" y="6302"/>
                  </a:cubicBezTo>
                  <a:cubicBezTo>
                    <a:pt x="914" y="6302"/>
                    <a:pt x="757" y="6144"/>
                    <a:pt x="757" y="5955"/>
                  </a:cubicBezTo>
                  <a:cubicBezTo>
                    <a:pt x="757" y="5766"/>
                    <a:pt x="914" y="5609"/>
                    <a:pt x="1103" y="5609"/>
                  </a:cubicBezTo>
                  <a:close/>
                  <a:moveTo>
                    <a:pt x="5325" y="1"/>
                  </a:moveTo>
                  <a:cubicBezTo>
                    <a:pt x="5230" y="1"/>
                    <a:pt x="5136" y="64"/>
                    <a:pt x="5073" y="127"/>
                  </a:cubicBezTo>
                  <a:lnTo>
                    <a:pt x="4380" y="851"/>
                  </a:lnTo>
                  <a:cubicBezTo>
                    <a:pt x="4254" y="946"/>
                    <a:pt x="4254" y="1198"/>
                    <a:pt x="4380" y="1324"/>
                  </a:cubicBezTo>
                  <a:cubicBezTo>
                    <a:pt x="4443" y="1371"/>
                    <a:pt x="4529" y="1395"/>
                    <a:pt x="4616" y="1395"/>
                  </a:cubicBezTo>
                  <a:cubicBezTo>
                    <a:pt x="4703" y="1395"/>
                    <a:pt x="4789" y="1371"/>
                    <a:pt x="4852" y="1324"/>
                  </a:cubicBezTo>
                  <a:lnTo>
                    <a:pt x="4978" y="1198"/>
                  </a:lnTo>
                  <a:lnTo>
                    <a:pt x="4978" y="2458"/>
                  </a:lnTo>
                  <a:cubicBezTo>
                    <a:pt x="4978" y="2647"/>
                    <a:pt x="4821" y="2805"/>
                    <a:pt x="4600" y="2805"/>
                  </a:cubicBezTo>
                  <a:lnTo>
                    <a:pt x="1765" y="2805"/>
                  </a:lnTo>
                  <a:cubicBezTo>
                    <a:pt x="1513" y="2805"/>
                    <a:pt x="1229" y="2931"/>
                    <a:pt x="1040" y="3120"/>
                  </a:cubicBezTo>
                  <a:cubicBezTo>
                    <a:pt x="820" y="3309"/>
                    <a:pt x="725" y="3592"/>
                    <a:pt x="725" y="3876"/>
                  </a:cubicBezTo>
                  <a:lnTo>
                    <a:pt x="725" y="4978"/>
                  </a:lnTo>
                  <a:cubicBezTo>
                    <a:pt x="316" y="5136"/>
                    <a:pt x="1" y="5482"/>
                    <a:pt x="1" y="5955"/>
                  </a:cubicBezTo>
                  <a:cubicBezTo>
                    <a:pt x="1" y="6554"/>
                    <a:pt x="473" y="6995"/>
                    <a:pt x="1040" y="6995"/>
                  </a:cubicBezTo>
                  <a:cubicBezTo>
                    <a:pt x="1607" y="6995"/>
                    <a:pt x="2048" y="6522"/>
                    <a:pt x="2048" y="5955"/>
                  </a:cubicBezTo>
                  <a:cubicBezTo>
                    <a:pt x="2048" y="5514"/>
                    <a:pt x="1765" y="5136"/>
                    <a:pt x="1355" y="4978"/>
                  </a:cubicBezTo>
                  <a:lnTo>
                    <a:pt x="1355" y="3876"/>
                  </a:lnTo>
                  <a:cubicBezTo>
                    <a:pt x="1355" y="3687"/>
                    <a:pt x="1513" y="3529"/>
                    <a:pt x="1702" y="3529"/>
                  </a:cubicBezTo>
                  <a:lnTo>
                    <a:pt x="4537" y="3529"/>
                  </a:lnTo>
                  <a:cubicBezTo>
                    <a:pt x="5136" y="3529"/>
                    <a:pt x="5545" y="3057"/>
                    <a:pt x="5545" y="2490"/>
                  </a:cubicBezTo>
                  <a:lnTo>
                    <a:pt x="5545" y="1229"/>
                  </a:lnTo>
                  <a:lnTo>
                    <a:pt x="5671" y="1355"/>
                  </a:lnTo>
                  <a:cubicBezTo>
                    <a:pt x="5734" y="1418"/>
                    <a:pt x="5821" y="1450"/>
                    <a:pt x="5908" y="1450"/>
                  </a:cubicBezTo>
                  <a:cubicBezTo>
                    <a:pt x="5994" y="1450"/>
                    <a:pt x="6081" y="1418"/>
                    <a:pt x="6144" y="1355"/>
                  </a:cubicBezTo>
                  <a:cubicBezTo>
                    <a:pt x="6270" y="1229"/>
                    <a:pt x="6270" y="1009"/>
                    <a:pt x="6144" y="883"/>
                  </a:cubicBezTo>
                  <a:lnTo>
                    <a:pt x="5545" y="127"/>
                  </a:lnTo>
                  <a:cubicBezTo>
                    <a:pt x="5482" y="64"/>
                    <a:pt x="5388" y="1"/>
                    <a:pt x="53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9791;p76">
              <a:extLst>
                <a:ext uri="{FF2B5EF4-FFF2-40B4-BE49-F238E27FC236}">
                  <a16:creationId xmlns:a16="http://schemas.microsoft.com/office/drawing/2014/main" id="{27D32F98-C5F2-DEBF-A594-0D81D8EEB899}"/>
                </a:ext>
              </a:extLst>
            </p:cNvPr>
            <p:cNvSpPr/>
            <p:nvPr/>
          </p:nvSpPr>
          <p:spPr>
            <a:xfrm>
              <a:off x="6412300" y="2742900"/>
              <a:ext cx="52800" cy="208725"/>
            </a:xfrm>
            <a:custGeom>
              <a:avLst/>
              <a:gdLst/>
              <a:ahLst/>
              <a:cxnLst/>
              <a:rect l="l" t="t" r="r" b="b"/>
              <a:pathLst>
                <a:path w="2112" h="8349" extrusionOk="0">
                  <a:moveTo>
                    <a:pt x="1009" y="662"/>
                  </a:moveTo>
                  <a:cubicBezTo>
                    <a:pt x="1229" y="662"/>
                    <a:pt x="1387" y="819"/>
                    <a:pt x="1387" y="1040"/>
                  </a:cubicBezTo>
                  <a:lnTo>
                    <a:pt x="1387" y="1386"/>
                  </a:lnTo>
                  <a:lnTo>
                    <a:pt x="662" y="1386"/>
                  </a:lnTo>
                  <a:lnTo>
                    <a:pt x="662" y="1040"/>
                  </a:ln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387" y="2048"/>
                  </a:moveTo>
                  <a:lnTo>
                    <a:pt x="1387" y="6017"/>
                  </a:lnTo>
                  <a:cubicBezTo>
                    <a:pt x="1261" y="5986"/>
                    <a:pt x="1142" y="5970"/>
                    <a:pt x="1024" y="5970"/>
                  </a:cubicBezTo>
                  <a:cubicBezTo>
                    <a:pt x="906" y="5970"/>
                    <a:pt x="788" y="5986"/>
                    <a:pt x="662" y="6017"/>
                  </a:cubicBezTo>
                  <a:lnTo>
                    <a:pt x="662" y="2048"/>
                  </a:lnTo>
                  <a:close/>
                  <a:moveTo>
                    <a:pt x="1009" y="6711"/>
                  </a:moveTo>
                  <a:cubicBezTo>
                    <a:pt x="1103" y="6711"/>
                    <a:pt x="1166" y="6711"/>
                    <a:pt x="1261" y="6742"/>
                  </a:cubicBezTo>
                  <a:lnTo>
                    <a:pt x="1009" y="7246"/>
                  </a:lnTo>
                  <a:lnTo>
                    <a:pt x="788" y="6742"/>
                  </a:lnTo>
                  <a:cubicBezTo>
                    <a:pt x="851" y="6711"/>
                    <a:pt x="946" y="6711"/>
                    <a:pt x="1009" y="6711"/>
                  </a:cubicBezTo>
                  <a:close/>
                  <a:moveTo>
                    <a:pt x="1009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6616"/>
                  </a:lnTo>
                  <a:cubicBezTo>
                    <a:pt x="0" y="6648"/>
                    <a:pt x="0" y="6742"/>
                    <a:pt x="32" y="6774"/>
                  </a:cubicBezTo>
                  <a:lnTo>
                    <a:pt x="757" y="8160"/>
                  </a:lnTo>
                  <a:cubicBezTo>
                    <a:pt x="788" y="8286"/>
                    <a:pt x="946" y="8349"/>
                    <a:pt x="1040" y="8349"/>
                  </a:cubicBezTo>
                  <a:cubicBezTo>
                    <a:pt x="1166" y="8349"/>
                    <a:pt x="1292" y="8286"/>
                    <a:pt x="1355" y="8160"/>
                  </a:cubicBezTo>
                  <a:lnTo>
                    <a:pt x="2080" y="6774"/>
                  </a:lnTo>
                  <a:cubicBezTo>
                    <a:pt x="2111" y="6742"/>
                    <a:pt x="2111" y="6648"/>
                    <a:pt x="2111" y="6616"/>
                  </a:cubicBezTo>
                  <a:lnTo>
                    <a:pt x="2111" y="1040"/>
                  </a:ln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23C988B-D2CD-9236-4553-65D0DFDD0226}"/>
              </a:ext>
            </a:extLst>
          </p:cNvPr>
          <p:cNvSpPr txBox="1"/>
          <p:nvPr/>
        </p:nvSpPr>
        <p:spPr>
          <a:xfrm>
            <a:off x="1106015" y="2693392"/>
            <a:ext cx="2022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latin typeface="Arial" panose="020B0604020202020204" pitchFamily="34" charset="0"/>
                <a:cs typeface="Arial" panose="020B0604020202020204" pitchFamily="34" charset="0"/>
              </a:rPr>
              <a:t>Physiological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7823B3A-A31A-8791-5288-9051ECBB7292}"/>
              </a:ext>
            </a:extLst>
          </p:cNvPr>
          <p:cNvSpPr txBox="1"/>
          <p:nvPr/>
        </p:nvSpPr>
        <p:spPr>
          <a:xfrm>
            <a:off x="921855" y="1815375"/>
            <a:ext cx="2331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latin typeface="Arial" panose="020B0604020202020204" pitchFamily="34" charset="0"/>
                <a:cs typeface="Arial" panose="020B0604020202020204" pitchFamily="34" charset="0"/>
              </a:rPr>
              <a:t>Artifact Categories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B9DE778D-1275-94F3-EBF1-838FAAE4ACB0}"/>
              </a:ext>
            </a:extLst>
          </p:cNvPr>
          <p:cNvSpPr txBox="1"/>
          <p:nvPr/>
        </p:nvSpPr>
        <p:spPr>
          <a:xfrm>
            <a:off x="8063440" y="1768553"/>
            <a:ext cx="2331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latin typeface="Arial" panose="020B0604020202020204" pitchFamily="34" charset="0"/>
                <a:cs typeface="Arial" panose="020B0604020202020204" pitchFamily="34" charset="0"/>
              </a:rPr>
              <a:t>Consequences</a:t>
            </a:r>
          </a:p>
        </p:txBody>
      </p:sp>
      <p:grpSp>
        <p:nvGrpSpPr>
          <p:cNvPr id="42" name="Google Shape;9415;p75">
            <a:extLst>
              <a:ext uri="{FF2B5EF4-FFF2-40B4-BE49-F238E27FC236}">
                <a16:creationId xmlns:a16="http://schemas.microsoft.com/office/drawing/2014/main" id="{3CCFFA12-4877-8B9B-0232-7ACA69008202}"/>
              </a:ext>
            </a:extLst>
          </p:cNvPr>
          <p:cNvGrpSpPr/>
          <p:nvPr/>
        </p:nvGrpSpPr>
        <p:grpSpPr>
          <a:xfrm>
            <a:off x="7666007" y="1796817"/>
            <a:ext cx="291033" cy="353180"/>
            <a:chOff x="-26179575" y="2710600"/>
            <a:chExt cx="243400" cy="295375"/>
          </a:xfrm>
        </p:grpSpPr>
        <p:sp>
          <p:nvSpPr>
            <p:cNvPr id="43" name="Google Shape;9416;p75">
              <a:extLst>
                <a:ext uri="{FF2B5EF4-FFF2-40B4-BE49-F238E27FC236}">
                  <a16:creationId xmlns:a16="http://schemas.microsoft.com/office/drawing/2014/main" id="{DDED449B-0E0A-1C87-2781-9179F5AE09CA}"/>
                </a:ext>
              </a:extLst>
            </p:cNvPr>
            <p:cNvSpPr/>
            <p:nvPr/>
          </p:nvSpPr>
          <p:spPr>
            <a:xfrm>
              <a:off x="-26179575" y="2710600"/>
              <a:ext cx="243400" cy="295375"/>
            </a:xfrm>
            <a:custGeom>
              <a:avLst/>
              <a:gdLst/>
              <a:ahLst/>
              <a:cxnLst/>
              <a:rect l="l" t="t" r="r" b="b"/>
              <a:pathLst>
                <a:path w="9736" h="11815" extrusionOk="0">
                  <a:moveTo>
                    <a:pt x="7719" y="693"/>
                  </a:moveTo>
                  <a:cubicBezTo>
                    <a:pt x="7845" y="977"/>
                    <a:pt x="7971" y="1166"/>
                    <a:pt x="8191" y="1418"/>
                  </a:cubicBezTo>
                  <a:lnTo>
                    <a:pt x="1008" y="1418"/>
                  </a:lnTo>
                  <a:cubicBezTo>
                    <a:pt x="819" y="1418"/>
                    <a:pt x="662" y="1261"/>
                    <a:pt x="662" y="1072"/>
                  </a:cubicBezTo>
                  <a:cubicBezTo>
                    <a:pt x="662" y="851"/>
                    <a:pt x="819" y="693"/>
                    <a:pt x="1008" y="693"/>
                  </a:cubicBezTo>
                  <a:close/>
                  <a:moveTo>
                    <a:pt x="8979" y="2080"/>
                  </a:moveTo>
                  <a:lnTo>
                    <a:pt x="8979" y="11153"/>
                  </a:lnTo>
                  <a:lnTo>
                    <a:pt x="2048" y="11153"/>
                  </a:lnTo>
                  <a:lnTo>
                    <a:pt x="2048" y="2080"/>
                  </a:lnTo>
                  <a:close/>
                  <a:moveTo>
                    <a:pt x="662" y="2048"/>
                  </a:moveTo>
                  <a:cubicBezTo>
                    <a:pt x="788" y="2080"/>
                    <a:pt x="882" y="2111"/>
                    <a:pt x="1008" y="2111"/>
                  </a:cubicBezTo>
                  <a:lnTo>
                    <a:pt x="1355" y="2111"/>
                  </a:lnTo>
                  <a:lnTo>
                    <a:pt x="1355" y="11185"/>
                  </a:lnTo>
                  <a:cubicBezTo>
                    <a:pt x="977" y="11153"/>
                    <a:pt x="662" y="10838"/>
                    <a:pt x="662" y="10460"/>
                  </a:cubicBezTo>
                  <a:lnTo>
                    <a:pt x="662" y="2048"/>
                  </a:lnTo>
                  <a:close/>
                  <a:moveTo>
                    <a:pt x="1008" y="0"/>
                  </a:moveTo>
                  <a:cubicBezTo>
                    <a:pt x="410" y="0"/>
                    <a:pt x="0" y="473"/>
                    <a:pt x="0" y="1009"/>
                  </a:cubicBezTo>
                  <a:lnTo>
                    <a:pt x="0" y="10428"/>
                  </a:lnTo>
                  <a:cubicBezTo>
                    <a:pt x="0" y="11185"/>
                    <a:pt x="630" y="11815"/>
                    <a:pt x="1355" y="11815"/>
                  </a:cubicBezTo>
                  <a:lnTo>
                    <a:pt x="9357" y="11815"/>
                  </a:lnTo>
                  <a:cubicBezTo>
                    <a:pt x="9578" y="11815"/>
                    <a:pt x="9735" y="11657"/>
                    <a:pt x="9735" y="11468"/>
                  </a:cubicBezTo>
                  <a:lnTo>
                    <a:pt x="9672" y="1733"/>
                  </a:lnTo>
                  <a:cubicBezTo>
                    <a:pt x="9672" y="1576"/>
                    <a:pt x="9609" y="1450"/>
                    <a:pt x="9452" y="1418"/>
                  </a:cubicBezTo>
                  <a:cubicBezTo>
                    <a:pt x="8885" y="1229"/>
                    <a:pt x="8443" y="788"/>
                    <a:pt x="8254" y="221"/>
                  </a:cubicBezTo>
                  <a:cubicBezTo>
                    <a:pt x="8223" y="63"/>
                    <a:pt x="8065" y="0"/>
                    <a:pt x="7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bg1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417;p75">
              <a:extLst>
                <a:ext uri="{FF2B5EF4-FFF2-40B4-BE49-F238E27FC236}">
                  <a16:creationId xmlns:a16="http://schemas.microsoft.com/office/drawing/2014/main" id="{97F1E36C-7B6F-8C93-4112-B6657B909488}"/>
                </a:ext>
              </a:extLst>
            </p:cNvPr>
            <p:cNvSpPr/>
            <p:nvPr/>
          </p:nvSpPr>
          <p:spPr>
            <a:xfrm>
              <a:off x="-26092950" y="2797225"/>
              <a:ext cx="120525" cy="121325"/>
            </a:xfrm>
            <a:custGeom>
              <a:avLst/>
              <a:gdLst/>
              <a:ahLst/>
              <a:cxnLst/>
              <a:rect l="l" t="t" r="r" b="b"/>
              <a:pathLst>
                <a:path w="4821" h="4853" extrusionOk="0">
                  <a:moveTo>
                    <a:pt x="2742" y="694"/>
                  </a:moveTo>
                  <a:lnTo>
                    <a:pt x="2742" y="1734"/>
                  </a:lnTo>
                  <a:cubicBezTo>
                    <a:pt x="2742" y="1923"/>
                    <a:pt x="2899" y="2080"/>
                    <a:pt x="3088" y="2080"/>
                  </a:cubicBezTo>
                  <a:lnTo>
                    <a:pt x="4128" y="2080"/>
                  </a:lnTo>
                  <a:lnTo>
                    <a:pt x="4128" y="2805"/>
                  </a:lnTo>
                  <a:lnTo>
                    <a:pt x="3088" y="2805"/>
                  </a:lnTo>
                  <a:cubicBezTo>
                    <a:pt x="2899" y="2805"/>
                    <a:pt x="2742" y="2962"/>
                    <a:pt x="2742" y="3151"/>
                  </a:cubicBezTo>
                  <a:lnTo>
                    <a:pt x="2742" y="4160"/>
                  </a:lnTo>
                  <a:lnTo>
                    <a:pt x="2048" y="4160"/>
                  </a:lnTo>
                  <a:lnTo>
                    <a:pt x="2048" y="3151"/>
                  </a:lnTo>
                  <a:cubicBezTo>
                    <a:pt x="2048" y="2962"/>
                    <a:pt x="1891" y="2805"/>
                    <a:pt x="1670" y="2805"/>
                  </a:cubicBezTo>
                  <a:lnTo>
                    <a:pt x="662" y="2805"/>
                  </a:lnTo>
                  <a:lnTo>
                    <a:pt x="662" y="2080"/>
                  </a:lnTo>
                  <a:lnTo>
                    <a:pt x="1670" y="2080"/>
                  </a:lnTo>
                  <a:cubicBezTo>
                    <a:pt x="1891" y="2080"/>
                    <a:pt x="2048" y="1923"/>
                    <a:pt x="2048" y="1734"/>
                  </a:cubicBezTo>
                  <a:lnTo>
                    <a:pt x="2048" y="694"/>
                  </a:lnTo>
                  <a:close/>
                  <a:moveTo>
                    <a:pt x="1733" y="1"/>
                  </a:moveTo>
                  <a:cubicBezTo>
                    <a:pt x="1513" y="1"/>
                    <a:pt x="1355" y="158"/>
                    <a:pt x="1355" y="347"/>
                  </a:cubicBezTo>
                  <a:lnTo>
                    <a:pt x="1355" y="1387"/>
                  </a:lnTo>
                  <a:lnTo>
                    <a:pt x="347" y="1387"/>
                  </a:lnTo>
                  <a:cubicBezTo>
                    <a:pt x="158" y="1387"/>
                    <a:pt x="1" y="1545"/>
                    <a:pt x="1" y="1734"/>
                  </a:cubicBezTo>
                  <a:lnTo>
                    <a:pt x="1" y="3120"/>
                  </a:lnTo>
                  <a:cubicBezTo>
                    <a:pt x="1" y="3309"/>
                    <a:pt x="158" y="3466"/>
                    <a:pt x="347" y="3466"/>
                  </a:cubicBezTo>
                  <a:lnTo>
                    <a:pt x="1355" y="3466"/>
                  </a:lnTo>
                  <a:lnTo>
                    <a:pt x="1355" y="4475"/>
                  </a:lnTo>
                  <a:cubicBezTo>
                    <a:pt x="1355" y="4695"/>
                    <a:pt x="1513" y="4853"/>
                    <a:pt x="1733" y="4853"/>
                  </a:cubicBezTo>
                  <a:lnTo>
                    <a:pt x="3088" y="4853"/>
                  </a:lnTo>
                  <a:cubicBezTo>
                    <a:pt x="3309" y="4853"/>
                    <a:pt x="3466" y="4695"/>
                    <a:pt x="3466" y="4475"/>
                  </a:cubicBezTo>
                  <a:lnTo>
                    <a:pt x="3466" y="3466"/>
                  </a:lnTo>
                  <a:lnTo>
                    <a:pt x="4474" y="3466"/>
                  </a:lnTo>
                  <a:cubicBezTo>
                    <a:pt x="4663" y="3466"/>
                    <a:pt x="4821" y="3309"/>
                    <a:pt x="4821" y="3120"/>
                  </a:cubicBezTo>
                  <a:lnTo>
                    <a:pt x="4821" y="1734"/>
                  </a:lnTo>
                  <a:cubicBezTo>
                    <a:pt x="4821" y="1545"/>
                    <a:pt x="4663" y="1387"/>
                    <a:pt x="4474" y="1387"/>
                  </a:cubicBezTo>
                  <a:lnTo>
                    <a:pt x="3466" y="1387"/>
                  </a:lnTo>
                  <a:lnTo>
                    <a:pt x="3466" y="347"/>
                  </a:lnTo>
                  <a:cubicBezTo>
                    <a:pt x="3466" y="158"/>
                    <a:pt x="3309" y="1"/>
                    <a:pt x="30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bg1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418;p75">
              <a:extLst>
                <a:ext uri="{FF2B5EF4-FFF2-40B4-BE49-F238E27FC236}">
                  <a16:creationId xmlns:a16="http://schemas.microsoft.com/office/drawing/2014/main" id="{F862899D-4323-5BCC-92CB-DB2075D96657}"/>
                </a:ext>
              </a:extLst>
            </p:cNvPr>
            <p:cNvSpPr/>
            <p:nvPr/>
          </p:nvSpPr>
          <p:spPr>
            <a:xfrm>
              <a:off x="-26094525" y="2954750"/>
              <a:ext cx="122100" cy="17350"/>
            </a:xfrm>
            <a:custGeom>
              <a:avLst/>
              <a:gdLst/>
              <a:ahLst/>
              <a:cxnLst/>
              <a:rect l="l" t="t" r="r" b="b"/>
              <a:pathLst>
                <a:path w="4884" h="694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4537" y="694"/>
                  </a:lnTo>
                  <a:cubicBezTo>
                    <a:pt x="4726" y="694"/>
                    <a:pt x="4884" y="536"/>
                    <a:pt x="4884" y="347"/>
                  </a:cubicBezTo>
                  <a:cubicBezTo>
                    <a:pt x="4884" y="158"/>
                    <a:pt x="4726" y="1"/>
                    <a:pt x="45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bg1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F8339516-84A0-B2AC-1A50-4E4A14166438}"/>
              </a:ext>
            </a:extLst>
          </p:cNvPr>
          <p:cNvSpPr/>
          <p:nvPr/>
        </p:nvSpPr>
        <p:spPr>
          <a:xfrm>
            <a:off x="4046556" y="2424548"/>
            <a:ext cx="3037114" cy="3876675"/>
          </a:xfrm>
          <a:prstGeom prst="roundRect">
            <a:avLst>
              <a:gd name="adj" fmla="val 2171"/>
            </a:avLst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AE505D51-381A-0CEC-9BF2-41141B4CFA0F}"/>
              </a:ext>
            </a:extLst>
          </p:cNvPr>
          <p:cNvSpPr/>
          <p:nvPr/>
        </p:nvSpPr>
        <p:spPr>
          <a:xfrm>
            <a:off x="4046554" y="2524335"/>
            <a:ext cx="3037115" cy="3876675"/>
          </a:xfrm>
          <a:prstGeom prst="roundRect">
            <a:avLst>
              <a:gd name="adj" fmla="val 21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s-MX" sz="1600" dirty="0">
              <a:solidFill>
                <a:srgbClr val="0C3C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5A7BD63C-0DBD-3316-7A4B-9E51FCE7D38E}"/>
              </a:ext>
            </a:extLst>
          </p:cNvPr>
          <p:cNvSpPr txBox="1"/>
          <p:nvPr/>
        </p:nvSpPr>
        <p:spPr>
          <a:xfrm>
            <a:off x="4775339" y="2693392"/>
            <a:ext cx="224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latin typeface="Arial" panose="020B0604020202020204" pitchFamily="34" charset="0"/>
                <a:cs typeface="Arial" panose="020B0604020202020204" pitchFamily="34" charset="0"/>
              </a:rPr>
              <a:t>Non-Physiological</a:t>
            </a:r>
          </a:p>
        </p:txBody>
      </p:sp>
      <p:grpSp>
        <p:nvGrpSpPr>
          <p:cNvPr id="52" name="Google Shape;9868;p76">
            <a:extLst>
              <a:ext uri="{FF2B5EF4-FFF2-40B4-BE49-F238E27FC236}">
                <a16:creationId xmlns:a16="http://schemas.microsoft.com/office/drawing/2014/main" id="{4D57D7CF-45D3-E0E1-4819-DEFB8D33F58F}"/>
              </a:ext>
            </a:extLst>
          </p:cNvPr>
          <p:cNvGrpSpPr/>
          <p:nvPr/>
        </p:nvGrpSpPr>
        <p:grpSpPr>
          <a:xfrm>
            <a:off x="4255648" y="2693392"/>
            <a:ext cx="306686" cy="349457"/>
            <a:chOff x="5794025" y="2673575"/>
            <a:chExt cx="259925" cy="296175"/>
          </a:xfrm>
          <a:solidFill>
            <a:schemeClr val="bg1">
              <a:lumMod val="10000"/>
            </a:schemeClr>
          </a:solidFill>
        </p:grpSpPr>
        <p:sp>
          <p:nvSpPr>
            <p:cNvPr id="53" name="Google Shape;9869;p76">
              <a:extLst>
                <a:ext uri="{FF2B5EF4-FFF2-40B4-BE49-F238E27FC236}">
                  <a16:creationId xmlns:a16="http://schemas.microsoft.com/office/drawing/2014/main" id="{94FF3AB5-3468-C72A-6225-461AD98B9985}"/>
                </a:ext>
              </a:extLst>
            </p:cNvPr>
            <p:cNvSpPr/>
            <p:nvPr/>
          </p:nvSpPr>
          <p:spPr>
            <a:xfrm>
              <a:off x="5794025" y="2673575"/>
              <a:ext cx="259925" cy="296175"/>
            </a:xfrm>
            <a:custGeom>
              <a:avLst/>
              <a:gdLst/>
              <a:ahLst/>
              <a:cxnLst/>
              <a:rect l="l" t="t" r="r" b="b"/>
              <a:pathLst>
                <a:path w="10397" h="11847" extrusionOk="0">
                  <a:moveTo>
                    <a:pt x="5860" y="694"/>
                  </a:moveTo>
                  <a:cubicBezTo>
                    <a:pt x="7089" y="694"/>
                    <a:pt x="8097" y="1639"/>
                    <a:pt x="8254" y="2805"/>
                  </a:cubicBezTo>
                  <a:cubicBezTo>
                    <a:pt x="8160" y="2773"/>
                    <a:pt x="8065" y="2773"/>
                    <a:pt x="7939" y="2773"/>
                  </a:cubicBezTo>
                  <a:lnTo>
                    <a:pt x="7561" y="2773"/>
                  </a:lnTo>
                  <a:cubicBezTo>
                    <a:pt x="7404" y="1985"/>
                    <a:pt x="6679" y="1387"/>
                    <a:pt x="5860" y="1387"/>
                  </a:cubicBezTo>
                  <a:lnTo>
                    <a:pt x="4474" y="1387"/>
                  </a:lnTo>
                  <a:cubicBezTo>
                    <a:pt x="3655" y="1387"/>
                    <a:pt x="2930" y="1985"/>
                    <a:pt x="2804" y="2773"/>
                  </a:cubicBezTo>
                  <a:lnTo>
                    <a:pt x="2394" y="2773"/>
                  </a:lnTo>
                  <a:cubicBezTo>
                    <a:pt x="2268" y="2773"/>
                    <a:pt x="2142" y="2773"/>
                    <a:pt x="2079" y="2805"/>
                  </a:cubicBezTo>
                  <a:cubicBezTo>
                    <a:pt x="2237" y="1639"/>
                    <a:pt x="3277" y="694"/>
                    <a:pt x="4474" y="694"/>
                  </a:cubicBezTo>
                  <a:close/>
                  <a:moveTo>
                    <a:pt x="6206" y="2143"/>
                  </a:moveTo>
                  <a:cubicBezTo>
                    <a:pt x="6616" y="2300"/>
                    <a:pt x="6931" y="2647"/>
                    <a:pt x="6931" y="3120"/>
                  </a:cubicBezTo>
                  <a:lnTo>
                    <a:pt x="6931" y="3403"/>
                  </a:lnTo>
                  <a:cubicBezTo>
                    <a:pt x="6522" y="3246"/>
                    <a:pt x="6206" y="2899"/>
                    <a:pt x="6206" y="2427"/>
                  </a:cubicBezTo>
                  <a:lnTo>
                    <a:pt x="6206" y="2143"/>
                  </a:lnTo>
                  <a:close/>
                  <a:moveTo>
                    <a:pt x="5513" y="2080"/>
                  </a:moveTo>
                  <a:lnTo>
                    <a:pt x="5513" y="2427"/>
                  </a:lnTo>
                  <a:cubicBezTo>
                    <a:pt x="5513" y="3025"/>
                    <a:pt x="5041" y="3435"/>
                    <a:pt x="4474" y="3435"/>
                  </a:cubicBezTo>
                  <a:lnTo>
                    <a:pt x="3466" y="3435"/>
                  </a:lnTo>
                  <a:lnTo>
                    <a:pt x="3466" y="3088"/>
                  </a:lnTo>
                  <a:cubicBezTo>
                    <a:pt x="3466" y="2490"/>
                    <a:pt x="3938" y="2080"/>
                    <a:pt x="4474" y="2080"/>
                  </a:cubicBezTo>
                  <a:close/>
                  <a:moveTo>
                    <a:pt x="2741" y="3435"/>
                  </a:moveTo>
                  <a:lnTo>
                    <a:pt x="2741" y="5451"/>
                  </a:lnTo>
                  <a:cubicBezTo>
                    <a:pt x="2363" y="5293"/>
                    <a:pt x="2048" y="4947"/>
                    <a:pt x="2048" y="4474"/>
                  </a:cubicBezTo>
                  <a:lnTo>
                    <a:pt x="2048" y="3813"/>
                  </a:lnTo>
                  <a:cubicBezTo>
                    <a:pt x="2048" y="3592"/>
                    <a:pt x="2205" y="3435"/>
                    <a:pt x="2394" y="3435"/>
                  </a:cubicBezTo>
                  <a:close/>
                  <a:moveTo>
                    <a:pt x="7939" y="3498"/>
                  </a:moveTo>
                  <a:cubicBezTo>
                    <a:pt x="8160" y="3498"/>
                    <a:pt x="8317" y="3655"/>
                    <a:pt x="8317" y="3844"/>
                  </a:cubicBezTo>
                  <a:lnTo>
                    <a:pt x="8317" y="4506"/>
                  </a:lnTo>
                  <a:cubicBezTo>
                    <a:pt x="8317" y="4947"/>
                    <a:pt x="8034" y="5325"/>
                    <a:pt x="7593" y="5482"/>
                  </a:cubicBezTo>
                  <a:lnTo>
                    <a:pt x="7593" y="3498"/>
                  </a:lnTo>
                  <a:close/>
                  <a:moveTo>
                    <a:pt x="5891" y="3435"/>
                  </a:moveTo>
                  <a:cubicBezTo>
                    <a:pt x="6143" y="3750"/>
                    <a:pt x="6522" y="4033"/>
                    <a:pt x="6931" y="4128"/>
                  </a:cubicBezTo>
                  <a:lnTo>
                    <a:pt x="6931" y="5892"/>
                  </a:lnTo>
                  <a:cubicBezTo>
                    <a:pt x="6931" y="6491"/>
                    <a:pt x="6459" y="6900"/>
                    <a:pt x="5891" y="6900"/>
                  </a:cubicBezTo>
                  <a:lnTo>
                    <a:pt x="4505" y="6900"/>
                  </a:lnTo>
                  <a:cubicBezTo>
                    <a:pt x="3938" y="6900"/>
                    <a:pt x="3497" y="6428"/>
                    <a:pt x="3497" y="5892"/>
                  </a:cubicBezTo>
                  <a:lnTo>
                    <a:pt x="3497" y="4159"/>
                  </a:lnTo>
                  <a:lnTo>
                    <a:pt x="4505" y="4159"/>
                  </a:lnTo>
                  <a:cubicBezTo>
                    <a:pt x="5072" y="4159"/>
                    <a:pt x="5576" y="3876"/>
                    <a:pt x="5891" y="3435"/>
                  </a:cubicBezTo>
                  <a:close/>
                  <a:moveTo>
                    <a:pt x="6238" y="7593"/>
                  </a:moveTo>
                  <a:cubicBezTo>
                    <a:pt x="6333" y="7782"/>
                    <a:pt x="6459" y="7971"/>
                    <a:pt x="6616" y="8097"/>
                  </a:cubicBezTo>
                  <a:lnTo>
                    <a:pt x="5198" y="9547"/>
                  </a:lnTo>
                  <a:lnTo>
                    <a:pt x="3718" y="8097"/>
                  </a:lnTo>
                  <a:cubicBezTo>
                    <a:pt x="3875" y="7971"/>
                    <a:pt x="4033" y="7782"/>
                    <a:pt x="4096" y="7593"/>
                  </a:cubicBezTo>
                  <a:cubicBezTo>
                    <a:pt x="4190" y="7625"/>
                    <a:pt x="4379" y="7625"/>
                    <a:pt x="4474" y="7625"/>
                  </a:cubicBezTo>
                  <a:lnTo>
                    <a:pt x="5860" y="7625"/>
                  </a:lnTo>
                  <a:cubicBezTo>
                    <a:pt x="5986" y="7625"/>
                    <a:pt x="6143" y="7625"/>
                    <a:pt x="6238" y="7593"/>
                  </a:cubicBezTo>
                  <a:close/>
                  <a:moveTo>
                    <a:pt x="2961" y="8318"/>
                  </a:moveTo>
                  <a:lnTo>
                    <a:pt x="4852" y="10177"/>
                  </a:lnTo>
                  <a:lnTo>
                    <a:pt x="4852" y="11122"/>
                  </a:lnTo>
                  <a:lnTo>
                    <a:pt x="662" y="11122"/>
                  </a:lnTo>
                  <a:lnTo>
                    <a:pt x="662" y="9358"/>
                  </a:lnTo>
                  <a:cubicBezTo>
                    <a:pt x="662" y="8759"/>
                    <a:pt x="1134" y="8318"/>
                    <a:pt x="1701" y="8318"/>
                  </a:cubicBezTo>
                  <a:close/>
                  <a:moveTo>
                    <a:pt x="8664" y="8318"/>
                  </a:moveTo>
                  <a:cubicBezTo>
                    <a:pt x="9262" y="8318"/>
                    <a:pt x="9672" y="8790"/>
                    <a:pt x="9672" y="9358"/>
                  </a:cubicBezTo>
                  <a:lnTo>
                    <a:pt x="9672" y="11122"/>
                  </a:lnTo>
                  <a:lnTo>
                    <a:pt x="5513" y="11122"/>
                  </a:lnTo>
                  <a:lnTo>
                    <a:pt x="5513" y="10177"/>
                  </a:lnTo>
                  <a:lnTo>
                    <a:pt x="7404" y="8318"/>
                  </a:lnTo>
                  <a:close/>
                  <a:moveTo>
                    <a:pt x="4537" y="1"/>
                  </a:moveTo>
                  <a:cubicBezTo>
                    <a:pt x="2804" y="1"/>
                    <a:pt x="1418" y="1418"/>
                    <a:pt x="1418" y="3120"/>
                  </a:cubicBezTo>
                  <a:lnTo>
                    <a:pt x="1418" y="4506"/>
                  </a:lnTo>
                  <a:cubicBezTo>
                    <a:pt x="1418" y="5356"/>
                    <a:pt x="2048" y="6050"/>
                    <a:pt x="2835" y="6207"/>
                  </a:cubicBezTo>
                  <a:cubicBezTo>
                    <a:pt x="2898" y="6648"/>
                    <a:pt x="3151" y="7026"/>
                    <a:pt x="3497" y="7278"/>
                  </a:cubicBezTo>
                  <a:cubicBezTo>
                    <a:pt x="3466" y="7467"/>
                    <a:pt x="3308" y="7625"/>
                    <a:pt x="3119" y="7625"/>
                  </a:cubicBezTo>
                  <a:lnTo>
                    <a:pt x="1733" y="7625"/>
                  </a:lnTo>
                  <a:cubicBezTo>
                    <a:pt x="788" y="7625"/>
                    <a:pt x="0" y="8412"/>
                    <a:pt x="0" y="9358"/>
                  </a:cubicBezTo>
                  <a:lnTo>
                    <a:pt x="0" y="11468"/>
                  </a:lnTo>
                  <a:cubicBezTo>
                    <a:pt x="0" y="11689"/>
                    <a:pt x="158" y="11846"/>
                    <a:pt x="347" y="11846"/>
                  </a:cubicBezTo>
                  <a:lnTo>
                    <a:pt x="10050" y="11846"/>
                  </a:lnTo>
                  <a:cubicBezTo>
                    <a:pt x="10239" y="11846"/>
                    <a:pt x="10397" y="11689"/>
                    <a:pt x="10397" y="11468"/>
                  </a:cubicBezTo>
                  <a:lnTo>
                    <a:pt x="10397" y="9358"/>
                  </a:lnTo>
                  <a:cubicBezTo>
                    <a:pt x="10397" y="8412"/>
                    <a:pt x="9609" y="7625"/>
                    <a:pt x="8664" y="7625"/>
                  </a:cubicBezTo>
                  <a:lnTo>
                    <a:pt x="7278" y="7625"/>
                  </a:lnTo>
                  <a:cubicBezTo>
                    <a:pt x="7089" y="7625"/>
                    <a:pt x="6931" y="7467"/>
                    <a:pt x="6931" y="7278"/>
                  </a:cubicBezTo>
                  <a:cubicBezTo>
                    <a:pt x="7278" y="7026"/>
                    <a:pt x="7530" y="6648"/>
                    <a:pt x="7593" y="6207"/>
                  </a:cubicBezTo>
                  <a:cubicBezTo>
                    <a:pt x="8380" y="6050"/>
                    <a:pt x="9010" y="5325"/>
                    <a:pt x="9010" y="4506"/>
                  </a:cubicBezTo>
                  <a:lnTo>
                    <a:pt x="9010" y="3120"/>
                  </a:lnTo>
                  <a:cubicBezTo>
                    <a:pt x="9010" y="1387"/>
                    <a:pt x="7593" y="1"/>
                    <a:pt x="58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870;p76">
              <a:extLst>
                <a:ext uri="{FF2B5EF4-FFF2-40B4-BE49-F238E27FC236}">
                  <a16:creationId xmlns:a16="http://schemas.microsoft.com/office/drawing/2014/main" id="{7F9AC9A0-8DCC-4079-A92B-E05EF5D90D86}"/>
                </a:ext>
              </a:extLst>
            </p:cNvPr>
            <p:cNvSpPr/>
            <p:nvPr/>
          </p:nvSpPr>
          <p:spPr>
            <a:xfrm>
              <a:off x="5967300" y="2915375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40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" name="CuadroTexto 54">
            <a:extLst>
              <a:ext uri="{FF2B5EF4-FFF2-40B4-BE49-F238E27FC236}">
                <a16:creationId xmlns:a16="http://schemas.microsoft.com/office/drawing/2014/main" id="{46B8F750-3B73-6001-AEBC-A41D7C573659}"/>
              </a:ext>
            </a:extLst>
          </p:cNvPr>
          <p:cNvSpPr txBox="1"/>
          <p:nvPr/>
        </p:nvSpPr>
        <p:spPr>
          <a:xfrm>
            <a:off x="484242" y="3162511"/>
            <a:ext cx="27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MX" sz="1400" b="1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Ocular: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MX" sz="1400" b="0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Blinks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s-MX" sz="1400" b="0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eye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movements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(EOG) </a:t>
            </a:r>
            <a:r>
              <a:rPr lang="es-MX" sz="1400" b="0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high-amplitude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deflections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MX" sz="1400" b="0" i="0" dirty="0">
              <a:solidFill>
                <a:srgbClr val="0C3C57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MX" sz="1400" b="1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Muscle</a:t>
            </a:r>
            <a:r>
              <a:rPr lang="es-MX" sz="1400" b="1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(EMG):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High-</a:t>
            </a:r>
            <a:r>
              <a:rPr lang="es-MX" sz="1400" b="0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noise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jaw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clenching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facial </a:t>
            </a:r>
            <a:r>
              <a:rPr lang="es-MX" sz="1400" b="0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tension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MX" sz="1400" b="0" i="0" dirty="0">
              <a:solidFill>
                <a:srgbClr val="0C3C57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MX" sz="1400" b="1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Shivering</a:t>
            </a:r>
            <a:r>
              <a:rPr lang="es-MX" sz="1400" b="1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MX" sz="1400" b="0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Tremors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causing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rhythmic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interference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MX" sz="1400" b="0" i="0" dirty="0">
              <a:solidFill>
                <a:srgbClr val="0C3C57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MX" sz="1400" b="1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Chewing</a:t>
            </a:r>
            <a:r>
              <a:rPr lang="es-MX" sz="1400" b="1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MX" sz="1400" b="0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Rhythmic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sz="1400" b="0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broad-spectrum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artifacts</a:t>
            </a:r>
            <a:r>
              <a:rPr lang="es-MX" sz="1400" b="0" i="0" dirty="0">
                <a:solidFill>
                  <a:srgbClr val="0C3C5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6E76C56C-8155-B905-6590-FE14B855335D}"/>
              </a:ext>
            </a:extLst>
          </p:cNvPr>
          <p:cNvSpPr txBox="1"/>
          <p:nvPr/>
        </p:nvSpPr>
        <p:spPr>
          <a:xfrm>
            <a:off x="4215111" y="3162511"/>
            <a:ext cx="27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MX" sz="1400" b="1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Electrode</a:t>
            </a:r>
            <a:r>
              <a:rPr lang="es-MX" sz="1400" b="1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Pop: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Abrupt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impedance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changes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causing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spike-like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artifacts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MX" sz="1400" b="0" i="0" dirty="0">
              <a:solidFill>
                <a:srgbClr val="47556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MX" sz="1400" b="1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Line </a:t>
            </a:r>
            <a:r>
              <a:rPr lang="es-MX" sz="1400" b="1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Noise</a:t>
            </a:r>
            <a:r>
              <a:rPr lang="es-MX" sz="1400" b="1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50/60Hz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line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interference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MX" sz="1400" b="0" i="0" dirty="0">
              <a:solidFill>
                <a:srgbClr val="47556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MX" sz="1400" b="1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Environmental</a:t>
            </a:r>
            <a:r>
              <a:rPr lang="es-MX" sz="1400" b="1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Electromagnetic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interference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nearby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equipment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MX" sz="1400" b="0" i="0" dirty="0">
              <a:solidFill>
                <a:srgbClr val="47556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MX" sz="1400" b="1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Motion</a:t>
            </a:r>
            <a:r>
              <a:rPr lang="es-MX" sz="1400" b="1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Cable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movement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electrode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displacement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A548434D-19DD-79A7-A288-3292692470AA}"/>
              </a:ext>
            </a:extLst>
          </p:cNvPr>
          <p:cNvSpPr/>
          <p:nvPr/>
        </p:nvSpPr>
        <p:spPr>
          <a:xfrm>
            <a:off x="7666008" y="2424548"/>
            <a:ext cx="4210305" cy="2011115"/>
          </a:xfrm>
          <a:prstGeom prst="roundRect">
            <a:avLst>
              <a:gd name="adj" fmla="val 217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7F686671-2BC3-F4F7-4F71-993F284163BA}"/>
              </a:ext>
            </a:extLst>
          </p:cNvPr>
          <p:cNvSpPr/>
          <p:nvPr/>
        </p:nvSpPr>
        <p:spPr>
          <a:xfrm>
            <a:off x="7666007" y="2524335"/>
            <a:ext cx="4210306" cy="2654334"/>
          </a:xfrm>
          <a:prstGeom prst="roundRect">
            <a:avLst>
              <a:gd name="adj" fmla="val 21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b="1" i="0" dirty="0" err="1">
                <a:solidFill>
                  <a:srgbClr val="1F293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Clinical</a:t>
            </a:r>
            <a:r>
              <a:rPr lang="es-MX" b="1" i="0" dirty="0">
                <a:solidFill>
                  <a:srgbClr val="1F293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b="1" i="0" dirty="0" err="1">
                <a:solidFill>
                  <a:srgbClr val="1F293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  <a:endParaRPr lang="es-MX" b="1" i="0" dirty="0">
              <a:solidFill>
                <a:srgbClr val="1F2937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400" b="1" i="0" dirty="0">
              <a:solidFill>
                <a:srgbClr val="47556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b="1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Obscures Neural </a:t>
            </a:r>
            <a:r>
              <a:rPr lang="es-MX" sz="1400" b="1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Patterns</a:t>
            </a:r>
            <a:r>
              <a:rPr lang="es-MX" sz="1400" b="1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Critical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waveforms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.,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spikes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sleep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spindles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are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masked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s-MX" sz="1400" b="1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Diagnostic</a:t>
            </a:r>
            <a:r>
              <a:rPr lang="es-MX" sz="1400" b="1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1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Errors</a:t>
            </a:r>
            <a:r>
              <a:rPr lang="es-MX" sz="1400" b="1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Increases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false positives (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mimicking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epilepsy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and false negatives.</a:t>
            </a:r>
          </a:p>
          <a:p>
            <a:pPr marL="285750" indent="-2857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s-MX" sz="1400" b="1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r>
              <a:rPr lang="es-MX" sz="1400" b="1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1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Reliability</a:t>
            </a:r>
            <a:r>
              <a:rPr lang="es-MX" sz="1400" b="1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Severely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degrades performance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automated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0" i="0" dirty="0" err="1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algorithms</a:t>
            </a:r>
            <a:r>
              <a:rPr lang="es-MX" sz="1400" b="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0428057E-0ADE-7AE2-9936-3388DC29D50A}"/>
              </a:ext>
            </a:extLst>
          </p:cNvPr>
          <p:cNvSpPr txBox="1"/>
          <p:nvPr/>
        </p:nvSpPr>
        <p:spPr>
          <a:xfrm>
            <a:off x="7913696" y="5676691"/>
            <a:ext cx="32736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es-MX" sz="1400" b="1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MX" sz="14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(Quintero-</a:t>
            </a:r>
            <a:r>
              <a:rPr lang="es-MX" sz="1400" dirty="0" err="1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Rincon</a:t>
            </a:r>
            <a:r>
              <a:rPr lang="es-MX" sz="14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al., 2021) </a:t>
            </a:r>
          </a:p>
        </p:txBody>
      </p:sp>
    </p:spTree>
    <p:extLst>
      <p:ext uri="{BB962C8B-B14F-4D97-AF65-F5344CB8AC3E}">
        <p14:creationId xmlns:p14="http://schemas.microsoft.com/office/powerpoint/2010/main" val="219553357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4AA4D-C5A6-CDAC-C73F-748CF58E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B0723-0FE6-2CD1-2940-AEE25CD3A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AF2C53-0B0B-8216-E668-5434BA880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r>
              <a:rPr lang="en-US" sz="3200" b="1" noProof="0" dirty="0">
                <a:latin typeface="Arial" panose="020B0604020202020204" pitchFamily="34" charset="0"/>
                <a:cs typeface="Arial" panose="020B0604020202020204" pitchFamily="34" charset="0"/>
              </a:rPr>
              <a:t>Related Works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Materials and Methods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Sinkhorn-Based Domain Alignment Process Applied to Deep Learning Models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Experimentation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4ABFE07-EEC6-40F8-16F6-52556A303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8077" y="6356350"/>
            <a:ext cx="7447085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BIOSIGNAL 2026, 19TH INTERNATIONAL CONFERENCE ON BIO-INSPIRED SYSTEMS AND SIGNAL PROCESSING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D803FE6-2A3E-83E6-6E61-59FD9942B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b="1" smtClean="0">
                <a:solidFill>
                  <a:schemeClr val="tx1"/>
                </a:solidFill>
              </a:rPr>
              <a:t>6</a:t>
            </a:fld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9777014-4355-6004-34BB-67060988AFEB}"/>
              </a:ext>
            </a:extLst>
          </p:cNvPr>
          <p:cNvSpPr/>
          <p:nvPr/>
        </p:nvSpPr>
        <p:spPr>
          <a:xfrm>
            <a:off x="10703122" y="6667500"/>
            <a:ext cx="1488878" cy="193934"/>
          </a:xfrm>
          <a:prstGeom prst="rect">
            <a:avLst/>
          </a:prstGeom>
          <a:solidFill>
            <a:srgbClr val="2D7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1DCC6B0-D4F2-97AC-FE20-84236335102C}"/>
              </a:ext>
            </a:extLst>
          </p:cNvPr>
          <p:cNvSpPr/>
          <p:nvPr/>
        </p:nvSpPr>
        <p:spPr>
          <a:xfrm>
            <a:off x="8918378" y="6777038"/>
            <a:ext cx="3273622" cy="88900"/>
          </a:xfrm>
          <a:prstGeom prst="rect">
            <a:avLst/>
          </a:prstGeom>
          <a:solidFill>
            <a:srgbClr val="0D8F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B75A022-7428-C227-C81C-F5891D47F0E1}"/>
              </a:ext>
            </a:extLst>
          </p:cNvPr>
          <p:cNvSpPr/>
          <p:nvPr/>
        </p:nvSpPr>
        <p:spPr>
          <a:xfrm>
            <a:off x="0" y="-119062"/>
            <a:ext cx="12192000" cy="657225"/>
          </a:xfrm>
          <a:prstGeom prst="rect">
            <a:avLst/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>
                <a:latin typeface="Bahnschrift SemiBold" panose="020B0502040204020203" pitchFamily="34" charset="0"/>
                <a:cs typeface="Arial" panose="020B0604020202020204" pitchFamily="34" charset="0"/>
              </a:rPr>
              <a:t>    BIOSIGNALS </a:t>
            </a:r>
            <a:r>
              <a:rPr lang="es-MX" sz="2800" dirty="0">
                <a:solidFill>
                  <a:srgbClr val="0C3C57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56972142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B24A9-91F1-F9AE-78BF-18C6CAE84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CC5122-C21A-8521-0454-A8B05264E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8077" y="6356350"/>
            <a:ext cx="7447085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BIOSIGNAL 2026, 19TH INTERNATIONAL CONFERENCE ON BIO-INSPIRED SYSTEMS AND SIGNAL PROCESSING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89EEEF4-7537-12AD-03E1-82C6F22E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b="1" smtClean="0">
                <a:solidFill>
                  <a:schemeClr val="tx1"/>
                </a:solidFill>
              </a:rPr>
              <a:t>7</a:t>
            </a:fld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C78E369-A941-4426-AA3A-AC1FA209EC69}"/>
              </a:ext>
            </a:extLst>
          </p:cNvPr>
          <p:cNvSpPr/>
          <p:nvPr/>
        </p:nvSpPr>
        <p:spPr>
          <a:xfrm>
            <a:off x="10703122" y="6667500"/>
            <a:ext cx="1488878" cy="193934"/>
          </a:xfrm>
          <a:prstGeom prst="rect">
            <a:avLst/>
          </a:prstGeom>
          <a:solidFill>
            <a:srgbClr val="2D7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FC670A9-2E99-96E6-D320-BE0407541EA2}"/>
              </a:ext>
            </a:extLst>
          </p:cNvPr>
          <p:cNvSpPr/>
          <p:nvPr/>
        </p:nvSpPr>
        <p:spPr>
          <a:xfrm>
            <a:off x="8918378" y="6777038"/>
            <a:ext cx="3273622" cy="88900"/>
          </a:xfrm>
          <a:prstGeom prst="rect">
            <a:avLst/>
          </a:prstGeom>
          <a:solidFill>
            <a:srgbClr val="0D8F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F644FBE-A427-2EC6-CB7C-5979DE05008B}"/>
              </a:ext>
            </a:extLst>
          </p:cNvPr>
          <p:cNvSpPr/>
          <p:nvPr/>
        </p:nvSpPr>
        <p:spPr>
          <a:xfrm>
            <a:off x="0" y="-119062"/>
            <a:ext cx="12192000" cy="657225"/>
          </a:xfrm>
          <a:prstGeom prst="rect">
            <a:avLst/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>
                <a:latin typeface="Bahnschrift SemiBold" panose="020B0502040204020203" pitchFamily="34" charset="0"/>
                <a:cs typeface="Arial" panose="020B0604020202020204" pitchFamily="34" charset="0"/>
              </a:rPr>
              <a:t>    BIOSIGNALS </a:t>
            </a:r>
            <a:r>
              <a:rPr lang="es-MX" sz="2800" dirty="0">
                <a:solidFill>
                  <a:srgbClr val="0C3C57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A44B1631-10EA-AE57-21CF-47DCBDA50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9113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PREVIOUS RESEARCH</a:t>
            </a:r>
            <a:br>
              <a:rPr lang="en-US" sz="28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Related Works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3FB9B02-168F-B0D8-99DB-75B6FB14D138}"/>
              </a:ext>
            </a:extLst>
          </p:cNvPr>
          <p:cNvCxnSpPr/>
          <p:nvPr/>
        </p:nvCxnSpPr>
        <p:spPr>
          <a:xfrm>
            <a:off x="635977" y="3903785"/>
            <a:ext cx="10717823" cy="0"/>
          </a:xfrm>
          <a:prstGeom prst="line">
            <a:avLst/>
          </a:prstGeom>
          <a:ln w="76200">
            <a:solidFill>
              <a:srgbClr val="005F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DC4F429F-4470-859D-35EA-447E30F67776}"/>
              </a:ext>
            </a:extLst>
          </p:cNvPr>
          <p:cNvSpPr/>
          <p:nvPr/>
        </p:nvSpPr>
        <p:spPr>
          <a:xfrm>
            <a:off x="593504" y="3723541"/>
            <a:ext cx="360485" cy="360485"/>
          </a:xfrm>
          <a:prstGeom prst="ellipse">
            <a:avLst/>
          </a:prstGeom>
          <a:solidFill>
            <a:srgbClr val="005F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3335733-8669-DFB1-D395-3F1C8558A6D0}"/>
              </a:ext>
            </a:extLst>
          </p:cNvPr>
          <p:cNvSpPr/>
          <p:nvPr/>
        </p:nvSpPr>
        <p:spPr>
          <a:xfrm>
            <a:off x="11057768" y="3723542"/>
            <a:ext cx="360485" cy="360485"/>
          </a:xfrm>
          <a:prstGeom prst="ellipse">
            <a:avLst/>
          </a:prstGeom>
          <a:solidFill>
            <a:srgbClr val="005F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A0129D2C-8605-530D-0252-9FDAF9ED9625}"/>
              </a:ext>
            </a:extLst>
          </p:cNvPr>
          <p:cNvSpPr/>
          <p:nvPr/>
        </p:nvSpPr>
        <p:spPr>
          <a:xfrm>
            <a:off x="4081592" y="3723541"/>
            <a:ext cx="360485" cy="360485"/>
          </a:xfrm>
          <a:prstGeom prst="ellipse">
            <a:avLst/>
          </a:prstGeom>
          <a:solidFill>
            <a:srgbClr val="005F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A96A0EE2-8CC6-C900-3664-B648DE695995}"/>
              </a:ext>
            </a:extLst>
          </p:cNvPr>
          <p:cNvSpPr/>
          <p:nvPr/>
        </p:nvSpPr>
        <p:spPr>
          <a:xfrm>
            <a:off x="7569680" y="3743326"/>
            <a:ext cx="360485" cy="360485"/>
          </a:xfrm>
          <a:prstGeom prst="ellipse">
            <a:avLst/>
          </a:prstGeom>
          <a:solidFill>
            <a:srgbClr val="005F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0471E154-2F68-3AC6-1F7E-755567311EDA}"/>
              </a:ext>
            </a:extLst>
          </p:cNvPr>
          <p:cNvCxnSpPr>
            <a:stCxn id="14" idx="4"/>
          </p:cNvCxnSpPr>
          <p:nvPr/>
        </p:nvCxnSpPr>
        <p:spPr>
          <a:xfrm flipH="1">
            <a:off x="773746" y="4084026"/>
            <a:ext cx="1" cy="540000"/>
          </a:xfrm>
          <a:prstGeom prst="line">
            <a:avLst/>
          </a:prstGeom>
          <a:ln w="50800">
            <a:solidFill>
              <a:srgbClr val="005F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5EA0ADA-6E06-300D-D43E-BFA94C4EBAF5}"/>
              </a:ext>
            </a:extLst>
          </p:cNvPr>
          <p:cNvCxnSpPr/>
          <p:nvPr/>
        </p:nvCxnSpPr>
        <p:spPr>
          <a:xfrm flipH="1">
            <a:off x="4261833" y="3185007"/>
            <a:ext cx="1" cy="540000"/>
          </a:xfrm>
          <a:prstGeom prst="line">
            <a:avLst/>
          </a:prstGeom>
          <a:ln w="50800">
            <a:solidFill>
              <a:srgbClr val="005F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FF46A576-A9E0-23C7-E5A2-459BA8FDF1DB}"/>
              </a:ext>
            </a:extLst>
          </p:cNvPr>
          <p:cNvCxnSpPr/>
          <p:nvPr/>
        </p:nvCxnSpPr>
        <p:spPr>
          <a:xfrm flipH="1">
            <a:off x="7749921" y="4084026"/>
            <a:ext cx="1" cy="540000"/>
          </a:xfrm>
          <a:prstGeom prst="line">
            <a:avLst/>
          </a:prstGeom>
          <a:ln w="50800">
            <a:solidFill>
              <a:srgbClr val="005F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2CE61A44-DA60-FE88-BBC7-F82A12AD770D}"/>
              </a:ext>
            </a:extLst>
          </p:cNvPr>
          <p:cNvCxnSpPr/>
          <p:nvPr/>
        </p:nvCxnSpPr>
        <p:spPr>
          <a:xfrm flipH="1">
            <a:off x="11238010" y="3176577"/>
            <a:ext cx="1" cy="540000"/>
          </a:xfrm>
          <a:prstGeom prst="line">
            <a:avLst/>
          </a:prstGeom>
          <a:ln w="50800">
            <a:solidFill>
              <a:srgbClr val="005F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D73B598-5E84-C874-34FC-48E63FFB8A0C}"/>
              </a:ext>
            </a:extLst>
          </p:cNvPr>
          <p:cNvSpPr txBox="1"/>
          <p:nvPr/>
        </p:nvSpPr>
        <p:spPr>
          <a:xfrm>
            <a:off x="334131" y="4622237"/>
            <a:ext cx="8792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0DB50AE-EBF0-6580-B8FB-42F1F0C486E6}"/>
              </a:ext>
            </a:extLst>
          </p:cNvPr>
          <p:cNvSpPr txBox="1"/>
          <p:nvPr/>
        </p:nvSpPr>
        <p:spPr>
          <a:xfrm>
            <a:off x="3822218" y="2846453"/>
            <a:ext cx="8792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2020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B2830F7-D246-58BD-3CD7-A2020990CBE8}"/>
              </a:ext>
            </a:extLst>
          </p:cNvPr>
          <p:cNvSpPr txBox="1"/>
          <p:nvPr/>
        </p:nvSpPr>
        <p:spPr>
          <a:xfrm>
            <a:off x="7310306" y="4622237"/>
            <a:ext cx="8792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2022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114C339-2A20-2527-E553-81FD1B5C5386}"/>
              </a:ext>
            </a:extLst>
          </p:cNvPr>
          <p:cNvSpPr txBox="1"/>
          <p:nvPr/>
        </p:nvSpPr>
        <p:spPr>
          <a:xfrm>
            <a:off x="10798395" y="2846453"/>
            <a:ext cx="8792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2023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BF87BDD-5ACC-B946-09DE-4DADA2DFD19B}"/>
              </a:ext>
            </a:extLst>
          </p:cNvPr>
          <p:cNvSpPr txBox="1"/>
          <p:nvPr/>
        </p:nvSpPr>
        <p:spPr>
          <a:xfrm>
            <a:off x="24047" y="5058406"/>
            <a:ext cx="198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Kim &amp; Keene (2019), CNN-LSTM,</a:t>
            </a:r>
            <a:b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67.59%</a:t>
            </a:r>
          </a:p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TUH-EEG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4EA58AC-45DC-0C1C-67BC-3B413623089D}"/>
              </a:ext>
            </a:extLst>
          </p:cNvPr>
          <p:cNvSpPr txBox="1"/>
          <p:nvPr/>
        </p:nvSpPr>
        <p:spPr>
          <a:xfrm>
            <a:off x="2297669" y="1707436"/>
            <a:ext cx="1980000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Saba-</a:t>
            </a:r>
            <a:r>
              <a:rPr lang="es-MX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Sadiya</a:t>
            </a:r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 et al. (2020),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Unsupervised</a:t>
            </a:r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Encoder-Decoder</a:t>
            </a:r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Cohen’s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kappa: </a:t>
            </a:r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≈ 0.49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F4870DC-C03F-D33D-A9C1-DA48CEC6C5FB}"/>
              </a:ext>
            </a:extLst>
          </p:cNvPr>
          <p:cNvSpPr txBox="1"/>
          <p:nvPr/>
        </p:nvSpPr>
        <p:spPr>
          <a:xfrm>
            <a:off x="4701447" y="1707436"/>
            <a:ext cx="1980000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Bahador</a:t>
            </a:r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 et al. (2020), CNN (2D RGB EEG </a:t>
            </a:r>
            <a:r>
              <a:rPr lang="es-MX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representation</a:t>
            </a:r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92.30%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, AUC: </a:t>
            </a:r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0.96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A68558E-AA1E-5A7B-79BA-8FE879FC876D}"/>
              </a:ext>
            </a:extLst>
          </p:cNvPr>
          <p:cNvSpPr txBox="1"/>
          <p:nvPr/>
        </p:nvSpPr>
        <p:spPr>
          <a:xfrm>
            <a:off x="6759920" y="5058406"/>
            <a:ext cx="1980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Peh</a:t>
            </a:r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 et al. (2022), CNN-</a:t>
            </a:r>
            <a:r>
              <a:rPr lang="es-MX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Balanced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0.804</a:t>
            </a:r>
          </a:p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TUH-EEG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A4444F5-A2B6-4B5A-7A12-1CB7DC96FBC0}"/>
              </a:ext>
            </a:extLst>
          </p:cNvPr>
          <p:cNvSpPr txBox="1"/>
          <p:nvPr/>
        </p:nvSpPr>
        <p:spPr>
          <a:xfrm>
            <a:off x="10171537" y="1444886"/>
            <a:ext cx="1980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Maiwald</a:t>
            </a:r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 et al. (2023), </a:t>
            </a:r>
            <a:r>
              <a:rPr lang="es-MX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Image-based</a:t>
            </a:r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CNNs</a:t>
            </a:r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MX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Xception</a:t>
            </a:r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, EfficientNetB0), </a:t>
            </a:r>
          </a:p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F1-score: </a:t>
            </a:r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&gt; 89%</a:t>
            </a:r>
          </a:p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TUH-EEG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338" name="Picture 2" descr="Timeline - Free time and date icons">
            <a:extLst>
              <a:ext uri="{FF2B5EF4-FFF2-40B4-BE49-F238E27FC236}">
                <a16:creationId xmlns:a16="http://schemas.microsoft.com/office/drawing/2014/main" id="{5912E8C6-009D-4DB9-AC73-24C128A40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027" y="4444500"/>
            <a:ext cx="1731610" cy="1731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line icon for advanced 13930748 Vector Art at Vecteezy">
            <a:extLst>
              <a:ext uri="{FF2B5EF4-FFF2-40B4-BE49-F238E27FC236}">
                <a16:creationId xmlns:a16="http://schemas.microsoft.com/office/drawing/2014/main" id="{61B8C019-4584-B774-479D-3B67B9892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535" y="1608072"/>
            <a:ext cx="1476386" cy="1657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Qualitative research - Free marketing icons">
            <a:extLst>
              <a:ext uri="{FF2B5EF4-FFF2-40B4-BE49-F238E27FC236}">
                <a16:creationId xmlns:a16="http://schemas.microsoft.com/office/drawing/2014/main" id="{B9A72680-DDF2-EB06-2DFC-44D5AA491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124" y="4624240"/>
            <a:ext cx="1372130" cy="1372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933892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A254B-1B6E-A64D-2453-C17E203AD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90FAB-CF28-9D29-3F4D-EB6AD8F22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AE997C-5105-B9FC-463B-F9710A22B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Related Works</a:t>
            </a:r>
          </a:p>
          <a:p>
            <a:r>
              <a:rPr lang="en-US" sz="3200" b="1" noProof="0" dirty="0">
                <a:latin typeface="Arial" panose="020B0604020202020204" pitchFamily="34" charset="0"/>
                <a:cs typeface="Arial" panose="020B0604020202020204" pitchFamily="34" charset="0"/>
              </a:rPr>
              <a:t>Materials and Methods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Sinkhorn-Based Domain Alignment Process Applied to Deep Learning Models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Experimentation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7BB6412-BEAB-7F05-2AAE-B54E89C2B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8077" y="6356350"/>
            <a:ext cx="7447085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BIOSIGNAL 2026, 19TH INTERNATIONAL CONFERENCE ON BIO-INSPIRED SYSTEMS AND SIGNAL PROCESSING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6AE7D24-FA54-1496-6C37-E934D5F00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b="1" smtClean="0">
                <a:solidFill>
                  <a:schemeClr val="tx1"/>
                </a:solidFill>
              </a:rPr>
              <a:t>8</a:t>
            </a:fld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086A846-4C0A-E5D8-B8C8-49640B29FB4C}"/>
              </a:ext>
            </a:extLst>
          </p:cNvPr>
          <p:cNvSpPr/>
          <p:nvPr/>
        </p:nvSpPr>
        <p:spPr>
          <a:xfrm>
            <a:off x="10703122" y="6667500"/>
            <a:ext cx="1488878" cy="193934"/>
          </a:xfrm>
          <a:prstGeom prst="rect">
            <a:avLst/>
          </a:prstGeom>
          <a:solidFill>
            <a:srgbClr val="2D7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C9AC7A1-40D2-56A4-0C17-ECA158838643}"/>
              </a:ext>
            </a:extLst>
          </p:cNvPr>
          <p:cNvSpPr/>
          <p:nvPr/>
        </p:nvSpPr>
        <p:spPr>
          <a:xfrm>
            <a:off x="8918378" y="6777038"/>
            <a:ext cx="3273622" cy="88900"/>
          </a:xfrm>
          <a:prstGeom prst="rect">
            <a:avLst/>
          </a:prstGeom>
          <a:solidFill>
            <a:srgbClr val="0D8F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644C034-B9D9-0806-0E87-6BA5DB40B52F}"/>
              </a:ext>
            </a:extLst>
          </p:cNvPr>
          <p:cNvSpPr/>
          <p:nvPr/>
        </p:nvSpPr>
        <p:spPr>
          <a:xfrm>
            <a:off x="0" y="-119062"/>
            <a:ext cx="12192000" cy="657225"/>
          </a:xfrm>
          <a:prstGeom prst="rect">
            <a:avLst/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>
                <a:latin typeface="Bahnschrift SemiBold" panose="020B0502040204020203" pitchFamily="34" charset="0"/>
                <a:cs typeface="Arial" panose="020B0604020202020204" pitchFamily="34" charset="0"/>
              </a:rPr>
              <a:t>    BIOSIGNALS </a:t>
            </a:r>
            <a:r>
              <a:rPr lang="es-MX" sz="2800" dirty="0">
                <a:solidFill>
                  <a:srgbClr val="0C3C57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84219273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F8355-9C8A-3E8D-7172-9732F4E6B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80235DCD-C651-9DC6-B12A-EA5279B96543}"/>
              </a:ext>
            </a:extLst>
          </p:cNvPr>
          <p:cNvSpPr/>
          <p:nvPr/>
        </p:nvSpPr>
        <p:spPr>
          <a:xfrm>
            <a:off x="315687" y="2424548"/>
            <a:ext cx="3600000" cy="3876675"/>
          </a:xfrm>
          <a:prstGeom prst="roundRect">
            <a:avLst>
              <a:gd name="adj" fmla="val 2171"/>
            </a:avLst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229F15-5197-6E47-ADE7-284A542F1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9113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RESEARCH MOTIVATION</a:t>
            </a:r>
            <a:br>
              <a:rPr lang="en-US" sz="24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noProof="0" dirty="0" err="1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r>
              <a:rPr lang="en-US" b="1" noProof="0" dirty="0">
                <a:latin typeface="Arial" panose="020B0604020202020204" pitchFamily="34" charset="0"/>
                <a:cs typeface="Arial" panose="020B0604020202020204" pitchFamily="34" charset="0"/>
              </a:rPr>
              <a:t> and Objectives</a:t>
            </a:r>
            <a:endParaRPr lang="en-US" sz="24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28993A6-D166-B616-2A6B-FF068EA66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8077" y="6356350"/>
            <a:ext cx="7447085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BIOSIGNAL 2026, 19TH INTERNATIONAL CONFERENCE ON BIO-INSPIRED SYSTEMS AND SIGNAL PROCESSING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64D83BF-C9C2-C1ED-5222-40ADC96CE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b="1" smtClean="0">
                <a:solidFill>
                  <a:schemeClr val="tx1"/>
                </a:solidFill>
              </a:rPr>
              <a:t>9</a:t>
            </a:fld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7C59B59-B2CD-8152-415D-BFFC641E98C4}"/>
              </a:ext>
            </a:extLst>
          </p:cNvPr>
          <p:cNvSpPr/>
          <p:nvPr/>
        </p:nvSpPr>
        <p:spPr>
          <a:xfrm>
            <a:off x="10703122" y="6667500"/>
            <a:ext cx="1488878" cy="193934"/>
          </a:xfrm>
          <a:prstGeom prst="rect">
            <a:avLst/>
          </a:prstGeom>
          <a:solidFill>
            <a:srgbClr val="2D7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4277427-3C13-9DC5-990F-C03611B38414}"/>
              </a:ext>
            </a:extLst>
          </p:cNvPr>
          <p:cNvSpPr/>
          <p:nvPr/>
        </p:nvSpPr>
        <p:spPr>
          <a:xfrm>
            <a:off x="8918378" y="6777038"/>
            <a:ext cx="3273622" cy="88900"/>
          </a:xfrm>
          <a:prstGeom prst="rect">
            <a:avLst/>
          </a:prstGeom>
          <a:solidFill>
            <a:srgbClr val="0D8F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3FBFF65-AD77-D6A7-8D99-2BF160565F97}"/>
              </a:ext>
            </a:extLst>
          </p:cNvPr>
          <p:cNvSpPr/>
          <p:nvPr/>
        </p:nvSpPr>
        <p:spPr>
          <a:xfrm>
            <a:off x="0" y="-119062"/>
            <a:ext cx="12192000" cy="657225"/>
          </a:xfrm>
          <a:prstGeom prst="rect">
            <a:avLst/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>
                <a:latin typeface="Bahnschrift SemiBold" panose="020B0502040204020203" pitchFamily="34" charset="0"/>
                <a:cs typeface="Arial" panose="020B0604020202020204" pitchFamily="34" charset="0"/>
              </a:rPr>
              <a:t>    BIOSIGNALS </a:t>
            </a:r>
            <a:r>
              <a:rPr lang="es-MX" sz="2800" dirty="0">
                <a:solidFill>
                  <a:srgbClr val="0C3C57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28DECD94-B21D-0734-9AB5-94CD6A5DAFFF}"/>
              </a:ext>
            </a:extLst>
          </p:cNvPr>
          <p:cNvSpPr/>
          <p:nvPr/>
        </p:nvSpPr>
        <p:spPr>
          <a:xfrm>
            <a:off x="315684" y="2524335"/>
            <a:ext cx="3600000" cy="3876675"/>
          </a:xfrm>
          <a:prstGeom prst="roundRect">
            <a:avLst>
              <a:gd name="adj" fmla="val 21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s-MX" sz="1600" dirty="0">
              <a:solidFill>
                <a:srgbClr val="0C3C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Google Shape;9346;p75">
            <a:extLst>
              <a:ext uri="{FF2B5EF4-FFF2-40B4-BE49-F238E27FC236}">
                <a16:creationId xmlns:a16="http://schemas.microsoft.com/office/drawing/2014/main" id="{8E539575-2137-265A-2D39-6A0EEB7F70BC}"/>
              </a:ext>
            </a:extLst>
          </p:cNvPr>
          <p:cNvSpPr/>
          <p:nvPr/>
        </p:nvSpPr>
        <p:spPr>
          <a:xfrm>
            <a:off x="528280" y="2748135"/>
            <a:ext cx="353180" cy="314589"/>
          </a:xfrm>
          <a:custGeom>
            <a:avLst/>
            <a:gdLst/>
            <a:ahLst/>
            <a:cxnLst/>
            <a:rect l="l" t="t" r="r" b="b"/>
            <a:pathLst>
              <a:path w="11815" h="10524" extrusionOk="0">
                <a:moveTo>
                  <a:pt x="8664" y="726"/>
                </a:moveTo>
                <a:cubicBezTo>
                  <a:pt x="9326" y="726"/>
                  <a:pt x="9956" y="1009"/>
                  <a:pt x="10428" y="1482"/>
                </a:cubicBezTo>
                <a:cubicBezTo>
                  <a:pt x="10869" y="1954"/>
                  <a:pt x="11090" y="2616"/>
                  <a:pt x="11090" y="3309"/>
                </a:cubicBezTo>
                <a:cubicBezTo>
                  <a:pt x="11090" y="4191"/>
                  <a:pt x="10712" y="4853"/>
                  <a:pt x="10082" y="5577"/>
                </a:cubicBezTo>
                <a:lnTo>
                  <a:pt x="7435" y="5577"/>
                </a:lnTo>
                <a:cubicBezTo>
                  <a:pt x="7309" y="5577"/>
                  <a:pt x="7215" y="5640"/>
                  <a:pt x="7120" y="5735"/>
                </a:cubicBezTo>
                <a:lnTo>
                  <a:pt x="6648" y="6522"/>
                </a:lnTo>
                <a:lnTo>
                  <a:pt x="5545" y="3687"/>
                </a:lnTo>
                <a:cubicBezTo>
                  <a:pt x="5514" y="3561"/>
                  <a:pt x="5388" y="3435"/>
                  <a:pt x="5230" y="3435"/>
                </a:cubicBezTo>
                <a:cubicBezTo>
                  <a:pt x="5073" y="3435"/>
                  <a:pt x="4947" y="3529"/>
                  <a:pt x="4915" y="3624"/>
                </a:cubicBezTo>
                <a:lnTo>
                  <a:pt x="4096" y="5514"/>
                </a:lnTo>
                <a:lnTo>
                  <a:pt x="1702" y="5514"/>
                </a:lnTo>
                <a:cubicBezTo>
                  <a:pt x="1103" y="4853"/>
                  <a:pt x="693" y="4191"/>
                  <a:pt x="693" y="3309"/>
                </a:cubicBezTo>
                <a:cubicBezTo>
                  <a:pt x="693" y="2616"/>
                  <a:pt x="945" y="1986"/>
                  <a:pt x="1355" y="1482"/>
                </a:cubicBezTo>
                <a:cubicBezTo>
                  <a:pt x="1796" y="1009"/>
                  <a:pt x="2426" y="726"/>
                  <a:pt x="3151" y="726"/>
                </a:cubicBezTo>
                <a:cubicBezTo>
                  <a:pt x="4096" y="726"/>
                  <a:pt x="4726" y="1293"/>
                  <a:pt x="5073" y="1797"/>
                </a:cubicBezTo>
                <a:cubicBezTo>
                  <a:pt x="5388" y="2206"/>
                  <a:pt x="5545" y="2647"/>
                  <a:pt x="5577" y="2836"/>
                </a:cubicBezTo>
                <a:cubicBezTo>
                  <a:pt x="5608" y="2994"/>
                  <a:pt x="5766" y="3088"/>
                  <a:pt x="5892" y="3088"/>
                </a:cubicBezTo>
                <a:cubicBezTo>
                  <a:pt x="6049" y="3088"/>
                  <a:pt x="6175" y="2994"/>
                  <a:pt x="6207" y="2836"/>
                </a:cubicBezTo>
                <a:cubicBezTo>
                  <a:pt x="6238" y="2679"/>
                  <a:pt x="6459" y="2206"/>
                  <a:pt x="6742" y="1797"/>
                </a:cubicBezTo>
                <a:cubicBezTo>
                  <a:pt x="7089" y="1293"/>
                  <a:pt x="7687" y="726"/>
                  <a:pt x="8664" y="726"/>
                </a:cubicBezTo>
                <a:close/>
                <a:moveTo>
                  <a:pt x="5293" y="4790"/>
                </a:moveTo>
                <a:lnTo>
                  <a:pt x="6364" y="7468"/>
                </a:lnTo>
                <a:cubicBezTo>
                  <a:pt x="6396" y="7562"/>
                  <a:pt x="6522" y="7657"/>
                  <a:pt x="6648" y="7688"/>
                </a:cubicBezTo>
                <a:lnTo>
                  <a:pt x="6679" y="7688"/>
                </a:lnTo>
                <a:cubicBezTo>
                  <a:pt x="6805" y="7688"/>
                  <a:pt x="6931" y="7625"/>
                  <a:pt x="6994" y="7531"/>
                </a:cubicBezTo>
                <a:lnTo>
                  <a:pt x="7750" y="6302"/>
                </a:lnTo>
                <a:lnTo>
                  <a:pt x="9483" y="6302"/>
                </a:lnTo>
                <a:cubicBezTo>
                  <a:pt x="9168" y="6459"/>
                  <a:pt x="8916" y="6711"/>
                  <a:pt x="8664" y="6932"/>
                </a:cubicBezTo>
                <a:cubicBezTo>
                  <a:pt x="7813" y="7688"/>
                  <a:pt x="6868" y="8507"/>
                  <a:pt x="5923" y="9610"/>
                </a:cubicBezTo>
                <a:cubicBezTo>
                  <a:pt x="4978" y="8507"/>
                  <a:pt x="4033" y="7688"/>
                  <a:pt x="3214" y="6932"/>
                </a:cubicBezTo>
                <a:cubicBezTo>
                  <a:pt x="2930" y="6711"/>
                  <a:pt x="2710" y="6459"/>
                  <a:pt x="2458" y="6270"/>
                </a:cubicBezTo>
                <a:lnTo>
                  <a:pt x="4411" y="6270"/>
                </a:lnTo>
                <a:cubicBezTo>
                  <a:pt x="4505" y="6270"/>
                  <a:pt x="4663" y="6207"/>
                  <a:pt x="4726" y="6081"/>
                </a:cubicBezTo>
                <a:lnTo>
                  <a:pt x="5293" y="4790"/>
                </a:lnTo>
                <a:close/>
                <a:moveTo>
                  <a:pt x="3151" y="1"/>
                </a:moveTo>
                <a:cubicBezTo>
                  <a:pt x="2269" y="1"/>
                  <a:pt x="1449" y="379"/>
                  <a:pt x="851" y="1009"/>
                </a:cubicBezTo>
                <a:cubicBezTo>
                  <a:pt x="315" y="1576"/>
                  <a:pt x="0" y="2427"/>
                  <a:pt x="0" y="3309"/>
                </a:cubicBezTo>
                <a:cubicBezTo>
                  <a:pt x="0" y="4097"/>
                  <a:pt x="252" y="4821"/>
                  <a:pt x="819" y="5514"/>
                </a:cubicBezTo>
                <a:lnTo>
                  <a:pt x="819" y="5577"/>
                </a:lnTo>
                <a:lnTo>
                  <a:pt x="347" y="5577"/>
                </a:lnTo>
                <a:cubicBezTo>
                  <a:pt x="158" y="5577"/>
                  <a:pt x="0" y="5735"/>
                  <a:pt x="0" y="5924"/>
                </a:cubicBezTo>
                <a:cubicBezTo>
                  <a:pt x="0" y="6113"/>
                  <a:pt x="158" y="6270"/>
                  <a:pt x="347" y="6270"/>
                </a:cubicBezTo>
                <a:lnTo>
                  <a:pt x="1418" y="6270"/>
                </a:lnTo>
                <a:cubicBezTo>
                  <a:pt x="1796" y="6680"/>
                  <a:pt x="2237" y="7058"/>
                  <a:pt x="2710" y="7468"/>
                </a:cubicBezTo>
                <a:cubicBezTo>
                  <a:pt x="3623" y="8255"/>
                  <a:pt x="4600" y="9137"/>
                  <a:pt x="5640" y="10366"/>
                </a:cubicBezTo>
                <a:lnTo>
                  <a:pt x="5640" y="10397"/>
                </a:lnTo>
                <a:cubicBezTo>
                  <a:pt x="5703" y="10492"/>
                  <a:pt x="5797" y="10524"/>
                  <a:pt x="5892" y="10524"/>
                </a:cubicBezTo>
                <a:cubicBezTo>
                  <a:pt x="6018" y="10524"/>
                  <a:pt x="6081" y="10492"/>
                  <a:pt x="6175" y="10397"/>
                </a:cubicBezTo>
                <a:lnTo>
                  <a:pt x="6175" y="10366"/>
                </a:lnTo>
                <a:cubicBezTo>
                  <a:pt x="7152" y="9137"/>
                  <a:pt x="8192" y="8287"/>
                  <a:pt x="9074" y="7468"/>
                </a:cubicBezTo>
                <a:cubicBezTo>
                  <a:pt x="9546" y="7026"/>
                  <a:pt x="9987" y="6617"/>
                  <a:pt x="10397" y="6270"/>
                </a:cubicBezTo>
                <a:lnTo>
                  <a:pt x="11437" y="6270"/>
                </a:lnTo>
                <a:cubicBezTo>
                  <a:pt x="11657" y="6270"/>
                  <a:pt x="11815" y="6113"/>
                  <a:pt x="11815" y="5924"/>
                </a:cubicBezTo>
                <a:cubicBezTo>
                  <a:pt x="11815" y="5735"/>
                  <a:pt x="11657" y="5577"/>
                  <a:pt x="11437" y="5577"/>
                </a:cubicBezTo>
                <a:lnTo>
                  <a:pt x="10964" y="5577"/>
                </a:lnTo>
                <a:lnTo>
                  <a:pt x="10964" y="5514"/>
                </a:lnTo>
                <a:cubicBezTo>
                  <a:pt x="11531" y="4821"/>
                  <a:pt x="11815" y="4097"/>
                  <a:pt x="11815" y="3309"/>
                </a:cubicBezTo>
                <a:cubicBezTo>
                  <a:pt x="11815" y="2458"/>
                  <a:pt x="11500" y="1639"/>
                  <a:pt x="10932" y="1009"/>
                </a:cubicBezTo>
                <a:cubicBezTo>
                  <a:pt x="10365" y="379"/>
                  <a:pt x="9578" y="1"/>
                  <a:pt x="8664" y="1"/>
                </a:cubicBezTo>
                <a:cubicBezTo>
                  <a:pt x="7404" y="1"/>
                  <a:pt x="6616" y="757"/>
                  <a:pt x="6175" y="1387"/>
                </a:cubicBezTo>
                <a:cubicBezTo>
                  <a:pt x="6049" y="1545"/>
                  <a:pt x="5986" y="1702"/>
                  <a:pt x="5892" y="1860"/>
                </a:cubicBezTo>
                <a:cubicBezTo>
                  <a:pt x="5829" y="1702"/>
                  <a:pt x="5703" y="1545"/>
                  <a:pt x="5640" y="1387"/>
                </a:cubicBezTo>
                <a:cubicBezTo>
                  <a:pt x="5199" y="757"/>
                  <a:pt x="4411" y="1"/>
                  <a:pt x="3151" y="1"/>
                </a:cubicBezTo>
                <a:close/>
              </a:path>
            </a:pathLst>
          </a:custGeom>
          <a:solidFill>
            <a:schemeClr val="bg1">
              <a:lumMod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9786;p76">
            <a:extLst>
              <a:ext uri="{FF2B5EF4-FFF2-40B4-BE49-F238E27FC236}">
                <a16:creationId xmlns:a16="http://schemas.microsoft.com/office/drawing/2014/main" id="{699AB357-6EE3-C37A-1A7B-E0D526C882B8}"/>
              </a:ext>
            </a:extLst>
          </p:cNvPr>
          <p:cNvGrpSpPr/>
          <p:nvPr/>
        </p:nvGrpSpPr>
        <p:grpSpPr>
          <a:xfrm>
            <a:off x="396582" y="1808899"/>
            <a:ext cx="351315" cy="348513"/>
            <a:chOff x="6167350" y="2672800"/>
            <a:chExt cx="297750" cy="295375"/>
          </a:xfrm>
          <a:solidFill>
            <a:schemeClr val="bg1">
              <a:lumMod val="10000"/>
            </a:schemeClr>
          </a:solidFill>
        </p:grpSpPr>
        <p:sp>
          <p:nvSpPr>
            <p:cNvPr id="12" name="Google Shape;9787;p76">
              <a:extLst>
                <a:ext uri="{FF2B5EF4-FFF2-40B4-BE49-F238E27FC236}">
                  <a16:creationId xmlns:a16="http://schemas.microsoft.com/office/drawing/2014/main" id="{88F5DFBB-9B9B-79D7-1364-C5CD5CE3E7C4}"/>
                </a:ext>
              </a:extLst>
            </p:cNvPr>
            <p:cNvSpPr/>
            <p:nvPr/>
          </p:nvSpPr>
          <p:spPr>
            <a:xfrm>
              <a:off x="6167350" y="2672800"/>
              <a:ext cx="226850" cy="295375"/>
            </a:xfrm>
            <a:custGeom>
              <a:avLst/>
              <a:gdLst/>
              <a:ahLst/>
              <a:cxnLst/>
              <a:rect l="l" t="t" r="r" b="b"/>
              <a:pathLst>
                <a:path w="9074" h="11815" extrusionOk="0">
                  <a:moveTo>
                    <a:pt x="4537" y="725"/>
                  </a:moveTo>
                  <a:cubicBezTo>
                    <a:pt x="4758" y="725"/>
                    <a:pt x="4915" y="882"/>
                    <a:pt x="4915" y="1071"/>
                  </a:cubicBezTo>
                  <a:cubicBezTo>
                    <a:pt x="4915" y="1260"/>
                    <a:pt x="5073" y="1418"/>
                    <a:pt x="5262" y="1418"/>
                  </a:cubicBezTo>
                  <a:lnTo>
                    <a:pt x="5955" y="1418"/>
                  </a:lnTo>
                  <a:cubicBezTo>
                    <a:pt x="6175" y="1418"/>
                    <a:pt x="6333" y="1575"/>
                    <a:pt x="6333" y="1796"/>
                  </a:cubicBezTo>
                  <a:cubicBezTo>
                    <a:pt x="6333" y="1985"/>
                    <a:pt x="6175" y="2142"/>
                    <a:pt x="5955" y="2142"/>
                  </a:cubicBezTo>
                  <a:lnTo>
                    <a:pt x="3119" y="2142"/>
                  </a:lnTo>
                  <a:cubicBezTo>
                    <a:pt x="2930" y="2142"/>
                    <a:pt x="2773" y="1985"/>
                    <a:pt x="2773" y="1796"/>
                  </a:cubicBezTo>
                  <a:cubicBezTo>
                    <a:pt x="2773" y="1575"/>
                    <a:pt x="2930" y="1418"/>
                    <a:pt x="3151" y="1418"/>
                  </a:cubicBezTo>
                  <a:lnTo>
                    <a:pt x="3844" y="1418"/>
                  </a:lnTo>
                  <a:cubicBezTo>
                    <a:pt x="4033" y="1418"/>
                    <a:pt x="4191" y="1260"/>
                    <a:pt x="4191" y="1071"/>
                  </a:cubicBezTo>
                  <a:cubicBezTo>
                    <a:pt x="4191" y="882"/>
                    <a:pt x="4348" y="725"/>
                    <a:pt x="4537" y="725"/>
                  </a:cubicBezTo>
                  <a:close/>
                  <a:moveTo>
                    <a:pt x="8066" y="2111"/>
                  </a:moveTo>
                  <a:cubicBezTo>
                    <a:pt x="8255" y="2111"/>
                    <a:pt x="8412" y="2268"/>
                    <a:pt x="8412" y="2458"/>
                  </a:cubicBezTo>
                  <a:lnTo>
                    <a:pt x="8412" y="10806"/>
                  </a:lnTo>
                  <a:lnTo>
                    <a:pt x="8381" y="10806"/>
                  </a:lnTo>
                  <a:cubicBezTo>
                    <a:pt x="8381" y="10995"/>
                    <a:pt x="8223" y="11153"/>
                    <a:pt x="8034" y="11153"/>
                  </a:cubicBezTo>
                  <a:lnTo>
                    <a:pt x="1040" y="11153"/>
                  </a:lnTo>
                  <a:cubicBezTo>
                    <a:pt x="851" y="11153"/>
                    <a:pt x="693" y="10995"/>
                    <a:pt x="693" y="10806"/>
                  </a:cubicBezTo>
                  <a:lnTo>
                    <a:pt x="693" y="2458"/>
                  </a:lnTo>
                  <a:cubicBezTo>
                    <a:pt x="693" y="2268"/>
                    <a:pt x="851" y="2111"/>
                    <a:pt x="1040" y="2111"/>
                  </a:cubicBezTo>
                  <a:lnTo>
                    <a:pt x="2143" y="2111"/>
                  </a:lnTo>
                  <a:cubicBezTo>
                    <a:pt x="2300" y="2489"/>
                    <a:pt x="2647" y="2804"/>
                    <a:pt x="3119" y="2804"/>
                  </a:cubicBezTo>
                  <a:lnTo>
                    <a:pt x="5986" y="2804"/>
                  </a:lnTo>
                  <a:cubicBezTo>
                    <a:pt x="6396" y="2804"/>
                    <a:pt x="6805" y="2521"/>
                    <a:pt x="6963" y="2111"/>
                  </a:cubicBezTo>
                  <a:close/>
                  <a:moveTo>
                    <a:pt x="4506" y="0"/>
                  </a:moveTo>
                  <a:cubicBezTo>
                    <a:pt x="4096" y="0"/>
                    <a:pt x="3686" y="284"/>
                    <a:pt x="3529" y="725"/>
                  </a:cubicBezTo>
                  <a:lnTo>
                    <a:pt x="3088" y="725"/>
                  </a:lnTo>
                  <a:cubicBezTo>
                    <a:pt x="2678" y="725"/>
                    <a:pt x="2269" y="1008"/>
                    <a:pt x="2111" y="1418"/>
                  </a:cubicBezTo>
                  <a:lnTo>
                    <a:pt x="1009" y="1418"/>
                  </a:lnTo>
                  <a:cubicBezTo>
                    <a:pt x="410" y="1418"/>
                    <a:pt x="0" y="1890"/>
                    <a:pt x="0" y="2458"/>
                  </a:cubicBezTo>
                  <a:lnTo>
                    <a:pt x="0" y="10806"/>
                  </a:lnTo>
                  <a:cubicBezTo>
                    <a:pt x="0" y="11405"/>
                    <a:pt x="473" y="11814"/>
                    <a:pt x="1009" y="11814"/>
                  </a:cubicBezTo>
                  <a:lnTo>
                    <a:pt x="7971" y="11814"/>
                  </a:lnTo>
                  <a:cubicBezTo>
                    <a:pt x="8570" y="11814"/>
                    <a:pt x="9011" y="11342"/>
                    <a:pt x="9011" y="10806"/>
                  </a:cubicBezTo>
                  <a:lnTo>
                    <a:pt x="9011" y="2458"/>
                  </a:lnTo>
                  <a:cubicBezTo>
                    <a:pt x="9074" y="1859"/>
                    <a:pt x="8601" y="1418"/>
                    <a:pt x="8034" y="1418"/>
                  </a:cubicBezTo>
                  <a:lnTo>
                    <a:pt x="6931" y="1418"/>
                  </a:lnTo>
                  <a:cubicBezTo>
                    <a:pt x="6774" y="1040"/>
                    <a:pt x="6396" y="725"/>
                    <a:pt x="5923" y="725"/>
                  </a:cubicBezTo>
                  <a:lnTo>
                    <a:pt x="5545" y="725"/>
                  </a:lnTo>
                  <a:cubicBezTo>
                    <a:pt x="5514" y="567"/>
                    <a:pt x="5388" y="441"/>
                    <a:pt x="5262" y="315"/>
                  </a:cubicBezTo>
                  <a:cubicBezTo>
                    <a:pt x="5073" y="126"/>
                    <a:pt x="4789" y="0"/>
                    <a:pt x="45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88;p76">
              <a:extLst>
                <a:ext uri="{FF2B5EF4-FFF2-40B4-BE49-F238E27FC236}">
                  <a16:creationId xmlns:a16="http://schemas.microsoft.com/office/drawing/2014/main" id="{10173B54-B0E9-C152-1B75-C918DA78567D}"/>
                </a:ext>
              </a:extLst>
            </p:cNvPr>
            <p:cNvSpPr/>
            <p:nvPr/>
          </p:nvSpPr>
          <p:spPr>
            <a:xfrm>
              <a:off x="6201225" y="2762575"/>
              <a:ext cx="52775" cy="49650"/>
            </a:xfrm>
            <a:custGeom>
              <a:avLst/>
              <a:gdLst/>
              <a:ahLst/>
              <a:cxnLst/>
              <a:rect l="l" t="t" r="r" b="b"/>
              <a:pathLst>
                <a:path w="2111" h="1986" extrusionOk="0">
                  <a:moveTo>
                    <a:pt x="406" y="1"/>
                  </a:moveTo>
                  <a:cubicBezTo>
                    <a:pt x="315" y="1"/>
                    <a:pt x="221" y="32"/>
                    <a:pt x="158" y="95"/>
                  </a:cubicBezTo>
                  <a:cubicBezTo>
                    <a:pt x="63" y="190"/>
                    <a:pt x="63" y="442"/>
                    <a:pt x="158" y="568"/>
                  </a:cubicBezTo>
                  <a:lnTo>
                    <a:pt x="599" y="977"/>
                  </a:lnTo>
                  <a:lnTo>
                    <a:pt x="158" y="1418"/>
                  </a:lnTo>
                  <a:cubicBezTo>
                    <a:pt x="0" y="1544"/>
                    <a:pt x="0" y="1733"/>
                    <a:pt x="158" y="1891"/>
                  </a:cubicBezTo>
                  <a:cubicBezTo>
                    <a:pt x="221" y="1954"/>
                    <a:pt x="315" y="1985"/>
                    <a:pt x="406" y="1985"/>
                  </a:cubicBezTo>
                  <a:cubicBezTo>
                    <a:pt x="496" y="1985"/>
                    <a:pt x="583" y="1954"/>
                    <a:pt x="630" y="1891"/>
                  </a:cubicBezTo>
                  <a:lnTo>
                    <a:pt x="1071" y="1450"/>
                  </a:lnTo>
                  <a:lnTo>
                    <a:pt x="1512" y="1891"/>
                  </a:lnTo>
                  <a:cubicBezTo>
                    <a:pt x="1575" y="1954"/>
                    <a:pt x="1662" y="1985"/>
                    <a:pt x="1749" y="1985"/>
                  </a:cubicBezTo>
                  <a:cubicBezTo>
                    <a:pt x="1835" y="1985"/>
                    <a:pt x="1922" y="1954"/>
                    <a:pt x="1985" y="1891"/>
                  </a:cubicBezTo>
                  <a:cubicBezTo>
                    <a:pt x="2111" y="1765"/>
                    <a:pt x="2111" y="1544"/>
                    <a:pt x="1985" y="1418"/>
                  </a:cubicBezTo>
                  <a:lnTo>
                    <a:pt x="1544" y="977"/>
                  </a:lnTo>
                  <a:lnTo>
                    <a:pt x="1985" y="568"/>
                  </a:lnTo>
                  <a:cubicBezTo>
                    <a:pt x="2111" y="442"/>
                    <a:pt x="2111" y="190"/>
                    <a:pt x="1985" y="95"/>
                  </a:cubicBezTo>
                  <a:cubicBezTo>
                    <a:pt x="1922" y="32"/>
                    <a:pt x="1835" y="1"/>
                    <a:pt x="1749" y="1"/>
                  </a:cubicBezTo>
                  <a:cubicBezTo>
                    <a:pt x="1662" y="1"/>
                    <a:pt x="1575" y="32"/>
                    <a:pt x="1512" y="95"/>
                  </a:cubicBezTo>
                  <a:lnTo>
                    <a:pt x="1071" y="505"/>
                  </a:lnTo>
                  <a:lnTo>
                    <a:pt x="630" y="95"/>
                  </a:lnTo>
                  <a:cubicBezTo>
                    <a:pt x="583" y="32"/>
                    <a:pt x="496" y="1"/>
                    <a:pt x="4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789;p76">
              <a:extLst>
                <a:ext uri="{FF2B5EF4-FFF2-40B4-BE49-F238E27FC236}">
                  <a16:creationId xmlns:a16="http://schemas.microsoft.com/office/drawing/2014/main" id="{95B0A1F5-32EE-F205-A374-4FBFCF34896C}"/>
                </a:ext>
              </a:extLst>
            </p:cNvPr>
            <p:cNvSpPr/>
            <p:nvPr/>
          </p:nvSpPr>
          <p:spPr>
            <a:xfrm>
              <a:off x="6308325" y="2882300"/>
              <a:ext cx="51225" cy="49650"/>
            </a:xfrm>
            <a:custGeom>
              <a:avLst/>
              <a:gdLst/>
              <a:ahLst/>
              <a:cxnLst/>
              <a:rect l="l" t="t" r="r" b="b"/>
              <a:pathLst>
                <a:path w="2049" h="1986" extrusionOk="0">
                  <a:moveTo>
                    <a:pt x="363" y="0"/>
                  </a:moveTo>
                  <a:cubicBezTo>
                    <a:pt x="276" y="0"/>
                    <a:pt x="190" y="32"/>
                    <a:pt x="127" y="95"/>
                  </a:cubicBezTo>
                  <a:cubicBezTo>
                    <a:pt x="1" y="221"/>
                    <a:pt x="1" y="441"/>
                    <a:pt x="127" y="567"/>
                  </a:cubicBezTo>
                  <a:lnTo>
                    <a:pt x="568" y="1009"/>
                  </a:lnTo>
                  <a:lnTo>
                    <a:pt x="127" y="1450"/>
                  </a:lnTo>
                  <a:cubicBezTo>
                    <a:pt x="1" y="1544"/>
                    <a:pt x="1" y="1796"/>
                    <a:pt x="127" y="1891"/>
                  </a:cubicBezTo>
                  <a:cubicBezTo>
                    <a:pt x="190" y="1954"/>
                    <a:pt x="276" y="1985"/>
                    <a:pt x="363" y="1985"/>
                  </a:cubicBezTo>
                  <a:cubicBezTo>
                    <a:pt x="450" y="1985"/>
                    <a:pt x="536" y="1954"/>
                    <a:pt x="599" y="1891"/>
                  </a:cubicBezTo>
                  <a:lnTo>
                    <a:pt x="1040" y="1481"/>
                  </a:lnTo>
                  <a:lnTo>
                    <a:pt x="1481" y="1891"/>
                  </a:lnTo>
                  <a:cubicBezTo>
                    <a:pt x="1529" y="1954"/>
                    <a:pt x="1615" y="1985"/>
                    <a:pt x="1706" y="1985"/>
                  </a:cubicBezTo>
                  <a:cubicBezTo>
                    <a:pt x="1797" y="1985"/>
                    <a:pt x="1891" y="1954"/>
                    <a:pt x="1954" y="1891"/>
                  </a:cubicBezTo>
                  <a:cubicBezTo>
                    <a:pt x="2049" y="1796"/>
                    <a:pt x="2049" y="1544"/>
                    <a:pt x="1954" y="1450"/>
                  </a:cubicBezTo>
                  <a:lnTo>
                    <a:pt x="1513" y="1009"/>
                  </a:lnTo>
                  <a:lnTo>
                    <a:pt x="1954" y="567"/>
                  </a:lnTo>
                  <a:cubicBezTo>
                    <a:pt x="2049" y="441"/>
                    <a:pt x="2049" y="252"/>
                    <a:pt x="1954" y="95"/>
                  </a:cubicBezTo>
                  <a:cubicBezTo>
                    <a:pt x="1891" y="32"/>
                    <a:pt x="1804" y="0"/>
                    <a:pt x="1718" y="0"/>
                  </a:cubicBezTo>
                  <a:cubicBezTo>
                    <a:pt x="1631" y="0"/>
                    <a:pt x="1544" y="32"/>
                    <a:pt x="1481" y="95"/>
                  </a:cubicBezTo>
                  <a:lnTo>
                    <a:pt x="1040" y="536"/>
                  </a:lnTo>
                  <a:lnTo>
                    <a:pt x="599" y="95"/>
                  </a:lnTo>
                  <a:cubicBezTo>
                    <a:pt x="536" y="32"/>
                    <a:pt x="450" y="0"/>
                    <a:pt x="3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790;p76">
              <a:extLst>
                <a:ext uri="{FF2B5EF4-FFF2-40B4-BE49-F238E27FC236}">
                  <a16:creationId xmlns:a16="http://schemas.microsoft.com/office/drawing/2014/main" id="{D1421297-FDB6-6BF9-70DB-628704C17255}"/>
                </a:ext>
              </a:extLst>
            </p:cNvPr>
            <p:cNvSpPr/>
            <p:nvPr/>
          </p:nvSpPr>
          <p:spPr>
            <a:xfrm>
              <a:off x="6200425" y="2759425"/>
              <a:ext cx="156775" cy="174875"/>
            </a:xfrm>
            <a:custGeom>
              <a:avLst/>
              <a:gdLst/>
              <a:ahLst/>
              <a:cxnLst/>
              <a:rect l="l" t="t" r="r" b="b"/>
              <a:pathLst>
                <a:path w="6271" h="6995" extrusionOk="0">
                  <a:moveTo>
                    <a:pt x="1103" y="5609"/>
                  </a:moveTo>
                  <a:cubicBezTo>
                    <a:pt x="1292" y="5609"/>
                    <a:pt x="1450" y="5766"/>
                    <a:pt x="1450" y="5955"/>
                  </a:cubicBezTo>
                  <a:cubicBezTo>
                    <a:pt x="1450" y="6144"/>
                    <a:pt x="1292" y="6302"/>
                    <a:pt x="1103" y="6302"/>
                  </a:cubicBezTo>
                  <a:cubicBezTo>
                    <a:pt x="914" y="6302"/>
                    <a:pt x="757" y="6144"/>
                    <a:pt x="757" y="5955"/>
                  </a:cubicBezTo>
                  <a:cubicBezTo>
                    <a:pt x="757" y="5766"/>
                    <a:pt x="914" y="5609"/>
                    <a:pt x="1103" y="5609"/>
                  </a:cubicBezTo>
                  <a:close/>
                  <a:moveTo>
                    <a:pt x="5325" y="1"/>
                  </a:moveTo>
                  <a:cubicBezTo>
                    <a:pt x="5230" y="1"/>
                    <a:pt x="5136" y="64"/>
                    <a:pt x="5073" y="127"/>
                  </a:cubicBezTo>
                  <a:lnTo>
                    <a:pt x="4380" y="851"/>
                  </a:lnTo>
                  <a:cubicBezTo>
                    <a:pt x="4254" y="946"/>
                    <a:pt x="4254" y="1198"/>
                    <a:pt x="4380" y="1324"/>
                  </a:cubicBezTo>
                  <a:cubicBezTo>
                    <a:pt x="4443" y="1371"/>
                    <a:pt x="4529" y="1395"/>
                    <a:pt x="4616" y="1395"/>
                  </a:cubicBezTo>
                  <a:cubicBezTo>
                    <a:pt x="4703" y="1395"/>
                    <a:pt x="4789" y="1371"/>
                    <a:pt x="4852" y="1324"/>
                  </a:cubicBezTo>
                  <a:lnTo>
                    <a:pt x="4978" y="1198"/>
                  </a:lnTo>
                  <a:lnTo>
                    <a:pt x="4978" y="2458"/>
                  </a:lnTo>
                  <a:cubicBezTo>
                    <a:pt x="4978" y="2647"/>
                    <a:pt x="4821" y="2805"/>
                    <a:pt x="4600" y="2805"/>
                  </a:cubicBezTo>
                  <a:lnTo>
                    <a:pt x="1765" y="2805"/>
                  </a:lnTo>
                  <a:cubicBezTo>
                    <a:pt x="1513" y="2805"/>
                    <a:pt x="1229" y="2931"/>
                    <a:pt x="1040" y="3120"/>
                  </a:cubicBezTo>
                  <a:cubicBezTo>
                    <a:pt x="820" y="3309"/>
                    <a:pt x="725" y="3592"/>
                    <a:pt x="725" y="3876"/>
                  </a:cubicBezTo>
                  <a:lnTo>
                    <a:pt x="725" y="4978"/>
                  </a:lnTo>
                  <a:cubicBezTo>
                    <a:pt x="316" y="5136"/>
                    <a:pt x="1" y="5482"/>
                    <a:pt x="1" y="5955"/>
                  </a:cubicBezTo>
                  <a:cubicBezTo>
                    <a:pt x="1" y="6554"/>
                    <a:pt x="473" y="6995"/>
                    <a:pt x="1040" y="6995"/>
                  </a:cubicBezTo>
                  <a:cubicBezTo>
                    <a:pt x="1607" y="6995"/>
                    <a:pt x="2048" y="6522"/>
                    <a:pt x="2048" y="5955"/>
                  </a:cubicBezTo>
                  <a:cubicBezTo>
                    <a:pt x="2048" y="5514"/>
                    <a:pt x="1765" y="5136"/>
                    <a:pt x="1355" y="4978"/>
                  </a:cubicBezTo>
                  <a:lnTo>
                    <a:pt x="1355" y="3876"/>
                  </a:lnTo>
                  <a:cubicBezTo>
                    <a:pt x="1355" y="3687"/>
                    <a:pt x="1513" y="3529"/>
                    <a:pt x="1702" y="3529"/>
                  </a:cubicBezTo>
                  <a:lnTo>
                    <a:pt x="4537" y="3529"/>
                  </a:lnTo>
                  <a:cubicBezTo>
                    <a:pt x="5136" y="3529"/>
                    <a:pt x="5545" y="3057"/>
                    <a:pt x="5545" y="2490"/>
                  </a:cubicBezTo>
                  <a:lnTo>
                    <a:pt x="5545" y="1229"/>
                  </a:lnTo>
                  <a:lnTo>
                    <a:pt x="5671" y="1355"/>
                  </a:lnTo>
                  <a:cubicBezTo>
                    <a:pt x="5734" y="1418"/>
                    <a:pt x="5821" y="1450"/>
                    <a:pt x="5908" y="1450"/>
                  </a:cubicBezTo>
                  <a:cubicBezTo>
                    <a:pt x="5994" y="1450"/>
                    <a:pt x="6081" y="1418"/>
                    <a:pt x="6144" y="1355"/>
                  </a:cubicBezTo>
                  <a:cubicBezTo>
                    <a:pt x="6270" y="1229"/>
                    <a:pt x="6270" y="1009"/>
                    <a:pt x="6144" y="883"/>
                  </a:cubicBezTo>
                  <a:lnTo>
                    <a:pt x="5545" y="127"/>
                  </a:lnTo>
                  <a:cubicBezTo>
                    <a:pt x="5482" y="64"/>
                    <a:pt x="5388" y="1"/>
                    <a:pt x="53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9791;p76">
              <a:extLst>
                <a:ext uri="{FF2B5EF4-FFF2-40B4-BE49-F238E27FC236}">
                  <a16:creationId xmlns:a16="http://schemas.microsoft.com/office/drawing/2014/main" id="{63B0DB5B-88B1-89F0-8369-40EE256809AB}"/>
                </a:ext>
              </a:extLst>
            </p:cNvPr>
            <p:cNvSpPr/>
            <p:nvPr/>
          </p:nvSpPr>
          <p:spPr>
            <a:xfrm>
              <a:off x="6412300" y="2742900"/>
              <a:ext cx="52800" cy="208725"/>
            </a:xfrm>
            <a:custGeom>
              <a:avLst/>
              <a:gdLst/>
              <a:ahLst/>
              <a:cxnLst/>
              <a:rect l="l" t="t" r="r" b="b"/>
              <a:pathLst>
                <a:path w="2112" h="8349" extrusionOk="0">
                  <a:moveTo>
                    <a:pt x="1009" y="662"/>
                  </a:moveTo>
                  <a:cubicBezTo>
                    <a:pt x="1229" y="662"/>
                    <a:pt x="1387" y="819"/>
                    <a:pt x="1387" y="1040"/>
                  </a:cubicBezTo>
                  <a:lnTo>
                    <a:pt x="1387" y="1386"/>
                  </a:lnTo>
                  <a:lnTo>
                    <a:pt x="662" y="1386"/>
                  </a:lnTo>
                  <a:lnTo>
                    <a:pt x="662" y="1040"/>
                  </a:ln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387" y="2048"/>
                  </a:moveTo>
                  <a:lnTo>
                    <a:pt x="1387" y="6017"/>
                  </a:lnTo>
                  <a:cubicBezTo>
                    <a:pt x="1261" y="5986"/>
                    <a:pt x="1142" y="5970"/>
                    <a:pt x="1024" y="5970"/>
                  </a:cubicBezTo>
                  <a:cubicBezTo>
                    <a:pt x="906" y="5970"/>
                    <a:pt x="788" y="5986"/>
                    <a:pt x="662" y="6017"/>
                  </a:cubicBezTo>
                  <a:lnTo>
                    <a:pt x="662" y="2048"/>
                  </a:lnTo>
                  <a:close/>
                  <a:moveTo>
                    <a:pt x="1009" y="6711"/>
                  </a:moveTo>
                  <a:cubicBezTo>
                    <a:pt x="1103" y="6711"/>
                    <a:pt x="1166" y="6711"/>
                    <a:pt x="1261" y="6742"/>
                  </a:cubicBezTo>
                  <a:lnTo>
                    <a:pt x="1009" y="7246"/>
                  </a:lnTo>
                  <a:lnTo>
                    <a:pt x="788" y="6742"/>
                  </a:lnTo>
                  <a:cubicBezTo>
                    <a:pt x="851" y="6711"/>
                    <a:pt x="946" y="6711"/>
                    <a:pt x="1009" y="6711"/>
                  </a:cubicBezTo>
                  <a:close/>
                  <a:moveTo>
                    <a:pt x="1009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6616"/>
                  </a:lnTo>
                  <a:cubicBezTo>
                    <a:pt x="0" y="6648"/>
                    <a:pt x="0" y="6742"/>
                    <a:pt x="32" y="6774"/>
                  </a:cubicBezTo>
                  <a:lnTo>
                    <a:pt x="757" y="8160"/>
                  </a:lnTo>
                  <a:cubicBezTo>
                    <a:pt x="788" y="8286"/>
                    <a:pt x="946" y="8349"/>
                    <a:pt x="1040" y="8349"/>
                  </a:cubicBezTo>
                  <a:cubicBezTo>
                    <a:pt x="1166" y="8349"/>
                    <a:pt x="1292" y="8286"/>
                    <a:pt x="1355" y="8160"/>
                  </a:cubicBezTo>
                  <a:lnTo>
                    <a:pt x="2080" y="6774"/>
                  </a:lnTo>
                  <a:cubicBezTo>
                    <a:pt x="2111" y="6742"/>
                    <a:pt x="2111" y="6648"/>
                    <a:pt x="2111" y="6616"/>
                  </a:cubicBezTo>
                  <a:lnTo>
                    <a:pt x="2111" y="1040"/>
                  </a:ln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37506B3-ADC6-255B-15C7-8EE8EBF11856}"/>
              </a:ext>
            </a:extLst>
          </p:cNvPr>
          <p:cNvSpPr txBox="1"/>
          <p:nvPr/>
        </p:nvSpPr>
        <p:spPr>
          <a:xfrm>
            <a:off x="1106015" y="2693392"/>
            <a:ext cx="241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latin typeface="Arial" panose="020B0604020202020204" pitchFamily="34" charset="0"/>
                <a:cs typeface="Arial" panose="020B0604020202020204" pitchFamily="34" charset="0"/>
              </a:rPr>
              <a:t>Bridge Domain Gap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A64520B-A263-95F2-9EB6-30E1A8659E8B}"/>
              </a:ext>
            </a:extLst>
          </p:cNvPr>
          <p:cNvSpPr txBox="1"/>
          <p:nvPr/>
        </p:nvSpPr>
        <p:spPr>
          <a:xfrm>
            <a:off x="921855" y="1815375"/>
            <a:ext cx="2331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latin typeface="Arial" panose="020B0604020202020204" pitchFamily="34" charset="0"/>
                <a:cs typeface="Arial" panose="020B0604020202020204" pitchFamily="34" charset="0"/>
              </a:rPr>
              <a:t>Primary Objectives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414F3FA-F037-9C23-5CBE-7B2AAAAAC5EA}"/>
              </a:ext>
            </a:extLst>
          </p:cNvPr>
          <p:cNvSpPr txBox="1"/>
          <p:nvPr/>
        </p:nvSpPr>
        <p:spPr>
          <a:xfrm>
            <a:off x="8292037" y="1768553"/>
            <a:ext cx="2331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latin typeface="Arial" panose="020B0604020202020204" pitchFamily="34" charset="0"/>
                <a:cs typeface="Arial" panose="020B0604020202020204" pitchFamily="34" charset="0"/>
              </a:rPr>
              <a:t>Strategic Approach</a:t>
            </a:r>
          </a:p>
        </p:txBody>
      </p:sp>
      <p:grpSp>
        <p:nvGrpSpPr>
          <p:cNvPr id="42" name="Google Shape;9415;p75">
            <a:extLst>
              <a:ext uri="{FF2B5EF4-FFF2-40B4-BE49-F238E27FC236}">
                <a16:creationId xmlns:a16="http://schemas.microsoft.com/office/drawing/2014/main" id="{D61E0543-1C3B-EAB0-5628-C4829AB17A76}"/>
              </a:ext>
            </a:extLst>
          </p:cNvPr>
          <p:cNvGrpSpPr/>
          <p:nvPr/>
        </p:nvGrpSpPr>
        <p:grpSpPr>
          <a:xfrm>
            <a:off x="7894604" y="1796817"/>
            <a:ext cx="291033" cy="353180"/>
            <a:chOff x="-26179575" y="2710600"/>
            <a:chExt cx="243400" cy="295375"/>
          </a:xfrm>
        </p:grpSpPr>
        <p:sp>
          <p:nvSpPr>
            <p:cNvPr id="43" name="Google Shape;9416;p75">
              <a:extLst>
                <a:ext uri="{FF2B5EF4-FFF2-40B4-BE49-F238E27FC236}">
                  <a16:creationId xmlns:a16="http://schemas.microsoft.com/office/drawing/2014/main" id="{AD525F19-6686-08E1-DAE2-FE2D9D99A322}"/>
                </a:ext>
              </a:extLst>
            </p:cNvPr>
            <p:cNvSpPr/>
            <p:nvPr/>
          </p:nvSpPr>
          <p:spPr>
            <a:xfrm>
              <a:off x="-26179575" y="2710600"/>
              <a:ext cx="243400" cy="295375"/>
            </a:xfrm>
            <a:custGeom>
              <a:avLst/>
              <a:gdLst/>
              <a:ahLst/>
              <a:cxnLst/>
              <a:rect l="l" t="t" r="r" b="b"/>
              <a:pathLst>
                <a:path w="9736" h="11815" extrusionOk="0">
                  <a:moveTo>
                    <a:pt x="7719" y="693"/>
                  </a:moveTo>
                  <a:cubicBezTo>
                    <a:pt x="7845" y="977"/>
                    <a:pt x="7971" y="1166"/>
                    <a:pt x="8191" y="1418"/>
                  </a:cubicBezTo>
                  <a:lnTo>
                    <a:pt x="1008" y="1418"/>
                  </a:lnTo>
                  <a:cubicBezTo>
                    <a:pt x="819" y="1418"/>
                    <a:pt x="662" y="1261"/>
                    <a:pt x="662" y="1072"/>
                  </a:cubicBezTo>
                  <a:cubicBezTo>
                    <a:pt x="662" y="851"/>
                    <a:pt x="819" y="693"/>
                    <a:pt x="1008" y="693"/>
                  </a:cubicBezTo>
                  <a:close/>
                  <a:moveTo>
                    <a:pt x="8979" y="2080"/>
                  </a:moveTo>
                  <a:lnTo>
                    <a:pt x="8979" y="11153"/>
                  </a:lnTo>
                  <a:lnTo>
                    <a:pt x="2048" y="11153"/>
                  </a:lnTo>
                  <a:lnTo>
                    <a:pt x="2048" y="2080"/>
                  </a:lnTo>
                  <a:close/>
                  <a:moveTo>
                    <a:pt x="662" y="2048"/>
                  </a:moveTo>
                  <a:cubicBezTo>
                    <a:pt x="788" y="2080"/>
                    <a:pt x="882" y="2111"/>
                    <a:pt x="1008" y="2111"/>
                  </a:cubicBezTo>
                  <a:lnTo>
                    <a:pt x="1355" y="2111"/>
                  </a:lnTo>
                  <a:lnTo>
                    <a:pt x="1355" y="11185"/>
                  </a:lnTo>
                  <a:cubicBezTo>
                    <a:pt x="977" y="11153"/>
                    <a:pt x="662" y="10838"/>
                    <a:pt x="662" y="10460"/>
                  </a:cubicBezTo>
                  <a:lnTo>
                    <a:pt x="662" y="2048"/>
                  </a:lnTo>
                  <a:close/>
                  <a:moveTo>
                    <a:pt x="1008" y="0"/>
                  </a:moveTo>
                  <a:cubicBezTo>
                    <a:pt x="410" y="0"/>
                    <a:pt x="0" y="473"/>
                    <a:pt x="0" y="1009"/>
                  </a:cubicBezTo>
                  <a:lnTo>
                    <a:pt x="0" y="10428"/>
                  </a:lnTo>
                  <a:cubicBezTo>
                    <a:pt x="0" y="11185"/>
                    <a:pt x="630" y="11815"/>
                    <a:pt x="1355" y="11815"/>
                  </a:cubicBezTo>
                  <a:lnTo>
                    <a:pt x="9357" y="11815"/>
                  </a:lnTo>
                  <a:cubicBezTo>
                    <a:pt x="9578" y="11815"/>
                    <a:pt x="9735" y="11657"/>
                    <a:pt x="9735" y="11468"/>
                  </a:cubicBezTo>
                  <a:lnTo>
                    <a:pt x="9672" y="1733"/>
                  </a:lnTo>
                  <a:cubicBezTo>
                    <a:pt x="9672" y="1576"/>
                    <a:pt x="9609" y="1450"/>
                    <a:pt x="9452" y="1418"/>
                  </a:cubicBezTo>
                  <a:cubicBezTo>
                    <a:pt x="8885" y="1229"/>
                    <a:pt x="8443" y="788"/>
                    <a:pt x="8254" y="221"/>
                  </a:cubicBezTo>
                  <a:cubicBezTo>
                    <a:pt x="8223" y="63"/>
                    <a:pt x="8065" y="0"/>
                    <a:pt x="7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bg1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417;p75">
              <a:extLst>
                <a:ext uri="{FF2B5EF4-FFF2-40B4-BE49-F238E27FC236}">
                  <a16:creationId xmlns:a16="http://schemas.microsoft.com/office/drawing/2014/main" id="{5FD813CA-9F03-6961-C726-E46189047DC6}"/>
                </a:ext>
              </a:extLst>
            </p:cNvPr>
            <p:cNvSpPr/>
            <p:nvPr/>
          </p:nvSpPr>
          <p:spPr>
            <a:xfrm>
              <a:off x="-26092950" y="2797225"/>
              <a:ext cx="120525" cy="121325"/>
            </a:xfrm>
            <a:custGeom>
              <a:avLst/>
              <a:gdLst/>
              <a:ahLst/>
              <a:cxnLst/>
              <a:rect l="l" t="t" r="r" b="b"/>
              <a:pathLst>
                <a:path w="4821" h="4853" extrusionOk="0">
                  <a:moveTo>
                    <a:pt x="2742" y="694"/>
                  </a:moveTo>
                  <a:lnTo>
                    <a:pt x="2742" y="1734"/>
                  </a:lnTo>
                  <a:cubicBezTo>
                    <a:pt x="2742" y="1923"/>
                    <a:pt x="2899" y="2080"/>
                    <a:pt x="3088" y="2080"/>
                  </a:cubicBezTo>
                  <a:lnTo>
                    <a:pt x="4128" y="2080"/>
                  </a:lnTo>
                  <a:lnTo>
                    <a:pt x="4128" y="2805"/>
                  </a:lnTo>
                  <a:lnTo>
                    <a:pt x="3088" y="2805"/>
                  </a:lnTo>
                  <a:cubicBezTo>
                    <a:pt x="2899" y="2805"/>
                    <a:pt x="2742" y="2962"/>
                    <a:pt x="2742" y="3151"/>
                  </a:cubicBezTo>
                  <a:lnTo>
                    <a:pt x="2742" y="4160"/>
                  </a:lnTo>
                  <a:lnTo>
                    <a:pt x="2048" y="4160"/>
                  </a:lnTo>
                  <a:lnTo>
                    <a:pt x="2048" y="3151"/>
                  </a:lnTo>
                  <a:cubicBezTo>
                    <a:pt x="2048" y="2962"/>
                    <a:pt x="1891" y="2805"/>
                    <a:pt x="1670" y="2805"/>
                  </a:cubicBezTo>
                  <a:lnTo>
                    <a:pt x="662" y="2805"/>
                  </a:lnTo>
                  <a:lnTo>
                    <a:pt x="662" y="2080"/>
                  </a:lnTo>
                  <a:lnTo>
                    <a:pt x="1670" y="2080"/>
                  </a:lnTo>
                  <a:cubicBezTo>
                    <a:pt x="1891" y="2080"/>
                    <a:pt x="2048" y="1923"/>
                    <a:pt x="2048" y="1734"/>
                  </a:cubicBezTo>
                  <a:lnTo>
                    <a:pt x="2048" y="694"/>
                  </a:lnTo>
                  <a:close/>
                  <a:moveTo>
                    <a:pt x="1733" y="1"/>
                  </a:moveTo>
                  <a:cubicBezTo>
                    <a:pt x="1513" y="1"/>
                    <a:pt x="1355" y="158"/>
                    <a:pt x="1355" y="347"/>
                  </a:cubicBezTo>
                  <a:lnTo>
                    <a:pt x="1355" y="1387"/>
                  </a:lnTo>
                  <a:lnTo>
                    <a:pt x="347" y="1387"/>
                  </a:lnTo>
                  <a:cubicBezTo>
                    <a:pt x="158" y="1387"/>
                    <a:pt x="1" y="1545"/>
                    <a:pt x="1" y="1734"/>
                  </a:cubicBezTo>
                  <a:lnTo>
                    <a:pt x="1" y="3120"/>
                  </a:lnTo>
                  <a:cubicBezTo>
                    <a:pt x="1" y="3309"/>
                    <a:pt x="158" y="3466"/>
                    <a:pt x="347" y="3466"/>
                  </a:cubicBezTo>
                  <a:lnTo>
                    <a:pt x="1355" y="3466"/>
                  </a:lnTo>
                  <a:lnTo>
                    <a:pt x="1355" y="4475"/>
                  </a:lnTo>
                  <a:cubicBezTo>
                    <a:pt x="1355" y="4695"/>
                    <a:pt x="1513" y="4853"/>
                    <a:pt x="1733" y="4853"/>
                  </a:cubicBezTo>
                  <a:lnTo>
                    <a:pt x="3088" y="4853"/>
                  </a:lnTo>
                  <a:cubicBezTo>
                    <a:pt x="3309" y="4853"/>
                    <a:pt x="3466" y="4695"/>
                    <a:pt x="3466" y="4475"/>
                  </a:cubicBezTo>
                  <a:lnTo>
                    <a:pt x="3466" y="3466"/>
                  </a:lnTo>
                  <a:lnTo>
                    <a:pt x="4474" y="3466"/>
                  </a:lnTo>
                  <a:cubicBezTo>
                    <a:pt x="4663" y="3466"/>
                    <a:pt x="4821" y="3309"/>
                    <a:pt x="4821" y="3120"/>
                  </a:cubicBezTo>
                  <a:lnTo>
                    <a:pt x="4821" y="1734"/>
                  </a:lnTo>
                  <a:cubicBezTo>
                    <a:pt x="4821" y="1545"/>
                    <a:pt x="4663" y="1387"/>
                    <a:pt x="4474" y="1387"/>
                  </a:cubicBezTo>
                  <a:lnTo>
                    <a:pt x="3466" y="1387"/>
                  </a:lnTo>
                  <a:lnTo>
                    <a:pt x="3466" y="347"/>
                  </a:lnTo>
                  <a:cubicBezTo>
                    <a:pt x="3466" y="158"/>
                    <a:pt x="3309" y="1"/>
                    <a:pt x="30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bg1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418;p75">
              <a:extLst>
                <a:ext uri="{FF2B5EF4-FFF2-40B4-BE49-F238E27FC236}">
                  <a16:creationId xmlns:a16="http://schemas.microsoft.com/office/drawing/2014/main" id="{E51AB54A-6751-CC79-9DA9-4E8F11302A8C}"/>
                </a:ext>
              </a:extLst>
            </p:cNvPr>
            <p:cNvSpPr/>
            <p:nvPr/>
          </p:nvSpPr>
          <p:spPr>
            <a:xfrm>
              <a:off x="-26094525" y="2954750"/>
              <a:ext cx="122100" cy="17350"/>
            </a:xfrm>
            <a:custGeom>
              <a:avLst/>
              <a:gdLst/>
              <a:ahLst/>
              <a:cxnLst/>
              <a:rect l="l" t="t" r="r" b="b"/>
              <a:pathLst>
                <a:path w="4884" h="694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4537" y="694"/>
                  </a:lnTo>
                  <a:cubicBezTo>
                    <a:pt x="4726" y="694"/>
                    <a:pt x="4884" y="536"/>
                    <a:pt x="4884" y="347"/>
                  </a:cubicBezTo>
                  <a:cubicBezTo>
                    <a:pt x="4884" y="158"/>
                    <a:pt x="4726" y="1"/>
                    <a:pt x="45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bg1">
                  <a:lumMod val="1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81405760-9F5C-5F6E-4DAF-9D6F456862E8}"/>
              </a:ext>
            </a:extLst>
          </p:cNvPr>
          <p:cNvSpPr/>
          <p:nvPr/>
        </p:nvSpPr>
        <p:spPr>
          <a:xfrm>
            <a:off x="4046556" y="2424548"/>
            <a:ext cx="3600000" cy="3876675"/>
          </a:xfrm>
          <a:prstGeom prst="roundRect">
            <a:avLst>
              <a:gd name="adj" fmla="val 2171"/>
            </a:avLst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1B51D72E-5C2B-752C-27BD-EFA9F9DF26F1}"/>
              </a:ext>
            </a:extLst>
          </p:cNvPr>
          <p:cNvSpPr/>
          <p:nvPr/>
        </p:nvSpPr>
        <p:spPr>
          <a:xfrm>
            <a:off x="4046554" y="2524335"/>
            <a:ext cx="3600000" cy="3876675"/>
          </a:xfrm>
          <a:prstGeom prst="roundRect">
            <a:avLst>
              <a:gd name="adj" fmla="val 21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s-MX" sz="1600" dirty="0">
              <a:solidFill>
                <a:srgbClr val="0C3C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8E85B46B-BC3A-0B74-A54E-B782809C1ACA}"/>
              </a:ext>
            </a:extLst>
          </p:cNvPr>
          <p:cNvSpPr txBox="1"/>
          <p:nvPr/>
        </p:nvSpPr>
        <p:spPr>
          <a:xfrm>
            <a:off x="4775339" y="2693392"/>
            <a:ext cx="277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latin typeface="Arial" panose="020B0604020202020204" pitchFamily="34" charset="0"/>
                <a:cs typeface="Arial" panose="020B0604020202020204" pitchFamily="34" charset="0"/>
              </a:rPr>
              <a:t>Robust Identification</a:t>
            </a:r>
          </a:p>
        </p:txBody>
      </p:sp>
      <p:grpSp>
        <p:nvGrpSpPr>
          <p:cNvPr id="52" name="Google Shape;9868;p76">
            <a:extLst>
              <a:ext uri="{FF2B5EF4-FFF2-40B4-BE49-F238E27FC236}">
                <a16:creationId xmlns:a16="http://schemas.microsoft.com/office/drawing/2014/main" id="{A3B605EE-84A6-0949-19FB-1ADA0BD3312F}"/>
              </a:ext>
            </a:extLst>
          </p:cNvPr>
          <p:cNvGrpSpPr/>
          <p:nvPr/>
        </p:nvGrpSpPr>
        <p:grpSpPr>
          <a:xfrm>
            <a:off x="4255648" y="2693392"/>
            <a:ext cx="306686" cy="349457"/>
            <a:chOff x="5794025" y="2673575"/>
            <a:chExt cx="259925" cy="296175"/>
          </a:xfrm>
          <a:solidFill>
            <a:schemeClr val="bg1">
              <a:lumMod val="10000"/>
            </a:schemeClr>
          </a:solidFill>
        </p:grpSpPr>
        <p:sp>
          <p:nvSpPr>
            <p:cNvPr id="53" name="Google Shape;9869;p76">
              <a:extLst>
                <a:ext uri="{FF2B5EF4-FFF2-40B4-BE49-F238E27FC236}">
                  <a16:creationId xmlns:a16="http://schemas.microsoft.com/office/drawing/2014/main" id="{A4641169-C88C-86D9-53E5-3A0DC38B5C17}"/>
                </a:ext>
              </a:extLst>
            </p:cNvPr>
            <p:cNvSpPr/>
            <p:nvPr/>
          </p:nvSpPr>
          <p:spPr>
            <a:xfrm>
              <a:off x="5794025" y="2673575"/>
              <a:ext cx="259925" cy="296175"/>
            </a:xfrm>
            <a:custGeom>
              <a:avLst/>
              <a:gdLst/>
              <a:ahLst/>
              <a:cxnLst/>
              <a:rect l="l" t="t" r="r" b="b"/>
              <a:pathLst>
                <a:path w="10397" h="11847" extrusionOk="0">
                  <a:moveTo>
                    <a:pt x="5860" y="694"/>
                  </a:moveTo>
                  <a:cubicBezTo>
                    <a:pt x="7089" y="694"/>
                    <a:pt x="8097" y="1639"/>
                    <a:pt x="8254" y="2805"/>
                  </a:cubicBezTo>
                  <a:cubicBezTo>
                    <a:pt x="8160" y="2773"/>
                    <a:pt x="8065" y="2773"/>
                    <a:pt x="7939" y="2773"/>
                  </a:cubicBezTo>
                  <a:lnTo>
                    <a:pt x="7561" y="2773"/>
                  </a:lnTo>
                  <a:cubicBezTo>
                    <a:pt x="7404" y="1985"/>
                    <a:pt x="6679" y="1387"/>
                    <a:pt x="5860" y="1387"/>
                  </a:cubicBezTo>
                  <a:lnTo>
                    <a:pt x="4474" y="1387"/>
                  </a:lnTo>
                  <a:cubicBezTo>
                    <a:pt x="3655" y="1387"/>
                    <a:pt x="2930" y="1985"/>
                    <a:pt x="2804" y="2773"/>
                  </a:cubicBezTo>
                  <a:lnTo>
                    <a:pt x="2394" y="2773"/>
                  </a:lnTo>
                  <a:cubicBezTo>
                    <a:pt x="2268" y="2773"/>
                    <a:pt x="2142" y="2773"/>
                    <a:pt x="2079" y="2805"/>
                  </a:cubicBezTo>
                  <a:cubicBezTo>
                    <a:pt x="2237" y="1639"/>
                    <a:pt x="3277" y="694"/>
                    <a:pt x="4474" y="694"/>
                  </a:cubicBezTo>
                  <a:close/>
                  <a:moveTo>
                    <a:pt x="6206" y="2143"/>
                  </a:moveTo>
                  <a:cubicBezTo>
                    <a:pt x="6616" y="2300"/>
                    <a:pt x="6931" y="2647"/>
                    <a:pt x="6931" y="3120"/>
                  </a:cubicBezTo>
                  <a:lnTo>
                    <a:pt x="6931" y="3403"/>
                  </a:lnTo>
                  <a:cubicBezTo>
                    <a:pt x="6522" y="3246"/>
                    <a:pt x="6206" y="2899"/>
                    <a:pt x="6206" y="2427"/>
                  </a:cubicBezTo>
                  <a:lnTo>
                    <a:pt x="6206" y="2143"/>
                  </a:lnTo>
                  <a:close/>
                  <a:moveTo>
                    <a:pt x="5513" y="2080"/>
                  </a:moveTo>
                  <a:lnTo>
                    <a:pt x="5513" y="2427"/>
                  </a:lnTo>
                  <a:cubicBezTo>
                    <a:pt x="5513" y="3025"/>
                    <a:pt x="5041" y="3435"/>
                    <a:pt x="4474" y="3435"/>
                  </a:cubicBezTo>
                  <a:lnTo>
                    <a:pt x="3466" y="3435"/>
                  </a:lnTo>
                  <a:lnTo>
                    <a:pt x="3466" y="3088"/>
                  </a:lnTo>
                  <a:cubicBezTo>
                    <a:pt x="3466" y="2490"/>
                    <a:pt x="3938" y="2080"/>
                    <a:pt x="4474" y="2080"/>
                  </a:cubicBezTo>
                  <a:close/>
                  <a:moveTo>
                    <a:pt x="2741" y="3435"/>
                  </a:moveTo>
                  <a:lnTo>
                    <a:pt x="2741" y="5451"/>
                  </a:lnTo>
                  <a:cubicBezTo>
                    <a:pt x="2363" y="5293"/>
                    <a:pt x="2048" y="4947"/>
                    <a:pt x="2048" y="4474"/>
                  </a:cubicBezTo>
                  <a:lnTo>
                    <a:pt x="2048" y="3813"/>
                  </a:lnTo>
                  <a:cubicBezTo>
                    <a:pt x="2048" y="3592"/>
                    <a:pt x="2205" y="3435"/>
                    <a:pt x="2394" y="3435"/>
                  </a:cubicBezTo>
                  <a:close/>
                  <a:moveTo>
                    <a:pt x="7939" y="3498"/>
                  </a:moveTo>
                  <a:cubicBezTo>
                    <a:pt x="8160" y="3498"/>
                    <a:pt x="8317" y="3655"/>
                    <a:pt x="8317" y="3844"/>
                  </a:cubicBezTo>
                  <a:lnTo>
                    <a:pt x="8317" y="4506"/>
                  </a:lnTo>
                  <a:cubicBezTo>
                    <a:pt x="8317" y="4947"/>
                    <a:pt x="8034" y="5325"/>
                    <a:pt x="7593" y="5482"/>
                  </a:cubicBezTo>
                  <a:lnTo>
                    <a:pt x="7593" y="3498"/>
                  </a:lnTo>
                  <a:close/>
                  <a:moveTo>
                    <a:pt x="5891" y="3435"/>
                  </a:moveTo>
                  <a:cubicBezTo>
                    <a:pt x="6143" y="3750"/>
                    <a:pt x="6522" y="4033"/>
                    <a:pt x="6931" y="4128"/>
                  </a:cubicBezTo>
                  <a:lnTo>
                    <a:pt x="6931" y="5892"/>
                  </a:lnTo>
                  <a:cubicBezTo>
                    <a:pt x="6931" y="6491"/>
                    <a:pt x="6459" y="6900"/>
                    <a:pt x="5891" y="6900"/>
                  </a:cubicBezTo>
                  <a:lnTo>
                    <a:pt x="4505" y="6900"/>
                  </a:lnTo>
                  <a:cubicBezTo>
                    <a:pt x="3938" y="6900"/>
                    <a:pt x="3497" y="6428"/>
                    <a:pt x="3497" y="5892"/>
                  </a:cubicBezTo>
                  <a:lnTo>
                    <a:pt x="3497" y="4159"/>
                  </a:lnTo>
                  <a:lnTo>
                    <a:pt x="4505" y="4159"/>
                  </a:lnTo>
                  <a:cubicBezTo>
                    <a:pt x="5072" y="4159"/>
                    <a:pt x="5576" y="3876"/>
                    <a:pt x="5891" y="3435"/>
                  </a:cubicBezTo>
                  <a:close/>
                  <a:moveTo>
                    <a:pt x="6238" y="7593"/>
                  </a:moveTo>
                  <a:cubicBezTo>
                    <a:pt x="6333" y="7782"/>
                    <a:pt x="6459" y="7971"/>
                    <a:pt x="6616" y="8097"/>
                  </a:cubicBezTo>
                  <a:lnTo>
                    <a:pt x="5198" y="9547"/>
                  </a:lnTo>
                  <a:lnTo>
                    <a:pt x="3718" y="8097"/>
                  </a:lnTo>
                  <a:cubicBezTo>
                    <a:pt x="3875" y="7971"/>
                    <a:pt x="4033" y="7782"/>
                    <a:pt x="4096" y="7593"/>
                  </a:cubicBezTo>
                  <a:cubicBezTo>
                    <a:pt x="4190" y="7625"/>
                    <a:pt x="4379" y="7625"/>
                    <a:pt x="4474" y="7625"/>
                  </a:cubicBezTo>
                  <a:lnTo>
                    <a:pt x="5860" y="7625"/>
                  </a:lnTo>
                  <a:cubicBezTo>
                    <a:pt x="5986" y="7625"/>
                    <a:pt x="6143" y="7625"/>
                    <a:pt x="6238" y="7593"/>
                  </a:cubicBezTo>
                  <a:close/>
                  <a:moveTo>
                    <a:pt x="2961" y="8318"/>
                  </a:moveTo>
                  <a:lnTo>
                    <a:pt x="4852" y="10177"/>
                  </a:lnTo>
                  <a:lnTo>
                    <a:pt x="4852" y="11122"/>
                  </a:lnTo>
                  <a:lnTo>
                    <a:pt x="662" y="11122"/>
                  </a:lnTo>
                  <a:lnTo>
                    <a:pt x="662" y="9358"/>
                  </a:lnTo>
                  <a:cubicBezTo>
                    <a:pt x="662" y="8759"/>
                    <a:pt x="1134" y="8318"/>
                    <a:pt x="1701" y="8318"/>
                  </a:cubicBezTo>
                  <a:close/>
                  <a:moveTo>
                    <a:pt x="8664" y="8318"/>
                  </a:moveTo>
                  <a:cubicBezTo>
                    <a:pt x="9262" y="8318"/>
                    <a:pt x="9672" y="8790"/>
                    <a:pt x="9672" y="9358"/>
                  </a:cubicBezTo>
                  <a:lnTo>
                    <a:pt x="9672" y="11122"/>
                  </a:lnTo>
                  <a:lnTo>
                    <a:pt x="5513" y="11122"/>
                  </a:lnTo>
                  <a:lnTo>
                    <a:pt x="5513" y="10177"/>
                  </a:lnTo>
                  <a:lnTo>
                    <a:pt x="7404" y="8318"/>
                  </a:lnTo>
                  <a:close/>
                  <a:moveTo>
                    <a:pt x="4537" y="1"/>
                  </a:moveTo>
                  <a:cubicBezTo>
                    <a:pt x="2804" y="1"/>
                    <a:pt x="1418" y="1418"/>
                    <a:pt x="1418" y="3120"/>
                  </a:cubicBezTo>
                  <a:lnTo>
                    <a:pt x="1418" y="4506"/>
                  </a:lnTo>
                  <a:cubicBezTo>
                    <a:pt x="1418" y="5356"/>
                    <a:pt x="2048" y="6050"/>
                    <a:pt x="2835" y="6207"/>
                  </a:cubicBezTo>
                  <a:cubicBezTo>
                    <a:pt x="2898" y="6648"/>
                    <a:pt x="3151" y="7026"/>
                    <a:pt x="3497" y="7278"/>
                  </a:cubicBezTo>
                  <a:cubicBezTo>
                    <a:pt x="3466" y="7467"/>
                    <a:pt x="3308" y="7625"/>
                    <a:pt x="3119" y="7625"/>
                  </a:cubicBezTo>
                  <a:lnTo>
                    <a:pt x="1733" y="7625"/>
                  </a:lnTo>
                  <a:cubicBezTo>
                    <a:pt x="788" y="7625"/>
                    <a:pt x="0" y="8412"/>
                    <a:pt x="0" y="9358"/>
                  </a:cubicBezTo>
                  <a:lnTo>
                    <a:pt x="0" y="11468"/>
                  </a:lnTo>
                  <a:cubicBezTo>
                    <a:pt x="0" y="11689"/>
                    <a:pt x="158" y="11846"/>
                    <a:pt x="347" y="11846"/>
                  </a:cubicBezTo>
                  <a:lnTo>
                    <a:pt x="10050" y="11846"/>
                  </a:lnTo>
                  <a:cubicBezTo>
                    <a:pt x="10239" y="11846"/>
                    <a:pt x="10397" y="11689"/>
                    <a:pt x="10397" y="11468"/>
                  </a:cubicBezTo>
                  <a:lnTo>
                    <a:pt x="10397" y="9358"/>
                  </a:lnTo>
                  <a:cubicBezTo>
                    <a:pt x="10397" y="8412"/>
                    <a:pt x="9609" y="7625"/>
                    <a:pt x="8664" y="7625"/>
                  </a:cubicBezTo>
                  <a:lnTo>
                    <a:pt x="7278" y="7625"/>
                  </a:lnTo>
                  <a:cubicBezTo>
                    <a:pt x="7089" y="7625"/>
                    <a:pt x="6931" y="7467"/>
                    <a:pt x="6931" y="7278"/>
                  </a:cubicBezTo>
                  <a:cubicBezTo>
                    <a:pt x="7278" y="7026"/>
                    <a:pt x="7530" y="6648"/>
                    <a:pt x="7593" y="6207"/>
                  </a:cubicBezTo>
                  <a:cubicBezTo>
                    <a:pt x="8380" y="6050"/>
                    <a:pt x="9010" y="5325"/>
                    <a:pt x="9010" y="4506"/>
                  </a:cubicBezTo>
                  <a:lnTo>
                    <a:pt x="9010" y="3120"/>
                  </a:lnTo>
                  <a:cubicBezTo>
                    <a:pt x="9010" y="1387"/>
                    <a:pt x="7593" y="1"/>
                    <a:pt x="58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870;p76">
              <a:extLst>
                <a:ext uri="{FF2B5EF4-FFF2-40B4-BE49-F238E27FC236}">
                  <a16:creationId xmlns:a16="http://schemas.microsoft.com/office/drawing/2014/main" id="{E51F850A-1A6C-AAC0-4401-3DE046D9357F}"/>
                </a:ext>
              </a:extLst>
            </p:cNvPr>
            <p:cNvSpPr/>
            <p:nvPr/>
          </p:nvSpPr>
          <p:spPr>
            <a:xfrm>
              <a:off x="5967300" y="2915375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40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" name="CuadroTexto 54">
            <a:extLst>
              <a:ext uri="{FF2B5EF4-FFF2-40B4-BE49-F238E27FC236}">
                <a16:creationId xmlns:a16="http://schemas.microsoft.com/office/drawing/2014/main" id="{B7A66B6D-AFB1-B98D-8C8C-CC6319AA989C}"/>
              </a:ext>
            </a:extLst>
          </p:cNvPr>
          <p:cNvSpPr txBox="1"/>
          <p:nvPr/>
        </p:nvSpPr>
        <p:spPr>
          <a:xfrm>
            <a:off x="484241" y="3162511"/>
            <a:ext cx="332282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Overcome Distribution Shift: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Address the statistical mismatch between real and synthetic EEG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Synthetic Training: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Enable models trained on synthetic noise to generalize to real clinical artifacts.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Reduce Labeling: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Eliminate the need for extensive manual labeling of target datasets.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ADED958D-A447-A419-3204-948B58A20CB7}"/>
              </a:ext>
            </a:extLst>
          </p:cNvPr>
          <p:cNvSpPr txBox="1"/>
          <p:nvPr/>
        </p:nvSpPr>
        <p:spPr>
          <a:xfrm>
            <a:off x="4215110" y="3162511"/>
            <a:ext cx="333752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Scalable Solution: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Develop a system that works across different recording devices and settings.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High Specificity: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Accurately distinguish true neural activity from artifacts.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Consistency: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Maintain high performance metrics regardless of the input data source.</a:t>
            </a:r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3D60F7B7-D620-628F-C65C-A9DD29A566C6}"/>
              </a:ext>
            </a:extLst>
          </p:cNvPr>
          <p:cNvSpPr/>
          <p:nvPr/>
        </p:nvSpPr>
        <p:spPr>
          <a:xfrm>
            <a:off x="7806680" y="2424548"/>
            <a:ext cx="4210305" cy="2011115"/>
          </a:xfrm>
          <a:prstGeom prst="roundRect">
            <a:avLst>
              <a:gd name="adj" fmla="val 2171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7269B51A-BEE6-A6BF-3624-BA0A96C1C288}"/>
              </a:ext>
            </a:extLst>
          </p:cNvPr>
          <p:cNvSpPr/>
          <p:nvPr/>
        </p:nvSpPr>
        <p:spPr>
          <a:xfrm>
            <a:off x="7806679" y="2524335"/>
            <a:ext cx="4210306" cy="3417172"/>
          </a:xfrm>
          <a:prstGeom prst="roundRect">
            <a:avLst>
              <a:gd name="adj" fmla="val 21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b="1" i="0" dirty="0" err="1">
                <a:solidFill>
                  <a:srgbClr val="1F293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  <a:r>
              <a:rPr lang="es-MX" sz="1600" b="1" i="0" dirty="0">
                <a:solidFill>
                  <a:srgbClr val="1F293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b="1" i="0" dirty="0" err="1">
                <a:solidFill>
                  <a:srgbClr val="1F293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Adaptation</a:t>
            </a:r>
            <a:endParaRPr lang="es-MX" sz="1600" b="1" i="0" dirty="0">
              <a:solidFill>
                <a:srgbClr val="1F2937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600" b="1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Semi-Supervised Learning: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Utilize labeled source data (real) and unlabeled target data (synthetic).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Latent Alignment: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Project disparate signals into a shared, domain-invariant latent space.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Transfer: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Learn universal features applicable to both domains.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E43E835-FF00-1378-7A27-6AB0417DBCF6}"/>
              </a:ext>
            </a:extLst>
          </p:cNvPr>
          <p:cNvSpPr txBox="1"/>
          <p:nvPr/>
        </p:nvSpPr>
        <p:spPr>
          <a:xfrm>
            <a:off x="7815108" y="5914103"/>
            <a:ext cx="29892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(Choi, 2025)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491406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1966B-95F2-A003-C3F4-CA01D7481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6149D-1454-4E8F-8FA8-F35AF081E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911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br>
              <a:rPr lang="en-US" sz="24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noProof="0" dirty="0">
                <a:latin typeface="Arial" panose="020B0604020202020204" pitchFamily="34" charset="0"/>
                <a:cs typeface="Arial" panose="020B0604020202020204" pitchFamily="34" charset="0"/>
              </a:rPr>
              <a:t>From data preparation to model evaluation</a:t>
            </a:r>
            <a:endParaRPr lang="en-US" sz="24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6F45C49-34BF-2667-FBA2-BD61CCFCE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8077" y="6356350"/>
            <a:ext cx="7447085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BIOSIGNAL 2026, 19TH INTERNATIONAL CONFERENCE ON BIO-INSPIRED SYSTEMS AND SIGNAL PROCESSING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5B616E9-4191-DEF0-5352-6A42814A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b="1" smtClean="0">
                <a:solidFill>
                  <a:schemeClr val="tx1"/>
                </a:solidFill>
              </a:rPr>
              <a:t>10</a:t>
            </a:fld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06949FD-8C79-CB0F-E9C9-A125BAED6FF7}"/>
              </a:ext>
            </a:extLst>
          </p:cNvPr>
          <p:cNvSpPr/>
          <p:nvPr/>
        </p:nvSpPr>
        <p:spPr>
          <a:xfrm>
            <a:off x="10703122" y="6667500"/>
            <a:ext cx="1488878" cy="193934"/>
          </a:xfrm>
          <a:prstGeom prst="rect">
            <a:avLst/>
          </a:prstGeom>
          <a:solidFill>
            <a:srgbClr val="2D7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C8ACB73-EB95-CC9A-B1DF-276697C451C0}"/>
              </a:ext>
            </a:extLst>
          </p:cNvPr>
          <p:cNvSpPr/>
          <p:nvPr/>
        </p:nvSpPr>
        <p:spPr>
          <a:xfrm>
            <a:off x="8918378" y="6777038"/>
            <a:ext cx="3273622" cy="88900"/>
          </a:xfrm>
          <a:prstGeom prst="rect">
            <a:avLst/>
          </a:prstGeom>
          <a:solidFill>
            <a:srgbClr val="0D8F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7848DC3-3959-C129-DE33-6EC3F024551A}"/>
              </a:ext>
            </a:extLst>
          </p:cNvPr>
          <p:cNvSpPr/>
          <p:nvPr/>
        </p:nvSpPr>
        <p:spPr>
          <a:xfrm>
            <a:off x="0" y="-119062"/>
            <a:ext cx="12192000" cy="657225"/>
          </a:xfrm>
          <a:prstGeom prst="rect">
            <a:avLst/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>
                <a:latin typeface="Bahnschrift SemiBold" panose="020B0502040204020203" pitchFamily="34" charset="0"/>
                <a:cs typeface="Arial" panose="020B0604020202020204" pitchFamily="34" charset="0"/>
              </a:rPr>
              <a:t>    BIOSIGNALS </a:t>
            </a:r>
            <a:r>
              <a:rPr lang="es-MX" sz="2800" dirty="0">
                <a:solidFill>
                  <a:srgbClr val="0C3C57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2026</a:t>
            </a:r>
          </a:p>
        </p:txBody>
      </p:sp>
      <p:pic>
        <p:nvPicPr>
          <p:cNvPr id="3" name="Marcador de contenido 6">
            <a:extLst>
              <a:ext uri="{FF2B5EF4-FFF2-40B4-BE49-F238E27FC236}">
                <a16:creationId xmlns:a16="http://schemas.microsoft.com/office/drawing/2014/main" id="{4B9DD996-BC45-FF60-D467-282073ECD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759" y="1735810"/>
            <a:ext cx="6758352" cy="420504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54CD691-A080-FB8E-47A1-FC9A662BE039}"/>
              </a:ext>
            </a:extLst>
          </p:cNvPr>
          <p:cNvSpPr txBox="1"/>
          <p:nvPr/>
        </p:nvSpPr>
        <p:spPr>
          <a:xfrm>
            <a:off x="2595195" y="5996415"/>
            <a:ext cx="6993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Figure 2.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Proposed methodology for EEG artifact identification.</a:t>
            </a:r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10511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4173E-1288-77CB-254B-021B7D728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2707F1-E457-CE36-C9A0-C0A1660A3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2CD3A6-C9B1-500D-856B-B5F077A96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Related Works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Materials and Methods</a:t>
            </a:r>
          </a:p>
          <a:p>
            <a:r>
              <a:rPr lang="en-US" sz="3200" b="1" noProof="0" dirty="0">
                <a:latin typeface="Arial" panose="020B0604020202020204" pitchFamily="34" charset="0"/>
                <a:cs typeface="Arial" panose="020B0604020202020204" pitchFamily="34" charset="0"/>
              </a:rPr>
              <a:t>Sinkhorn-Based Domain Alignment Process Applied to Deep Learning Models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Experimentation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13110AF-E414-4418-8322-14AD7F36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8077" y="6356350"/>
            <a:ext cx="7447085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BIOSIGNAL 2026, 19TH INTERNATIONAL CONFERENCE ON BIO-INSPIRED SYSTEMS AND SIGNAL PROCESSING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094A462-D639-6554-8E35-630E04859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b="1" smtClean="0">
                <a:solidFill>
                  <a:schemeClr val="tx1"/>
                </a:solidFill>
              </a:rPr>
              <a:t>11</a:t>
            </a:fld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A8155C1-ED88-0F97-068D-E86BE88438A2}"/>
              </a:ext>
            </a:extLst>
          </p:cNvPr>
          <p:cNvSpPr/>
          <p:nvPr/>
        </p:nvSpPr>
        <p:spPr>
          <a:xfrm>
            <a:off x="10703122" y="6667500"/>
            <a:ext cx="1488878" cy="193934"/>
          </a:xfrm>
          <a:prstGeom prst="rect">
            <a:avLst/>
          </a:prstGeom>
          <a:solidFill>
            <a:srgbClr val="2D7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2352A3-E8E5-EDB0-766F-902C6958C0B8}"/>
              </a:ext>
            </a:extLst>
          </p:cNvPr>
          <p:cNvSpPr/>
          <p:nvPr/>
        </p:nvSpPr>
        <p:spPr>
          <a:xfrm>
            <a:off x="8918378" y="6777038"/>
            <a:ext cx="3273622" cy="88900"/>
          </a:xfrm>
          <a:prstGeom prst="rect">
            <a:avLst/>
          </a:prstGeom>
          <a:solidFill>
            <a:srgbClr val="0D8F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C892CFB-B249-9217-1547-884B2E503EBD}"/>
              </a:ext>
            </a:extLst>
          </p:cNvPr>
          <p:cNvSpPr/>
          <p:nvPr/>
        </p:nvSpPr>
        <p:spPr>
          <a:xfrm>
            <a:off x="0" y="-119062"/>
            <a:ext cx="12192000" cy="657225"/>
          </a:xfrm>
          <a:prstGeom prst="rect">
            <a:avLst/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>
                <a:latin typeface="Bahnschrift SemiBold" panose="020B0502040204020203" pitchFamily="34" charset="0"/>
                <a:cs typeface="Arial" panose="020B0604020202020204" pitchFamily="34" charset="0"/>
              </a:rPr>
              <a:t>    BIOSIGNALS </a:t>
            </a:r>
            <a:r>
              <a:rPr lang="es-MX" sz="2800" dirty="0">
                <a:solidFill>
                  <a:srgbClr val="0C3C57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98425229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C7401-AC25-ED5C-A1F1-4C775AC17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DC8C510-33E6-AB81-D7DA-5CFF85254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8077" y="6356350"/>
            <a:ext cx="7447085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BIOSIGNAL 2026, 19TH INTERNATIONAL CONFERENCE ON BIO-INSPIRED SYSTEMS AND SIGNAL PROCESSING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2F16638-A9A0-CB8D-6C18-3576EFE2B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b="1" smtClean="0">
                <a:solidFill>
                  <a:schemeClr val="tx1"/>
                </a:solidFill>
              </a:rPr>
              <a:t>12</a:t>
            </a:fld>
            <a:endParaRPr lang="es-MX" b="1" dirty="0">
              <a:solidFill>
                <a:schemeClr val="tx1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8429A9E-EADE-4891-8C6A-EE836A95E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378" y="1688713"/>
            <a:ext cx="7453244" cy="443706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14E6A97-3E20-C36A-86C8-B78526F8AF31}"/>
              </a:ext>
            </a:extLst>
          </p:cNvPr>
          <p:cNvSpPr/>
          <p:nvPr/>
        </p:nvSpPr>
        <p:spPr>
          <a:xfrm>
            <a:off x="10703122" y="6667500"/>
            <a:ext cx="1488878" cy="193934"/>
          </a:xfrm>
          <a:prstGeom prst="rect">
            <a:avLst/>
          </a:prstGeom>
          <a:solidFill>
            <a:srgbClr val="2D7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3264338-0FEB-5E13-1BD7-755A6CC22700}"/>
              </a:ext>
            </a:extLst>
          </p:cNvPr>
          <p:cNvSpPr/>
          <p:nvPr/>
        </p:nvSpPr>
        <p:spPr>
          <a:xfrm>
            <a:off x="8918378" y="6777038"/>
            <a:ext cx="3273622" cy="88900"/>
          </a:xfrm>
          <a:prstGeom prst="rect">
            <a:avLst/>
          </a:prstGeom>
          <a:solidFill>
            <a:srgbClr val="0D8F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4917A7C-A0A9-0C33-3B97-175DF6B8DDEF}"/>
              </a:ext>
            </a:extLst>
          </p:cNvPr>
          <p:cNvSpPr/>
          <p:nvPr/>
        </p:nvSpPr>
        <p:spPr>
          <a:xfrm>
            <a:off x="0" y="-119062"/>
            <a:ext cx="12192000" cy="657225"/>
          </a:xfrm>
          <a:prstGeom prst="rect">
            <a:avLst/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>
                <a:latin typeface="Bahnschrift SemiBold" panose="020B0502040204020203" pitchFamily="34" charset="0"/>
                <a:cs typeface="Arial" panose="020B0604020202020204" pitchFamily="34" charset="0"/>
              </a:rPr>
              <a:t>    BIOSIGNALS </a:t>
            </a:r>
            <a:r>
              <a:rPr lang="es-MX" sz="2800" dirty="0">
                <a:solidFill>
                  <a:srgbClr val="0C3C57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0D9BBC8-D203-1D3C-5B9A-C33F6F2C5FFB}"/>
              </a:ext>
            </a:extLst>
          </p:cNvPr>
          <p:cNvSpPr txBox="1">
            <a:spLocks/>
          </p:cNvSpPr>
          <p:nvPr/>
        </p:nvSpPr>
        <p:spPr>
          <a:xfrm>
            <a:off x="838200" y="5937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ALGORITHM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Based Domain Alignment Process Applied to Deep Learning Models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20B3057-5932-1D66-5D69-28BD3FAE03D9}"/>
              </a:ext>
            </a:extLst>
          </p:cNvPr>
          <p:cNvSpPr txBox="1"/>
          <p:nvPr/>
        </p:nvSpPr>
        <p:spPr>
          <a:xfrm>
            <a:off x="2599260" y="6125774"/>
            <a:ext cx="6993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Figure 3.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Neural network architecture with domain adaptation (DA-NN).</a:t>
            </a:r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13099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79B30-C296-5E28-A37E-CBE1B8B38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443F2-0236-D33B-46BB-91873F0ED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130089-DC5E-F8BB-111C-61A4FC46F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Related Works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Materials and Methods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Sinkhorn-Based Domain Alignment Process Applied to Deep Learning Models</a:t>
            </a:r>
          </a:p>
          <a:p>
            <a:r>
              <a:rPr lang="en-US" sz="3200" b="1" noProof="0" dirty="0">
                <a:latin typeface="Arial" panose="020B0604020202020204" pitchFamily="34" charset="0"/>
                <a:cs typeface="Arial" panose="020B0604020202020204" pitchFamily="34" charset="0"/>
              </a:rPr>
              <a:t>Experimentation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0C04C4-2425-5042-62CF-5AE159611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8077" y="6356350"/>
            <a:ext cx="7447085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BIOSIGNAL 2026, 19TH INTERNATIONAL CONFERENCE ON BIO-INSPIRED SYSTEMS AND SIGNAL PROCESSING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C5F220C-B22D-BF97-9113-AF0F9685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b="1" smtClean="0">
                <a:solidFill>
                  <a:schemeClr val="tx1"/>
                </a:solidFill>
              </a:rPr>
              <a:t>13</a:t>
            </a:fld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8443A16-62BE-7AA0-0842-CC8F8A9CEC2F}"/>
              </a:ext>
            </a:extLst>
          </p:cNvPr>
          <p:cNvSpPr/>
          <p:nvPr/>
        </p:nvSpPr>
        <p:spPr>
          <a:xfrm>
            <a:off x="10703122" y="6667500"/>
            <a:ext cx="1488878" cy="193934"/>
          </a:xfrm>
          <a:prstGeom prst="rect">
            <a:avLst/>
          </a:prstGeom>
          <a:solidFill>
            <a:srgbClr val="2D7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FEC89F7-644D-EA4B-B644-ED6430F0D627}"/>
              </a:ext>
            </a:extLst>
          </p:cNvPr>
          <p:cNvSpPr/>
          <p:nvPr/>
        </p:nvSpPr>
        <p:spPr>
          <a:xfrm>
            <a:off x="8918378" y="6777038"/>
            <a:ext cx="3273622" cy="88900"/>
          </a:xfrm>
          <a:prstGeom prst="rect">
            <a:avLst/>
          </a:prstGeom>
          <a:solidFill>
            <a:srgbClr val="0D8F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CA64A0F-8515-E6BE-4B81-2B488DD69D1A}"/>
              </a:ext>
            </a:extLst>
          </p:cNvPr>
          <p:cNvSpPr/>
          <p:nvPr/>
        </p:nvSpPr>
        <p:spPr>
          <a:xfrm>
            <a:off x="0" y="-119062"/>
            <a:ext cx="12192000" cy="657225"/>
          </a:xfrm>
          <a:prstGeom prst="rect">
            <a:avLst/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>
                <a:latin typeface="Bahnschrift SemiBold" panose="020B0502040204020203" pitchFamily="34" charset="0"/>
                <a:cs typeface="Arial" panose="020B0604020202020204" pitchFamily="34" charset="0"/>
              </a:rPr>
              <a:t>    BIOSIGNALS </a:t>
            </a:r>
            <a:r>
              <a:rPr lang="es-MX" sz="2800" dirty="0">
                <a:solidFill>
                  <a:srgbClr val="0C3C57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22144319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3134B-5EF8-770A-7011-41420883B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4FBD3EA-4254-228F-2E10-B71D7DFED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8077" y="6356350"/>
            <a:ext cx="7447085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BIOSIGNAL 2026, 19TH INTERNATIONAL CONFERENCE ON BIO-INSPIRED SYSTEMS AND SIGNAL PROCESSING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7D73686-F6C4-103A-D226-05868ACE6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b="1" smtClean="0">
                <a:solidFill>
                  <a:schemeClr val="tx1"/>
                </a:solidFill>
              </a:rPr>
              <a:t>14</a:t>
            </a:fld>
            <a:endParaRPr lang="es-MX" b="1" dirty="0">
              <a:solidFill>
                <a:schemeClr val="tx1"/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E32C1C4-E85F-3E6C-DBFF-EEBB02119252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25" y="1957264"/>
            <a:ext cx="5220000" cy="3600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BF908C6-26E0-547C-791D-51A1B28EA5F0}"/>
              </a:ext>
            </a:extLst>
          </p:cNvPr>
          <p:cNvSpPr/>
          <p:nvPr/>
        </p:nvSpPr>
        <p:spPr>
          <a:xfrm>
            <a:off x="10703122" y="6667500"/>
            <a:ext cx="1488878" cy="193934"/>
          </a:xfrm>
          <a:prstGeom prst="rect">
            <a:avLst/>
          </a:prstGeom>
          <a:solidFill>
            <a:srgbClr val="2D7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87B62F-C126-4C82-B982-105605219551}"/>
              </a:ext>
            </a:extLst>
          </p:cNvPr>
          <p:cNvSpPr/>
          <p:nvPr/>
        </p:nvSpPr>
        <p:spPr>
          <a:xfrm>
            <a:off x="8918378" y="6777038"/>
            <a:ext cx="3273622" cy="88900"/>
          </a:xfrm>
          <a:prstGeom prst="rect">
            <a:avLst/>
          </a:prstGeom>
          <a:solidFill>
            <a:srgbClr val="0D8F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E072BA7-1DA9-F095-B3A1-E9D0AC944C3A}"/>
              </a:ext>
            </a:extLst>
          </p:cNvPr>
          <p:cNvSpPr/>
          <p:nvPr/>
        </p:nvSpPr>
        <p:spPr>
          <a:xfrm>
            <a:off x="0" y="-119062"/>
            <a:ext cx="12192000" cy="657225"/>
          </a:xfrm>
          <a:prstGeom prst="rect">
            <a:avLst/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>
                <a:latin typeface="Bahnschrift SemiBold" panose="020B0502040204020203" pitchFamily="34" charset="0"/>
                <a:cs typeface="Arial" panose="020B0604020202020204" pitchFamily="34" charset="0"/>
              </a:rPr>
              <a:t>    BIOSIGNALS </a:t>
            </a:r>
            <a:r>
              <a:rPr lang="es-MX" sz="2800" dirty="0">
                <a:solidFill>
                  <a:srgbClr val="0C3C57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2026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85BE58C-DDE3-FA95-530C-E420D0F84893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544" y="1957264"/>
            <a:ext cx="5220000" cy="360000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60C6D87C-314E-20AC-51B3-C02F7698733C}"/>
              </a:ext>
            </a:extLst>
          </p:cNvPr>
          <p:cNvSpPr txBox="1"/>
          <p:nvPr/>
        </p:nvSpPr>
        <p:spPr>
          <a:xfrm>
            <a:off x="693126" y="5785314"/>
            <a:ext cx="52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Figure 4.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Training and validation accuracy over epochs</a:t>
            </a:r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3A8E6EC-9A51-2F19-FB7F-C3DED6F655A1}"/>
              </a:ext>
            </a:extLst>
          </p:cNvPr>
          <p:cNvSpPr txBox="1"/>
          <p:nvPr/>
        </p:nvSpPr>
        <p:spPr>
          <a:xfrm>
            <a:off x="6409593" y="5785313"/>
            <a:ext cx="53269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Figure 5. </a:t>
            </a:r>
            <a:r>
              <a:rPr lang="en-US" sz="1200" noProof="0" dirty="0">
                <a:latin typeface="Arial" panose="020B0604020202020204" pitchFamily="34" charset="0"/>
                <a:cs typeface="Arial" panose="020B0604020202020204" pitchFamily="34" charset="0"/>
              </a:rPr>
              <a:t>Domain adaptation distance and divergence metrics over epochs</a:t>
            </a:r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4C63CE8F-89D8-FA08-9E58-EE91E91FBC38}"/>
              </a:ext>
            </a:extLst>
          </p:cNvPr>
          <p:cNvSpPr txBox="1">
            <a:spLocks/>
          </p:cNvSpPr>
          <p:nvPr/>
        </p:nvSpPr>
        <p:spPr>
          <a:xfrm>
            <a:off x="838199" y="538163"/>
            <a:ext cx="106606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METRICS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</a:rPr>
              <a:t>Learning Behavior of the Neural Network over the Epochs</a:t>
            </a:r>
          </a:p>
        </p:txBody>
      </p:sp>
    </p:spTree>
    <p:extLst>
      <p:ext uri="{BB962C8B-B14F-4D97-AF65-F5344CB8AC3E}">
        <p14:creationId xmlns:p14="http://schemas.microsoft.com/office/powerpoint/2010/main" val="166354756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800FC-C504-C65D-5F49-48333F1D9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566CD7BB-F32E-BB31-4676-0CD07F660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0524" y="1774436"/>
            <a:ext cx="5042190" cy="4351338"/>
          </a:xfrm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09498AB-C3C6-05E6-056B-1C31DC62E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8077" y="6356350"/>
            <a:ext cx="7447085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BIOSIGNAL 2026, 19TH INTERNATIONAL CONFERENCE ON BIO-INSPIRED SYSTEMS AND SIGNAL PROCESSING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15BD95C-6BA5-877A-0777-EE840EE07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b="1" smtClean="0">
                <a:solidFill>
                  <a:schemeClr val="tx1"/>
                </a:solidFill>
              </a:rPr>
              <a:t>15</a:t>
            </a:fld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6088B54-F26C-64F9-85DF-26342AA3988A}"/>
              </a:ext>
            </a:extLst>
          </p:cNvPr>
          <p:cNvSpPr/>
          <p:nvPr/>
        </p:nvSpPr>
        <p:spPr>
          <a:xfrm>
            <a:off x="10703122" y="6667500"/>
            <a:ext cx="1488878" cy="193934"/>
          </a:xfrm>
          <a:prstGeom prst="rect">
            <a:avLst/>
          </a:prstGeom>
          <a:solidFill>
            <a:srgbClr val="2D7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101EE50-B7AC-1D04-B6DC-7B5AD29E458B}"/>
              </a:ext>
            </a:extLst>
          </p:cNvPr>
          <p:cNvSpPr/>
          <p:nvPr/>
        </p:nvSpPr>
        <p:spPr>
          <a:xfrm>
            <a:off x="8918378" y="6777038"/>
            <a:ext cx="3273622" cy="88900"/>
          </a:xfrm>
          <a:prstGeom prst="rect">
            <a:avLst/>
          </a:prstGeom>
          <a:solidFill>
            <a:srgbClr val="0D8F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F7177F-6C24-D666-E076-74C5E3ED1CA3}"/>
              </a:ext>
            </a:extLst>
          </p:cNvPr>
          <p:cNvSpPr/>
          <p:nvPr/>
        </p:nvSpPr>
        <p:spPr>
          <a:xfrm>
            <a:off x="0" y="-119062"/>
            <a:ext cx="12192000" cy="657225"/>
          </a:xfrm>
          <a:prstGeom prst="rect">
            <a:avLst/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>
                <a:latin typeface="Bahnschrift SemiBold" panose="020B0502040204020203" pitchFamily="34" charset="0"/>
                <a:cs typeface="Arial" panose="020B0604020202020204" pitchFamily="34" charset="0"/>
              </a:rPr>
              <a:t>    BIOSIGNALS </a:t>
            </a:r>
            <a:r>
              <a:rPr lang="es-MX" sz="2800" dirty="0">
                <a:solidFill>
                  <a:srgbClr val="0C3C57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E823ACC4-266A-6EBD-906B-3C8CE127E2ED}"/>
              </a:ext>
            </a:extLst>
          </p:cNvPr>
          <p:cNvSpPr txBox="1">
            <a:spLocks/>
          </p:cNvSpPr>
          <p:nvPr/>
        </p:nvSpPr>
        <p:spPr>
          <a:xfrm>
            <a:off x="838199" y="538163"/>
            <a:ext cx="106606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ARTIFACT DETECTION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</a:rPr>
              <a:t>Confusion Matrix of the Neural Network Classification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26DBFBC-10D0-7F13-B3F9-59C87A526A6F}"/>
              </a:ext>
            </a:extLst>
          </p:cNvPr>
          <p:cNvSpPr txBox="1"/>
          <p:nvPr/>
        </p:nvSpPr>
        <p:spPr>
          <a:xfrm>
            <a:off x="2599260" y="6125774"/>
            <a:ext cx="6993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Figure 6. 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Confusion matrix — Source and Target </a:t>
            </a:r>
            <a:r>
              <a:rPr lang="fr-FR" sz="1200" dirty="0" err="1">
                <a:latin typeface="Arial" panose="020B0604020202020204" pitchFamily="34" charset="0"/>
                <a:cs typeface="Arial" panose="020B0604020202020204" pitchFamily="34" charset="0"/>
              </a:rPr>
              <a:t>domains</a:t>
            </a:r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511638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22B8D-0DB3-ECA8-1A74-99B65BD0D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57568B2-414E-D0BE-61D4-D5F2D37EE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8077" y="6356350"/>
            <a:ext cx="7447085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BIOSIGNAL 2026, 19TH INTERNATIONAL CONFERENCE ON BIO-INSPIRED SYSTEMS AND SIGNAL PROCESSING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661C85B-5BD2-BC2B-5102-E9D643CDE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b="1" smtClean="0">
                <a:solidFill>
                  <a:schemeClr val="tx1"/>
                </a:solidFill>
              </a:rPr>
              <a:t>16</a:t>
            </a:fld>
            <a:endParaRPr lang="es-MX" b="1" dirty="0">
              <a:solidFill>
                <a:schemeClr val="tx1"/>
              </a:solidFill>
            </a:endParaRPr>
          </a:p>
        </p:txBody>
      </p:sp>
      <p:graphicFrame>
        <p:nvGraphicFramePr>
          <p:cNvPr id="14" name="Marcador de contenido 13">
            <a:extLst>
              <a:ext uri="{FF2B5EF4-FFF2-40B4-BE49-F238E27FC236}">
                <a16:creationId xmlns:a16="http://schemas.microsoft.com/office/drawing/2014/main" id="{2FD83015-7275-1573-5ED1-289EF0AB79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0752040"/>
              </p:ext>
            </p:extLst>
          </p:nvPr>
        </p:nvGraphicFramePr>
        <p:xfrm>
          <a:off x="86456" y="2548255"/>
          <a:ext cx="12019087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7975">
                  <a:extLst>
                    <a:ext uri="{9D8B030D-6E8A-4147-A177-3AD203B41FA5}">
                      <a16:colId xmlns:a16="http://schemas.microsoft.com/office/drawing/2014/main" val="558585826"/>
                    </a:ext>
                  </a:extLst>
                </a:gridCol>
                <a:gridCol w="1288889">
                  <a:extLst>
                    <a:ext uri="{9D8B030D-6E8A-4147-A177-3AD203B41FA5}">
                      <a16:colId xmlns:a16="http://schemas.microsoft.com/office/drawing/2014/main" val="849634274"/>
                    </a:ext>
                  </a:extLst>
                </a:gridCol>
                <a:gridCol w="1288889">
                  <a:extLst>
                    <a:ext uri="{9D8B030D-6E8A-4147-A177-3AD203B41FA5}">
                      <a16:colId xmlns:a16="http://schemas.microsoft.com/office/drawing/2014/main" val="1721881638"/>
                    </a:ext>
                  </a:extLst>
                </a:gridCol>
                <a:gridCol w="1288889">
                  <a:extLst>
                    <a:ext uri="{9D8B030D-6E8A-4147-A177-3AD203B41FA5}">
                      <a16:colId xmlns:a16="http://schemas.microsoft.com/office/drawing/2014/main" val="3412373557"/>
                    </a:ext>
                  </a:extLst>
                </a:gridCol>
                <a:gridCol w="1288889">
                  <a:extLst>
                    <a:ext uri="{9D8B030D-6E8A-4147-A177-3AD203B41FA5}">
                      <a16:colId xmlns:a16="http://schemas.microsoft.com/office/drawing/2014/main" val="585023145"/>
                    </a:ext>
                  </a:extLst>
                </a:gridCol>
                <a:gridCol w="1288889">
                  <a:extLst>
                    <a:ext uri="{9D8B030D-6E8A-4147-A177-3AD203B41FA5}">
                      <a16:colId xmlns:a16="http://schemas.microsoft.com/office/drawing/2014/main" val="952375622"/>
                    </a:ext>
                  </a:extLst>
                </a:gridCol>
                <a:gridCol w="1288889">
                  <a:extLst>
                    <a:ext uri="{9D8B030D-6E8A-4147-A177-3AD203B41FA5}">
                      <a16:colId xmlns:a16="http://schemas.microsoft.com/office/drawing/2014/main" val="425873487"/>
                    </a:ext>
                  </a:extLst>
                </a:gridCol>
                <a:gridCol w="1288889">
                  <a:extLst>
                    <a:ext uri="{9D8B030D-6E8A-4147-A177-3AD203B41FA5}">
                      <a16:colId xmlns:a16="http://schemas.microsoft.com/office/drawing/2014/main" val="1334509857"/>
                    </a:ext>
                  </a:extLst>
                </a:gridCol>
                <a:gridCol w="1288889">
                  <a:extLst>
                    <a:ext uri="{9D8B030D-6E8A-4147-A177-3AD203B41FA5}">
                      <a16:colId xmlns:a16="http://schemas.microsoft.com/office/drawing/2014/main" val="16992157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1" i="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TUH-EEG</a:t>
                      </a:r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b="1" i="0" kern="1200" noProof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EEGdenoiseNet</a:t>
                      </a:r>
                      <a:r>
                        <a:rPr lang="en-US" sz="1600" b="1" i="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Custom</a:t>
                      </a:r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32991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Precision</a:t>
                      </a:r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Sensitivity</a:t>
                      </a:r>
                      <a:endParaRPr lang="en-US" sz="16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F1-score</a:t>
                      </a:r>
                      <a:endParaRPr lang="en-US" sz="16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Specificity</a:t>
                      </a:r>
                      <a:endParaRPr lang="en-US" sz="16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Precision</a:t>
                      </a:r>
                      <a:r>
                        <a:rPr lang="en-US" sz="16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Sensitivity</a:t>
                      </a:r>
                      <a:endParaRPr lang="en-US" sz="16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F1-score</a:t>
                      </a:r>
                      <a:endParaRPr lang="en-US" sz="16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Specificity</a:t>
                      </a:r>
                      <a:endParaRPr lang="en-US" sz="1600" noProof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215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0.9896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0.9566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0.9728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0.9972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0.9325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1.0000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0.9651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0.9795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4688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Chewing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0.8878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0.8440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0.8654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0.9709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0.8999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0.9071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0.9035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0.9724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5488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Electrode 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1.0000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0.8485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0.9180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1.0000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0.7879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0.7879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0.7879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0.9983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9583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Eye movement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0.9449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0.9255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0.9351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0.9841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0.9727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0.9222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0.9468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0.9923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929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Muscle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0.8116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0.8814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0.8450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0.9451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0.9769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0.9349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0.9554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0.9941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3890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Shiver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0.8350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0.8755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0.8548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0.9772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0.8563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0.8797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0.8678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0.9805</a:t>
                      </a:r>
                      <a:endParaRPr lang="en-US" sz="1600" b="0" i="0" kern="120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5216364"/>
                  </a:ext>
                </a:extLst>
              </a:tr>
            </a:tbl>
          </a:graphicData>
        </a:graphic>
      </p:graphicFrame>
      <p:sp>
        <p:nvSpPr>
          <p:cNvPr id="15" name="Rectángulo 14">
            <a:extLst>
              <a:ext uri="{FF2B5EF4-FFF2-40B4-BE49-F238E27FC236}">
                <a16:creationId xmlns:a16="http://schemas.microsoft.com/office/drawing/2014/main" id="{8E398C0B-0C4E-90B4-07DA-FA2E27806F99}"/>
              </a:ext>
            </a:extLst>
          </p:cNvPr>
          <p:cNvSpPr/>
          <p:nvPr/>
        </p:nvSpPr>
        <p:spPr>
          <a:xfrm>
            <a:off x="10703122" y="6667500"/>
            <a:ext cx="1488878" cy="193934"/>
          </a:xfrm>
          <a:prstGeom prst="rect">
            <a:avLst/>
          </a:prstGeom>
          <a:solidFill>
            <a:srgbClr val="2D7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8749048-DCE8-305E-6A6C-45043BABFAED}"/>
              </a:ext>
            </a:extLst>
          </p:cNvPr>
          <p:cNvSpPr/>
          <p:nvPr/>
        </p:nvSpPr>
        <p:spPr>
          <a:xfrm>
            <a:off x="8918378" y="6777038"/>
            <a:ext cx="3273622" cy="88900"/>
          </a:xfrm>
          <a:prstGeom prst="rect">
            <a:avLst/>
          </a:prstGeom>
          <a:solidFill>
            <a:srgbClr val="0D8F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FB944B4-A331-1D29-BF15-9E1DFD2D3984}"/>
              </a:ext>
            </a:extLst>
          </p:cNvPr>
          <p:cNvSpPr/>
          <p:nvPr/>
        </p:nvSpPr>
        <p:spPr>
          <a:xfrm>
            <a:off x="0" y="-119062"/>
            <a:ext cx="12192000" cy="657225"/>
          </a:xfrm>
          <a:prstGeom prst="rect">
            <a:avLst/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>
                <a:latin typeface="Bahnschrift SemiBold" panose="020B0502040204020203" pitchFamily="34" charset="0"/>
                <a:cs typeface="Arial" panose="020B0604020202020204" pitchFamily="34" charset="0"/>
              </a:rPr>
              <a:t>    BIOSIGNALS </a:t>
            </a:r>
            <a:r>
              <a:rPr lang="es-MX" sz="2800" dirty="0">
                <a:solidFill>
                  <a:srgbClr val="0C3C57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4439A52-4CD2-1E82-F812-505A8021C39F}"/>
              </a:ext>
            </a:extLst>
          </p:cNvPr>
          <p:cNvSpPr txBox="1"/>
          <p:nvPr/>
        </p:nvSpPr>
        <p:spPr>
          <a:xfrm>
            <a:off x="910004" y="1985655"/>
            <a:ext cx="100232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I.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classification performance metrics per class between TUH-EEG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EEGdenoiseNet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 </a:t>
            </a: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C9DE7446-0825-FC27-883D-E7A90E15D655}"/>
              </a:ext>
            </a:extLst>
          </p:cNvPr>
          <p:cNvSpPr txBox="1">
            <a:spLocks/>
          </p:cNvSpPr>
          <p:nvPr/>
        </p:nvSpPr>
        <p:spPr>
          <a:xfrm>
            <a:off x="838199" y="538163"/>
            <a:ext cx="106606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METRICS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</a:rPr>
              <a:t>Comparative Analysis of Metrics Between Source and Target Domains</a:t>
            </a:r>
          </a:p>
        </p:txBody>
      </p:sp>
    </p:spTree>
    <p:extLst>
      <p:ext uri="{BB962C8B-B14F-4D97-AF65-F5344CB8AC3E}">
        <p14:creationId xmlns:p14="http://schemas.microsoft.com/office/powerpoint/2010/main" val="486462191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10A03-FF91-A427-BC32-82FD2A604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FA6E298-AE37-0A7E-3E0C-DF7527ECE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8077" y="6356350"/>
            <a:ext cx="7447085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BIOSIGNAL 2026, 19TH INTERNATIONAL CONFERENCE ON BIO-INSPIRED SYSTEMS AND SIGNAL PROCESSING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01872F-C78A-F255-0AE3-DD85F1455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b="1" smtClean="0">
                <a:solidFill>
                  <a:schemeClr val="tx1"/>
                </a:solidFill>
              </a:rPr>
              <a:t>17</a:t>
            </a:fld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3CFE758-9326-458A-AAB3-AA57782777E3}"/>
              </a:ext>
            </a:extLst>
          </p:cNvPr>
          <p:cNvSpPr/>
          <p:nvPr/>
        </p:nvSpPr>
        <p:spPr>
          <a:xfrm>
            <a:off x="10703122" y="6667500"/>
            <a:ext cx="1488878" cy="193934"/>
          </a:xfrm>
          <a:prstGeom prst="rect">
            <a:avLst/>
          </a:prstGeom>
          <a:solidFill>
            <a:srgbClr val="2D7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0D0E2AD-93BC-81FC-7E88-6A6EEB3FC968}"/>
              </a:ext>
            </a:extLst>
          </p:cNvPr>
          <p:cNvSpPr/>
          <p:nvPr/>
        </p:nvSpPr>
        <p:spPr>
          <a:xfrm>
            <a:off x="8918378" y="6777038"/>
            <a:ext cx="3273622" cy="88900"/>
          </a:xfrm>
          <a:prstGeom prst="rect">
            <a:avLst/>
          </a:prstGeom>
          <a:solidFill>
            <a:srgbClr val="0D8F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390864E-9430-D98E-FF07-02A0072A8258}"/>
              </a:ext>
            </a:extLst>
          </p:cNvPr>
          <p:cNvSpPr/>
          <p:nvPr/>
        </p:nvSpPr>
        <p:spPr>
          <a:xfrm>
            <a:off x="0" y="-119062"/>
            <a:ext cx="12192000" cy="657225"/>
          </a:xfrm>
          <a:prstGeom prst="rect">
            <a:avLst/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>
                <a:latin typeface="Bahnschrift SemiBold" panose="020B0502040204020203" pitchFamily="34" charset="0"/>
                <a:cs typeface="Arial" panose="020B0604020202020204" pitchFamily="34" charset="0"/>
              </a:rPr>
              <a:t>    BIOSIGNALS </a:t>
            </a:r>
            <a:r>
              <a:rPr lang="es-MX" sz="2800" dirty="0">
                <a:solidFill>
                  <a:srgbClr val="0C3C57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5591302-7C5E-4506-3CA1-E8E12F87AF46}"/>
              </a:ext>
            </a:extLst>
          </p:cNvPr>
          <p:cNvSpPr txBox="1"/>
          <p:nvPr/>
        </p:nvSpPr>
        <p:spPr>
          <a:xfrm>
            <a:off x="838199" y="2601496"/>
            <a:ext cx="10515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Table II.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Comparison of Artifact Classification Models with the State of the Art 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5271C059-469A-A1A2-646A-59DA06A5BA2B}"/>
              </a:ext>
            </a:extLst>
          </p:cNvPr>
          <p:cNvSpPr txBox="1">
            <a:spLocks/>
          </p:cNvSpPr>
          <p:nvPr/>
        </p:nvSpPr>
        <p:spPr>
          <a:xfrm>
            <a:off x="838199" y="538163"/>
            <a:ext cx="106606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METRICS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100" b="1" dirty="0">
                <a:latin typeface="Arial" panose="020B0604020202020204" pitchFamily="34" charset="0"/>
                <a:cs typeface="Arial" panose="020B0604020202020204" pitchFamily="34" charset="0"/>
              </a:rPr>
              <a:t>Comparative Metric Analysis Across State-of-the-Art Studies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892E94B3-915B-73F8-06EF-7784E20D70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8117190"/>
              </p:ext>
            </p:extLst>
          </p:nvPr>
        </p:nvGraphicFramePr>
        <p:xfrm>
          <a:off x="838203" y="3419475"/>
          <a:ext cx="10515597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18650384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8507035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674899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</a:t>
                      </a:r>
                      <a:endParaRPr lang="es-MX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  <a:r>
                        <a:rPr lang="es-MX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  <a:endParaRPr lang="es-MX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</a:t>
                      </a:r>
                      <a:endParaRPr lang="es-MX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9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(Kim and Keene, 2019)</a:t>
                      </a:r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600" b="0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Baseline</a:t>
                      </a:r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EEG</a:t>
                      </a:r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67.59%</a:t>
                      </a:r>
                      <a:endParaRPr lang="es-MX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67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s-MX" sz="1600" b="0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Peh</a:t>
                      </a:r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et al., 2022)</a:t>
                      </a:r>
                      <a:endParaRPr lang="es-MX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600" b="0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Baseline</a:t>
                      </a:r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EEG</a:t>
                      </a:r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0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statistics</a:t>
                      </a:r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79.22%</a:t>
                      </a:r>
                      <a:endParaRPr lang="es-MX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654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s-MX" sz="1600" b="0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Maiwald</a:t>
                      </a:r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et al., 2023)</a:t>
                      </a:r>
                      <a:endParaRPr lang="es-MX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600" b="0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Spectrogram</a:t>
                      </a:r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6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88.30%</a:t>
                      </a:r>
                      <a:endParaRPr lang="es-MX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640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DA-NN </a:t>
                      </a:r>
                      <a:r>
                        <a:rPr lang="es-MX" sz="1600" b="1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model</a:t>
                      </a:r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6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STFT </a:t>
                      </a:r>
                      <a:r>
                        <a:rPr lang="es-MX" sz="1600" b="1" i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magnitude</a:t>
                      </a:r>
                      <a:endParaRPr lang="es-MX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600" b="1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91.59%</a:t>
                      </a:r>
                      <a:r>
                        <a:rPr lang="es-MX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06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8668239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513CA-49B7-BB4B-CFC2-BA3E47517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DC3C0-6F0C-3954-B809-C7E4B528E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A4D9AE-767B-5345-7694-7A1288DD7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Related Works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Materials and Methods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Sinkhorn-Based Domain Alignment Process Applied to Deep Learning Models</a:t>
            </a:r>
          </a:p>
          <a:p>
            <a:r>
              <a:rPr lang="en-US" noProof="0" dirty="0">
                <a:latin typeface="Arial" panose="020B0604020202020204" pitchFamily="34" charset="0"/>
                <a:cs typeface="Arial" panose="020B0604020202020204" pitchFamily="34" charset="0"/>
              </a:rPr>
              <a:t>Experimentation</a:t>
            </a:r>
          </a:p>
          <a:p>
            <a:r>
              <a:rPr lang="en-US" sz="3200" b="1" noProof="0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3CCE1F6-9C06-C446-7FA0-D71BEBF6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8077" y="6356350"/>
            <a:ext cx="7447085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BIOSIGNAL 2026, 19TH INTERNATIONAL CONFERENCE ON BIO-INSPIRED SYSTEMS AND SIGNAL PROCESSING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2606E2A-382F-E71A-785C-6029DC0AD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b="1" smtClean="0">
                <a:solidFill>
                  <a:schemeClr val="tx1"/>
                </a:solidFill>
              </a:rPr>
              <a:t>18</a:t>
            </a:fld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8E2DD9A-2908-9C9A-3676-9FCCF2D0F5CD}"/>
              </a:ext>
            </a:extLst>
          </p:cNvPr>
          <p:cNvSpPr/>
          <p:nvPr/>
        </p:nvSpPr>
        <p:spPr>
          <a:xfrm>
            <a:off x="10703122" y="6667500"/>
            <a:ext cx="1488878" cy="193934"/>
          </a:xfrm>
          <a:prstGeom prst="rect">
            <a:avLst/>
          </a:prstGeom>
          <a:solidFill>
            <a:srgbClr val="2D7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D28D846-8F65-E819-34C3-86B02753AB5C}"/>
              </a:ext>
            </a:extLst>
          </p:cNvPr>
          <p:cNvSpPr/>
          <p:nvPr/>
        </p:nvSpPr>
        <p:spPr>
          <a:xfrm>
            <a:off x="8918378" y="6777038"/>
            <a:ext cx="3273622" cy="88900"/>
          </a:xfrm>
          <a:prstGeom prst="rect">
            <a:avLst/>
          </a:prstGeom>
          <a:solidFill>
            <a:srgbClr val="0D8F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A6CAFD0-E503-3032-F0A6-E9F25A70CB08}"/>
              </a:ext>
            </a:extLst>
          </p:cNvPr>
          <p:cNvSpPr/>
          <p:nvPr/>
        </p:nvSpPr>
        <p:spPr>
          <a:xfrm>
            <a:off x="0" y="-119062"/>
            <a:ext cx="12192000" cy="657225"/>
          </a:xfrm>
          <a:prstGeom prst="rect">
            <a:avLst/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>
                <a:latin typeface="Bahnschrift SemiBold" panose="020B0502040204020203" pitchFamily="34" charset="0"/>
                <a:cs typeface="Arial" panose="020B0604020202020204" pitchFamily="34" charset="0"/>
              </a:rPr>
              <a:t>    BIOSIGNALS </a:t>
            </a:r>
            <a:r>
              <a:rPr lang="es-MX" sz="2800" dirty="0">
                <a:solidFill>
                  <a:srgbClr val="0C3C57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042915201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80FB5-58B7-3BA7-EB12-1B3E7A62B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D1B210A1-A154-A69A-0C56-6C1D644B67DC}"/>
              </a:ext>
            </a:extLst>
          </p:cNvPr>
          <p:cNvSpPr/>
          <p:nvPr/>
        </p:nvSpPr>
        <p:spPr>
          <a:xfrm>
            <a:off x="500325" y="2013978"/>
            <a:ext cx="5416898" cy="4286810"/>
          </a:xfrm>
          <a:prstGeom prst="roundRect">
            <a:avLst>
              <a:gd name="adj" fmla="val 2171"/>
            </a:avLst>
          </a:prstGeom>
          <a:solidFill>
            <a:srgbClr val="005F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5B957E-9F88-A4A1-4311-2980DEBD9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9113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Summary &amp; Outlook</a:t>
            </a:r>
            <a:br>
              <a:rPr lang="en-US" sz="2400" b="1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noProof="0" dirty="0">
                <a:latin typeface="Arial" panose="020B0604020202020204" pitchFamily="34" charset="0"/>
                <a:cs typeface="Arial" panose="020B0604020202020204" pitchFamily="34" charset="0"/>
              </a:rPr>
              <a:t>Conclusions and Future Work</a:t>
            </a:r>
            <a:endParaRPr lang="en-US" sz="24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C7B0CE-95B2-1183-0985-E51D59670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8077" y="6356350"/>
            <a:ext cx="7447085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BIOSIGNAL 2026, 19TH INTERNATIONAL CONFERENCE ON BIO-INSPIRED SYSTEMS AND SIGNAL PROCESSING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10038C-EC09-9913-6389-0A406F20A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b="1" smtClean="0">
                <a:solidFill>
                  <a:schemeClr val="tx1"/>
                </a:solidFill>
              </a:rPr>
              <a:t>19</a:t>
            </a:fld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B211258-D24D-5372-8E79-360E038BB60C}"/>
              </a:ext>
            </a:extLst>
          </p:cNvPr>
          <p:cNvSpPr/>
          <p:nvPr/>
        </p:nvSpPr>
        <p:spPr>
          <a:xfrm>
            <a:off x="10703122" y="6667500"/>
            <a:ext cx="1488878" cy="193934"/>
          </a:xfrm>
          <a:prstGeom prst="rect">
            <a:avLst/>
          </a:prstGeom>
          <a:solidFill>
            <a:srgbClr val="2D7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4A14AFE-257A-0896-F578-8909E6BCDB07}"/>
              </a:ext>
            </a:extLst>
          </p:cNvPr>
          <p:cNvSpPr/>
          <p:nvPr/>
        </p:nvSpPr>
        <p:spPr>
          <a:xfrm>
            <a:off x="8918378" y="6777038"/>
            <a:ext cx="3273622" cy="88900"/>
          </a:xfrm>
          <a:prstGeom prst="rect">
            <a:avLst/>
          </a:prstGeom>
          <a:solidFill>
            <a:srgbClr val="0D8F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A42C74B-D3BB-0972-EDA1-DC8E0006BF62}"/>
              </a:ext>
            </a:extLst>
          </p:cNvPr>
          <p:cNvSpPr/>
          <p:nvPr/>
        </p:nvSpPr>
        <p:spPr>
          <a:xfrm>
            <a:off x="0" y="-119062"/>
            <a:ext cx="12192000" cy="657225"/>
          </a:xfrm>
          <a:prstGeom prst="rect">
            <a:avLst/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>
                <a:latin typeface="Bahnschrift SemiBold" panose="020B0502040204020203" pitchFamily="34" charset="0"/>
                <a:cs typeface="Arial" panose="020B0604020202020204" pitchFamily="34" charset="0"/>
              </a:rPr>
              <a:t>    BIOSIGNALS </a:t>
            </a:r>
            <a:r>
              <a:rPr lang="es-MX" sz="2800" dirty="0">
                <a:solidFill>
                  <a:srgbClr val="0C3C57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2026</a:t>
            </a:r>
          </a:p>
        </p:txBody>
      </p:sp>
      <p:grpSp>
        <p:nvGrpSpPr>
          <p:cNvPr id="11" name="Google Shape;9786;p76">
            <a:extLst>
              <a:ext uri="{FF2B5EF4-FFF2-40B4-BE49-F238E27FC236}">
                <a16:creationId xmlns:a16="http://schemas.microsoft.com/office/drawing/2014/main" id="{EB671BCC-B5DC-2F20-A034-FF49FCB558E3}"/>
              </a:ext>
            </a:extLst>
          </p:cNvPr>
          <p:cNvGrpSpPr/>
          <p:nvPr/>
        </p:nvGrpSpPr>
        <p:grpSpPr>
          <a:xfrm>
            <a:off x="679403" y="2254768"/>
            <a:ext cx="351315" cy="348513"/>
            <a:chOff x="6167350" y="2672800"/>
            <a:chExt cx="297750" cy="295375"/>
          </a:xfrm>
          <a:solidFill>
            <a:schemeClr val="bg1">
              <a:lumMod val="10000"/>
            </a:schemeClr>
          </a:solidFill>
        </p:grpSpPr>
        <p:sp>
          <p:nvSpPr>
            <p:cNvPr id="12" name="Google Shape;9787;p76">
              <a:extLst>
                <a:ext uri="{FF2B5EF4-FFF2-40B4-BE49-F238E27FC236}">
                  <a16:creationId xmlns:a16="http://schemas.microsoft.com/office/drawing/2014/main" id="{780C1F1C-977E-CB54-3111-B88F0D59149C}"/>
                </a:ext>
              </a:extLst>
            </p:cNvPr>
            <p:cNvSpPr/>
            <p:nvPr/>
          </p:nvSpPr>
          <p:spPr>
            <a:xfrm>
              <a:off x="6167350" y="2672800"/>
              <a:ext cx="226850" cy="295375"/>
            </a:xfrm>
            <a:custGeom>
              <a:avLst/>
              <a:gdLst/>
              <a:ahLst/>
              <a:cxnLst/>
              <a:rect l="l" t="t" r="r" b="b"/>
              <a:pathLst>
                <a:path w="9074" h="11815" extrusionOk="0">
                  <a:moveTo>
                    <a:pt x="4537" y="725"/>
                  </a:moveTo>
                  <a:cubicBezTo>
                    <a:pt x="4758" y="725"/>
                    <a:pt x="4915" y="882"/>
                    <a:pt x="4915" y="1071"/>
                  </a:cubicBezTo>
                  <a:cubicBezTo>
                    <a:pt x="4915" y="1260"/>
                    <a:pt x="5073" y="1418"/>
                    <a:pt x="5262" y="1418"/>
                  </a:cubicBezTo>
                  <a:lnTo>
                    <a:pt x="5955" y="1418"/>
                  </a:lnTo>
                  <a:cubicBezTo>
                    <a:pt x="6175" y="1418"/>
                    <a:pt x="6333" y="1575"/>
                    <a:pt x="6333" y="1796"/>
                  </a:cubicBezTo>
                  <a:cubicBezTo>
                    <a:pt x="6333" y="1985"/>
                    <a:pt x="6175" y="2142"/>
                    <a:pt x="5955" y="2142"/>
                  </a:cubicBezTo>
                  <a:lnTo>
                    <a:pt x="3119" y="2142"/>
                  </a:lnTo>
                  <a:cubicBezTo>
                    <a:pt x="2930" y="2142"/>
                    <a:pt x="2773" y="1985"/>
                    <a:pt x="2773" y="1796"/>
                  </a:cubicBezTo>
                  <a:cubicBezTo>
                    <a:pt x="2773" y="1575"/>
                    <a:pt x="2930" y="1418"/>
                    <a:pt x="3151" y="1418"/>
                  </a:cubicBezTo>
                  <a:lnTo>
                    <a:pt x="3844" y="1418"/>
                  </a:lnTo>
                  <a:cubicBezTo>
                    <a:pt x="4033" y="1418"/>
                    <a:pt x="4191" y="1260"/>
                    <a:pt x="4191" y="1071"/>
                  </a:cubicBezTo>
                  <a:cubicBezTo>
                    <a:pt x="4191" y="882"/>
                    <a:pt x="4348" y="725"/>
                    <a:pt x="4537" y="725"/>
                  </a:cubicBezTo>
                  <a:close/>
                  <a:moveTo>
                    <a:pt x="8066" y="2111"/>
                  </a:moveTo>
                  <a:cubicBezTo>
                    <a:pt x="8255" y="2111"/>
                    <a:pt x="8412" y="2268"/>
                    <a:pt x="8412" y="2458"/>
                  </a:cubicBezTo>
                  <a:lnTo>
                    <a:pt x="8412" y="10806"/>
                  </a:lnTo>
                  <a:lnTo>
                    <a:pt x="8381" y="10806"/>
                  </a:lnTo>
                  <a:cubicBezTo>
                    <a:pt x="8381" y="10995"/>
                    <a:pt x="8223" y="11153"/>
                    <a:pt x="8034" y="11153"/>
                  </a:cubicBezTo>
                  <a:lnTo>
                    <a:pt x="1040" y="11153"/>
                  </a:lnTo>
                  <a:cubicBezTo>
                    <a:pt x="851" y="11153"/>
                    <a:pt x="693" y="10995"/>
                    <a:pt x="693" y="10806"/>
                  </a:cubicBezTo>
                  <a:lnTo>
                    <a:pt x="693" y="2458"/>
                  </a:lnTo>
                  <a:cubicBezTo>
                    <a:pt x="693" y="2268"/>
                    <a:pt x="851" y="2111"/>
                    <a:pt x="1040" y="2111"/>
                  </a:cubicBezTo>
                  <a:lnTo>
                    <a:pt x="2143" y="2111"/>
                  </a:lnTo>
                  <a:cubicBezTo>
                    <a:pt x="2300" y="2489"/>
                    <a:pt x="2647" y="2804"/>
                    <a:pt x="3119" y="2804"/>
                  </a:cubicBezTo>
                  <a:lnTo>
                    <a:pt x="5986" y="2804"/>
                  </a:lnTo>
                  <a:cubicBezTo>
                    <a:pt x="6396" y="2804"/>
                    <a:pt x="6805" y="2521"/>
                    <a:pt x="6963" y="2111"/>
                  </a:cubicBezTo>
                  <a:close/>
                  <a:moveTo>
                    <a:pt x="4506" y="0"/>
                  </a:moveTo>
                  <a:cubicBezTo>
                    <a:pt x="4096" y="0"/>
                    <a:pt x="3686" y="284"/>
                    <a:pt x="3529" y="725"/>
                  </a:cubicBezTo>
                  <a:lnTo>
                    <a:pt x="3088" y="725"/>
                  </a:lnTo>
                  <a:cubicBezTo>
                    <a:pt x="2678" y="725"/>
                    <a:pt x="2269" y="1008"/>
                    <a:pt x="2111" y="1418"/>
                  </a:cubicBezTo>
                  <a:lnTo>
                    <a:pt x="1009" y="1418"/>
                  </a:lnTo>
                  <a:cubicBezTo>
                    <a:pt x="410" y="1418"/>
                    <a:pt x="0" y="1890"/>
                    <a:pt x="0" y="2458"/>
                  </a:cubicBezTo>
                  <a:lnTo>
                    <a:pt x="0" y="10806"/>
                  </a:lnTo>
                  <a:cubicBezTo>
                    <a:pt x="0" y="11405"/>
                    <a:pt x="473" y="11814"/>
                    <a:pt x="1009" y="11814"/>
                  </a:cubicBezTo>
                  <a:lnTo>
                    <a:pt x="7971" y="11814"/>
                  </a:lnTo>
                  <a:cubicBezTo>
                    <a:pt x="8570" y="11814"/>
                    <a:pt x="9011" y="11342"/>
                    <a:pt x="9011" y="10806"/>
                  </a:cubicBezTo>
                  <a:lnTo>
                    <a:pt x="9011" y="2458"/>
                  </a:lnTo>
                  <a:cubicBezTo>
                    <a:pt x="9074" y="1859"/>
                    <a:pt x="8601" y="1418"/>
                    <a:pt x="8034" y="1418"/>
                  </a:cubicBezTo>
                  <a:lnTo>
                    <a:pt x="6931" y="1418"/>
                  </a:lnTo>
                  <a:cubicBezTo>
                    <a:pt x="6774" y="1040"/>
                    <a:pt x="6396" y="725"/>
                    <a:pt x="5923" y="725"/>
                  </a:cubicBezTo>
                  <a:lnTo>
                    <a:pt x="5545" y="725"/>
                  </a:lnTo>
                  <a:cubicBezTo>
                    <a:pt x="5514" y="567"/>
                    <a:pt x="5388" y="441"/>
                    <a:pt x="5262" y="315"/>
                  </a:cubicBezTo>
                  <a:cubicBezTo>
                    <a:pt x="5073" y="126"/>
                    <a:pt x="4789" y="0"/>
                    <a:pt x="45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3" name="Google Shape;9788;p76">
              <a:extLst>
                <a:ext uri="{FF2B5EF4-FFF2-40B4-BE49-F238E27FC236}">
                  <a16:creationId xmlns:a16="http://schemas.microsoft.com/office/drawing/2014/main" id="{909E0965-1B17-AE40-8FB6-6805EBCABE76}"/>
                </a:ext>
              </a:extLst>
            </p:cNvPr>
            <p:cNvSpPr/>
            <p:nvPr/>
          </p:nvSpPr>
          <p:spPr>
            <a:xfrm>
              <a:off x="6201225" y="2762575"/>
              <a:ext cx="52775" cy="49650"/>
            </a:xfrm>
            <a:custGeom>
              <a:avLst/>
              <a:gdLst/>
              <a:ahLst/>
              <a:cxnLst/>
              <a:rect l="l" t="t" r="r" b="b"/>
              <a:pathLst>
                <a:path w="2111" h="1986" extrusionOk="0">
                  <a:moveTo>
                    <a:pt x="406" y="1"/>
                  </a:moveTo>
                  <a:cubicBezTo>
                    <a:pt x="315" y="1"/>
                    <a:pt x="221" y="32"/>
                    <a:pt x="158" y="95"/>
                  </a:cubicBezTo>
                  <a:cubicBezTo>
                    <a:pt x="63" y="190"/>
                    <a:pt x="63" y="442"/>
                    <a:pt x="158" y="568"/>
                  </a:cubicBezTo>
                  <a:lnTo>
                    <a:pt x="599" y="977"/>
                  </a:lnTo>
                  <a:lnTo>
                    <a:pt x="158" y="1418"/>
                  </a:lnTo>
                  <a:cubicBezTo>
                    <a:pt x="0" y="1544"/>
                    <a:pt x="0" y="1733"/>
                    <a:pt x="158" y="1891"/>
                  </a:cubicBezTo>
                  <a:cubicBezTo>
                    <a:pt x="221" y="1954"/>
                    <a:pt x="315" y="1985"/>
                    <a:pt x="406" y="1985"/>
                  </a:cubicBezTo>
                  <a:cubicBezTo>
                    <a:pt x="496" y="1985"/>
                    <a:pt x="583" y="1954"/>
                    <a:pt x="630" y="1891"/>
                  </a:cubicBezTo>
                  <a:lnTo>
                    <a:pt x="1071" y="1450"/>
                  </a:lnTo>
                  <a:lnTo>
                    <a:pt x="1512" y="1891"/>
                  </a:lnTo>
                  <a:cubicBezTo>
                    <a:pt x="1575" y="1954"/>
                    <a:pt x="1662" y="1985"/>
                    <a:pt x="1749" y="1985"/>
                  </a:cubicBezTo>
                  <a:cubicBezTo>
                    <a:pt x="1835" y="1985"/>
                    <a:pt x="1922" y="1954"/>
                    <a:pt x="1985" y="1891"/>
                  </a:cubicBezTo>
                  <a:cubicBezTo>
                    <a:pt x="2111" y="1765"/>
                    <a:pt x="2111" y="1544"/>
                    <a:pt x="1985" y="1418"/>
                  </a:cubicBezTo>
                  <a:lnTo>
                    <a:pt x="1544" y="977"/>
                  </a:lnTo>
                  <a:lnTo>
                    <a:pt x="1985" y="568"/>
                  </a:lnTo>
                  <a:cubicBezTo>
                    <a:pt x="2111" y="442"/>
                    <a:pt x="2111" y="190"/>
                    <a:pt x="1985" y="95"/>
                  </a:cubicBezTo>
                  <a:cubicBezTo>
                    <a:pt x="1922" y="32"/>
                    <a:pt x="1835" y="1"/>
                    <a:pt x="1749" y="1"/>
                  </a:cubicBezTo>
                  <a:cubicBezTo>
                    <a:pt x="1662" y="1"/>
                    <a:pt x="1575" y="32"/>
                    <a:pt x="1512" y="95"/>
                  </a:cubicBezTo>
                  <a:lnTo>
                    <a:pt x="1071" y="505"/>
                  </a:lnTo>
                  <a:lnTo>
                    <a:pt x="630" y="95"/>
                  </a:lnTo>
                  <a:cubicBezTo>
                    <a:pt x="583" y="32"/>
                    <a:pt x="496" y="1"/>
                    <a:pt x="4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4" name="Google Shape;9789;p76">
              <a:extLst>
                <a:ext uri="{FF2B5EF4-FFF2-40B4-BE49-F238E27FC236}">
                  <a16:creationId xmlns:a16="http://schemas.microsoft.com/office/drawing/2014/main" id="{3B606BA5-6E34-3A78-455C-3717E1D25202}"/>
                </a:ext>
              </a:extLst>
            </p:cNvPr>
            <p:cNvSpPr/>
            <p:nvPr/>
          </p:nvSpPr>
          <p:spPr>
            <a:xfrm>
              <a:off x="6308325" y="2882300"/>
              <a:ext cx="51225" cy="49650"/>
            </a:xfrm>
            <a:custGeom>
              <a:avLst/>
              <a:gdLst/>
              <a:ahLst/>
              <a:cxnLst/>
              <a:rect l="l" t="t" r="r" b="b"/>
              <a:pathLst>
                <a:path w="2049" h="1986" extrusionOk="0">
                  <a:moveTo>
                    <a:pt x="363" y="0"/>
                  </a:moveTo>
                  <a:cubicBezTo>
                    <a:pt x="276" y="0"/>
                    <a:pt x="190" y="32"/>
                    <a:pt x="127" y="95"/>
                  </a:cubicBezTo>
                  <a:cubicBezTo>
                    <a:pt x="1" y="221"/>
                    <a:pt x="1" y="441"/>
                    <a:pt x="127" y="567"/>
                  </a:cubicBezTo>
                  <a:lnTo>
                    <a:pt x="568" y="1009"/>
                  </a:lnTo>
                  <a:lnTo>
                    <a:pt x="127" y="1450"/>
                  </a:lnTo>
                  <a:cubicBezTo>
                    <a:pt x="1" y="1544"/>
                    <a:pt x="1" y="1796"/>
                    <a:pt x="127" y="1891"/>
                  </a:cubicBezTo>
                  <a:cubicBezTo>
                    <a:pt x="190" y="1954"/>
                    <a:pt x="276" y="1985"/>
                    <a:pt x="363" y="1985"/>
                  </a:cubicBezTo>
                  <a:cubicBezTo>
                    <a:pt x="450" y="1985"/>
                    <a:pt x="536" y="1954"/>
                    <a:pt x="599" y="1891"/>
                  </a:cubicBezTo>
                  <a:lnTo>
                    <a:pt x="1040" y="1481"/>
                  </a:lnTo>
                  <a:lnTo>
                    <a:pt x="1481" y="1891"/>
                  </a:lnTo>
                  <a:cubicBezTo>
                    <a:pt x="1529" y="1954"/>
                    <a:pt x="1615" y="1985"/>
                    <a:pt x="1706" y="1985"/>
                  </a:cubicBezTo>
                  <a:cubicBezTo>
                    <a:pt x="1797" y="1985"/>
                    <a:pt x="1891" y="1954"/>
                    <a:pt x="1954" y="1891"/>
                  </a:cubicBezTo>
                  <a:cubicBezTo>
                    <a:pt x="2049" y="1796"/>
                    <a:pt x="2049" y="1544"/>
                    <a:pt x="1954" y="1450"/>
                  </a:cubicBezTo>
                  <a:lnTo>
                    <a:pt x="1513" y="1009"/>
                  </a:lnTo>
                  <a:lnTo>
                    <a:pt x="1954" y="567"/>
                  </a:lnTo>
                  <a:cubicBezTo>
                    <a:pt x="2049" y="441"/>
                    <a:pt x="2049" y="252"/>
                    <a:pt x="1954" y="95"/>
                  </a:cubicBezTo>
                  <a:cubicBezTo>
                    <a:pt x="1891" y="32"/>
                    <a:pt x="1804" y="0"/>
                    <a:pt x="1718" y="0"/>
                  </a:cubicBezTo>
                  <a:cubicBezTo>
                    <a:pt x="1631" y="0"/>
                    <a:pt x="1544" y="32"/>
                    <a:pt x="1481" y="95"/>
                  </a:cubicBezTo>
                  <a:lnTo>
                    <a:pt x="1040" y="536"/>
                  </a:lnTo>
                  <a:lnTo>
                    <a:pt x="599" y="95"/>
                  </a:lnTo>
                  <a:cubicBezTo>
                    <a:pt x="536" y="32"/>
                    <a:pt x="450" y="0"/>
                    <a:pt x="3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5" name="Google Shape;9790;p76">
              <a:extLst>
                <a:ext uri="{FF2B5EF4-FFF2-40B4-BE49-F238E27FC236}">
                  <a16:creationId xmlns:a16="http://schemas.microsoft.com/office/drawing/2014/main" id="{61A77C62-E29F-5043-C8C8-70BEC09D0F6C}"/>
                </a:ext>
              </a:extLst>
            </p:cNvPr>
            <p:cNvSpPr/>
            <p:nvPr/>
          </p:nvSpPr>
          <p:spPr>
            <a:xfrm>
              <a:off x="6200425" y="2759425"/>
              <a:ext cx="156775" cy="174875"/>
            </a:xfrm>
            <a:custGeom>
              <a:avLst/>
              <a:gdLst/>
              <a:ahLst/>
              <a:cxnLst/>
              <a:rect l="l" t="t" r="r" b="b"/>
              <a:pathLst>
                <a:path w="6271" h="6995" extrusionOk="0">
                  <a:moveTo>
                    <a:pt x="1103" y="5609"/>
                  </a:moveTo>
                  <a:cubicBezTo>
                    <a:pt x="1292" y="5609"/>
                    <a:pt x="1450" y="5766"/>
                    <a:pt x="1450" y="5955"/>
                  </a:cubicBezTo>
                  <a:cubicBezTo>
                    <a:pt x="1450" y="6144"/>
                    <a:pt x="1292" y="6302"/>
                    <a:pt x="1103" y="6302"/>
                  </a:cubicBezTo>
                  <a:cubicBezTo>
                    <a:pt x="914" y="6302"/>
                    <a:pt x="757" y="6144"/>
                    <a:pt x="757" y="5955"/>
                  </a:cubicBezTo>
                  <a:cubicBezTo>
                    <a:pt x="757" y="5766"/>
                    <a:pt x="914" y="5609"/>
                    <a:pt x="1103" y="5609"/>
                  </a:cubicBezTo>
                  <a:close/>
                  <a:moveTo>
                    <a:pt x="5325" y="1"/>
                  </a:moveTo>
                  <a:cubicBezTo>
                    <a:pt x="5230" y="1"/>
                    <a:pt x="5136" y="64"/>
                    <a:pt x="5073" y="127"/>
                  </a:cubicBezTo>
                  <a:lnTo>
                    <a:pt x="4380" y="851"/>
                  </a:lnTo>
                  <a:cubicBezTo>
                    <a:pt x="4254" y="946"/>
                    <a:pt x="4254" y="1198"/>
                    <a:pt x="4380" y="1324"/>
                  </a:cubicBezTo>
                  <a:cubicBezTo>
                    <a:pt x="4443" y="1371"/>
                    <a:pt x="4529" y="1395"/>
                    <a:pt x="4616" y="1395"/>
                  </a:cubicBezTo>
                  <a:cubicBezTo>
                    <a:pt x="4703" y="1395"/>
                    <a:pt x="4789" y="1371"/>
                    <a:pt x="4852" y="1324"/>
                  </a:cubicBezTo>
                  <a:lnTo>
                    <a:pt x="4978" y="1198"/>
                  </a:lnTo>
                  <a:lnTo>
                    <a:pt x="4978" y="2458"/>
                  </a:lnTo>
                  <a:cubicBezTo>
                    <a:pt x="4978" y="2647"/>
                    <a:pt x="4821" y="2805"/>
                    <a:pt x="4600" y="2805"/>
                  </a:cubicBezTo>
                  <a:lnTo>
                    <a:pt x="1765" y="2805"/>
                  </a:lnTo>
                  <a:cubicBezTo>
                    <a:pt x="1513" y="2805"/>
                    <a:pt x="1229" y="2931"/>
                    <a:pt x="1040" y="3120"/>
                  </a:cubicBezTo>
                  <a:cubicBezTo>
                    <a:pt x="820" y="3309"/>
                    <a:pt x="725" y="3592"/>
                    <a:pt x="725" y="3876"/>
                  </a:cubicBezTo>
                  <a:lnTo>
                    <a:pt x="725" y="4978"/>
                  </a:lnTo>
                  <a:cubicBezTo>
                    <a:pt x="316" y="5136"/>
                    <a:pt x="1" y="5482"/>
                    <a:pt x="1" y="5955"/>
                  </a:cubicBezTo>
                  <a:cubicBezTo>
                    <a:pt x="1" y="6554"/>
                    <a:pt x="473" y="6995"/>
                    <a:pt x="1040" y="6995"/>
                  </a:cubicBezTo>
                  <a:cubicBezTo>
                    <a:pt x="1607" y="6995"/>
                    <a:pt x="2048" y="6522"/>
                    <a:pt x="2048" y="5955"/>
                  </a:cubicBezTo>
                  <a:cubicBezTo>
                    <a:pt x="2048" y="5514"/>
                    <a:pt x="1765" y="5136"/>
                    <a:pt x="1355" y="4978"/>
                  </a:cubicBezTo>
                  <a:lnTo>
                    <a:pt x="1355" y="3876"/>
                  </a:lnTo>
                  <a:cubicBezTo>
                    <a:pt x="1355" y="3687"/>
                    <a:pt x="1513" y="3529"/>
                    <a:pt x="1702" y="3529"/>
                  </a:cubicBezTo>
                  <a:lnTo>
                    <a:pt x="4537" y="3529"/>
                  </a:lnTo>
                  <a:cubicBezTo>
                    <a:pt x="5136" y="3529"/>
                    <a:pt x="5545" y="3057"/>
                    <a:pt x="5545" y="2490"/>
                  </a:cubicBezTo>
                  <a:lnTo>
                    <a:pt x="5545" y="1229"/>
                  </a:lnTo>
                  <a:lnTo>
                    <a:pt x="5671" y="1355"/>
                  </a:lnTo>
                  <a:cubicBezTo>
                    <a:pt x="5734" y="1418"/>
                    <a:pt x="5821" y="1450"/>
                    <a:pt x="5908" y="1450"/>
                  </a:cubicBezTo>
                  <a:cubicBezTo>
                    <a:pt x="5994" y="1450"/>
                    <a:pt x="6081" y="1418"/>
                    <a:pt x="6144" y="1355"/>
                  </a:cubicBezTo>
                  <a:cubicBezTo>
                    <a:pt x="6270" y="1229"/>
                    <a:pt x="6270" y="1009"/>
                    <a:pt x="6144" y="883"/>
                  </a:cubicBezTo>
                  <a:lnTo>
                    <a:pt x="5545" y="127"/>
                  </a:lnTo>
                  <a:cubicBezTo>
                    <a:pt x="5482" y="64"/>
                    <a:pt x="5388" y="1"/>
                    <a:pt x="53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16" name="Google Shape;9791;p76">
              <a:extLst>
                <a:ext uri="{FF2B5EF4-FFF2-40B4-BE49-F238E27FC236}">
                  <a16:creationId xmlns:a16="http://schemas.microsoft.com/office/drawing/2014/main" id="{533A2C62-B934-EE84-5A72-76D9BD4BEA0E}"/>
                </a:ext>
              </a:extLst>
            </p:cNvPr>
            <p:cNvSpPr/>
            <p:nvPr/>
          </p:nvSpPr>
          <p:spPr>
            <a:xfrm>
              <a:off x="6412300" y="2742900"/>
              <a:ext cx="52800" cy="208725"/>
            </a:xfrm>
            <a:custGeom>
              <a:avLst/>
              <a:gdLst/>
              <a:ahLst/>
              <a:cxnLst/>
              <a:rect l="l" t="t" r="r" b="b"/>
              <a:pathLst>
                <a:path w="2112" h="8349" extrusionOk="0">
                  <a:moveTo>
                    <a:pt x="1009" y="662"/>
                  </a:moveTo>
                  <a:cubicBezTo>
                    <a:pt x="1229" y="662"/>
                    <a:pt x="1387" y="819"/>
                    <a:pt x="1387" y="1040"/>
                  </a:cubicBezTo>
                  <a:lnTo>
                    <a:pt x="1387" y="1386"/>
                  </a:lnTo>
                  <a:lnTo>
                    <a:pt x="662" y="1386"/>
                  </a:lnTo>
                  <a:lnTo>
                    <a:pt x="662" y="1040"/>
                  </a:ln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387" y="2048"/>
                  </a:moveTo>
                  <a:lnTo>
                    <a:pt x="1387" y="6017"/>
                  </a:lnTo>
                  <a:cubicBezTo>
                    <a:pt x="1261" y="5986"/>
                    <a:pt x="1142" y="5970"/>
                    <a:pt x="1024" y="5970"/>
                  </a:cubicBezTo>
                  <a:cubicBezTo>
                    <a:pt x="906" y="5970"/>
                    <a:pt x="788" y="5986"/>
                    <a:pt x="662" y="6017"/>
                  </a:cubicBezTo>
                  <a:lnTo>
                    <a:pt x="662" y="2048"/>
                  </a:lnTo>
                  <a:close/>
                  <a:moveTo>
                    <a:pt x="1009" y="6711"/>
                  </a:moveTo>
                  <a:cubicBezTo>
                    <a:pt x="1103" y="6711"/>
                    <a:pt x="1166" y="6711"/>
                    <a:pt x="1261" y="6742"/>
                  </a:cubicBezTo>
                  <a:lnTo>
                    <a:pt x="1009" y="7246"/>
                  </a:lnTo>
                  <a:lnTo>
                    <a:pt x="788" y="6742"/>
                  </a:lnTo>
                  <a:cubicBezTo>
                    <a:pt x="851" y="6711"/>
                    <a:pt x="946" y="6711"/>
                    <a:pt x="1009" y="6711"/>
                  </a:cubicBezTo>
                  <a:close/>
                  <a:moveTo>
                    <a:pt x="1009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6616"/>
                  </a:lnTo>
                  <a:cubicBezTo>
                    <a:pt x="0" y="6648"/>
                    <a:pt x="0" y="6742"/>
                    <a:pt x="32" y="6774"/>
                  </a:cubicBezTo>
                  <a:lnTo>
                    <a:pt x="757" y="8160"/>
                  </a:lnTo>
                  <a:cubicBezTo>
                    <a:pt x="788" y="8286"/>
                    <a:pt x="946" y="8349"/>
                    <a:pt x="1040" y="8349"/>
                  </a:cubicBezTo>
                  <a:cubicBezTo>
                    <a:pt x="1166" y="8349"/>
                    <a:pt x="1292" y="8286"/>
                    <a:pt x="1355" y="8160"/>
                  </a:cubicBezTo>
                  <a:lnTo>
                    <a:pt x="2080" y="6774"/>
                  </a:lnTo>
                  <a:cubicBezTo>
                    <a:pt x="2111" y="6742"/>
                    <a:pt x="2111" y="6648"/>
                    <a:pt x="2111" y="6616"/>
                  </a:cubicBezTo>
                  <a:lnTo>
                    <a:pt x="2111" y="1040"/>
                  </a:ln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A5A36AE-40AD-E261-2CC7-8E2516E1E877}"/>
              </a:ext>
            </a:extLst>
          </p:cNvPr>
          <p:cNvSpPr txBox="1"/>
          <p:nvPr/>
        </p:nvSpPr>
        <p:spPr>
          <a:xfrm>
            <a:off x="1290652" y="2282821"/>
            <a:ext cx="2542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</a:t>
            </a:r>
            <a:r>
              <a:rPr lang="es-MX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  <a:endParaRPr lang="es-MX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90B4C27B-F5B6-8D24-07B9-57F5F81210BD}"/>
              </a:ext>
            </a:extLst>
          </p:cNvPr>
          <p:cNvSpPr/>
          <p:nvPr/>
        </p:nvSpPr>
        <p:spPr>
          <a:xfrm>
            <a:off x="6520570" y="2013977"/>
            <a:ext cx="5416898" cy="4286810"/>
          </a:xfrm>
          <a:prstGeom prst="roundRect">
            <a:avLst>
              <a:gd name="adj" fmla="val 2171"/>
            </a:avLst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66013F7C-E8D6-F744-C79D-004BC3B4E364}"/>
              </a:ext>
            </a:extLst>
          </p:cNvPr>
          <p:cNvSpPr/>
          <p:nvPr/>
        </p:nvSpPr>
        <p:spPr>
          <a:xfrm>
            <a:off x="6520570" y="2113764"/>
            <a:ext cx="5416898" cy="4225123"/>
          </a:xfrm>
          <a:prstGeom prst="roundRect">
            <a:avLst>
              <a:gd name="adj" fmla="val 21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s-MX" sz="1600" dirty="0">
              <a:solidFill>
                <a:srgbClr val="0C3C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6EAEF2C9-BC4F-285D-8400-4511FDA07AE3}"/>
              </a:ext>
            </a:extLst>
          </p:cNvPr>
          <p:cNvSpPr txBox="1"/>
          <p:nvPr/>
        </p:nvSpPr>
        <p:spPr>
          <a:xfrm>
            <a:off x="7267778" y="2282821"/>
            <a:ext cx="224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latin typeface="Arial" panose="020B0604020202020204" pitchFamily="34" charset="0"/>
                <a:cs typeface="Arial" panose="020B0604020202020204" pitchFamily="34" charset="0"/>
              </a:rPr>
              <a:t>Future directions</a:t>
            </a:r>
          </a:p>
        </p:txBody>
      </p:sp>
      <p:grpSp>
        <p:nvGrpSpPr>
          <p:cNvPr id="52" name="Google Shape;9868;p76">
            <a:extLst>
              <a:ext uri="{FF2B5EF4-FFF2-40B4-BE49-F238E27FC236}">
                <a16:creationId xmlns:a16="http://schemas.microsoft.com/office/drawing/2014/main" id="{51E969FD-FE28-F01B-81D1-552F63E6EC5E}"/>
              </a:ext>
            </a:extLst>
          </p:cNvPr>
          <p:cNvGrpSpPr/>
          <p:nvPr/>
        </p:nvGrpSpPr>
        <p:grpSpPr>
          <a:xfrm>
            <a:off x="6748087" y="2282821"/>
            <a:ext cx="306686" cy="349457"/>
            <a:chOff x="5794025" y="2673575"/>
            <a:chExt cx="259925" cy="296175"/>
          </a:xfrm>
          <a:solidFill>
            <a:schemeClr val="bg1">
              <a:lumMod val="10000"/>
            </a:schemeClr>
          </a:solidFill>
        </p:grpSpPr>
        <p:sp>
          <p:nvSpPr>
            <p:cNvPr id="53" name="Google Shape;9869;p76">
              <a:extLst>
                <a:ext uri="{FF2B5EF4-FFF2-40B4-BE49-F238E27FC236}">
                  <a16:creationId xmlns:a16="http://schemas.microsoft.com/office/drawing/2014/main" id="{8C6048CB-B6FC-2BD8-4B97-22957F7B4402}"/>
                </a:ext>
              </a:extLst>
            </p:cNvPr>
            <p:cNvSpPr/>
            <p:nvPr/>
          </p:nvSpPr>
          <p:spPr>
            <a:xfrm>
              <a:off x="5794025" y="2673575"/>
              <a:ext cx="259925" cy="296175"/>
            </a:xfrm>
            <a:custGeom>
              <a:avLst/>
              <a:gdLst/>
              <a:ahLst/>
              <a:cxnLst/>
              <a:rect l="l" t="t" r="r" b="b"/>
              <a:pathLst>
                <a:path w="10397" h="11847" extrusionOk="0">
                  <a:moveTo>
                    <a:pt x="5860" y="694"/>
                  </a:moveTo>
                  <a:cubicBezTo>
                    <a:pt x="7089" y="694"/>
                    <a:pt x="8097" y="1639"/>
                    <a:pt x="8254" y="2805"/>
                  </a:cubicBezTo>
                  <a:cubicBezTo>
                    <a:pt x="8160" y="2773"/>
                    <a:pt x="8065" y="2773"/>
                    <a:pt x="7939" y="2773"/>
                  </a:cubicBezTo>
                  <a:lnTo>
                    <a:pt x="7561" y="2773"/>
                  </a:lnTo>
                  <a:cubicBezTo>
                    <a:pt x="7404" y="1985"/>
                    <a:pt x="6679" y="1387"/>
                    <a:pt x="5860" y="1387"/>
                  </a:cubicBezTo>
                  <a:lnTo>
                    <a:pt x="4474" y="1387"/>
                  </a:lnTo>
                  <a:cubicBezTo>
                    <a:pt x="3655" y="1387"/>
                    <a:pt x="2930" y="1985"/>
                    <a:pt x="2804" y="2773"/>
                  </a:cubicBezTo>
                  <a:lnTo>
                    <a:pt x="2394" y="2773"/>
                  </a:lnTo>
                  <a:cubicBezTo>
                    <a:pt x="2268" y="2773"/>
                    <a:pt x="2142" y="2773"/>
                    <a:pt x="2079" y="2805"/>
                  </a:cubicBezTo>
                  <a:cubicBezTo>
                    <a:pt x="2237" y="1639"/>
                    <a:pt x="3277" y="694"/>
                    <a:pt x="4474" y="694"/>
                  </a:cubicBezTo>
                  <a:close/>
                  <a:moveTo>
                    <a:pt x="6206" y="2143"/>
                  </a:moveTo>
                  <a:cubicBezTo>
                    <a:pt x="6616" y="2300"/>
                    <a:pt x="6931" y="2647"/>
                    <a:pt x="6931" y="3120"/>
                  </a:cubicBezTo>
                  <a:lnTo>
                    <a:pt x="6931" y="3403"/>
                  </a:lnTo>
                  <a:cubicBezTo>
                    <a:pt x="6522" y="3246"/>
                    <a:pt x="6206" y="2899"/>
                    <a:pt x="6206" y="2427"/>
                  </a:cubicBezTo>
                  <a:lnTo>
                    <a:pt x="6206" y="2143"/>
                  </a:lnTo>
                  <a:close/>
                  <a:moveTo>
                    <a:pt x="5513" y="2080"/>
                  </a:moveTo>
                  <a:lnTo>
                    <a:pt x="5513" y="2427"/>
                  </a:lnTo>
                  <a:cubicBezTo>
                    <a:pt x="5513" y="3025"/>
                    <a:pt x="5041" y="3435"/>
                    <a:pt x="4474" y="3435"/>
                  </a:cubicBezTo>
                  <a:lnTo>
                    <a:pt x="3466" y="3435"/>
                  </a:lnTo>
                  <a:lnTo>
                    <a:pt x="3466" y="3088"/>
                  </a:lnTo>
                  <a:cubicBezTo>
                    <a:pt x="3466" y="2490"/>
                    <a:pt x="3938" y="2080"/>
                    <a:pt x="4474" y="2080"/>
                  </a:cubicBezTo>
                  <a:close/>
                  <a:moveTo>
                    <a:pt x="2741" y="3435"/>
                  </a:moveTo>
                  <a:lnTo>
                    <a:pt x="2741" y="5451"/>
                  </a:lnTo>
                  <a:cubicBezTo>
                    <a:pt x="2363" y="5293"/>
                    <a:pt x="2048" y="4947"/>
                    <a:pt x="2048" y="4474"/>
                  </a:cubicBezTo>
                  <a:lnTo>
                    <a:pt x="2048" y="3813"/>
                  </a:lnTo>
                  <a:cubicBezTo>
                    <a:pt x="2048" y="3592"/>
                    <a:pt x="2205" y="3435"/>
                    <a:pt x="2394" y="3435"/>
                  </a:cubicBezTo>
                  <a:close/>
                  <a:moveTo>
                    <a:pt x="7939" y="3498"/>
                  </a:moveTo>
                  <a:cubicBezTo>
                    <a:pt x="8160" y="3498"/>
                    <a:pt x="8317" y="3655"/>
                    <a:pt x="8317" y="3844"/>
                  </a:cubicBezTo>
                  <a:lnTo>
                    <a:pt x="8317" y="4506"/>
                  </a:lnTo>
                  <a:cubicBezTo>
                    <a:pt x="8317" y="4947"/>
                    <a:pt x="8034" y="5325"/>
                    <a:pt x="7593" y="5482"/>
                  </a:cubicBezTo>
                  <a:lnTo>
                    <a:pt x="7593" y="3498"/>
                  </a:lnTo>
                  <a:close/>
                  <a:moveTo>
                    <a:pt x="5891" y="3435"/>
                  </a:moveTo>
                  <a:cubicBezTo>
                    <a:pt x="6143" y="3750"/>
                    <a:pt x="6522" y="4033"/>
                    <a:pt x="6931" y="4128"/>
                  </a:cubicBezTo>
                  <a:lnTo>
                    <a:pt x="6931" y="5892"/>
                  </a:lnTo>
                  <a:cubicBezTo>
                    <a:pt x="6931" y="6491"/>
                    <a:pt x="6459" y="6900"/>
                    <a:pt x="5891" y="6900"/>
                  </a:cubicBezTo>
                  <a:lnTo>
                    <a:pt x="4505" y="6900"/>
                  </a:lnTo>
                  <a:cubicBezTo>
                    <a:pt x="3938" y="6900"/>
                    <a:pt x="3497" y="6428"/>
                    <a:pt x="3497" y="5892"/>
                  </a:cubicBezTo>
                  <a:lnTo>
                    <a:pt x="3497" y="4159"/>
                  </a:lnTo>
                  <a:lnTo>
                    <a:pt x="4505" y="4159"/>
                  </a:lnTo>
                  <a:cubicBezTo>
                    <a:pt x="5072" y="4159"/>
                    <a:pt x="5576" y="3876"/>
                    <a:pt x="5891" y="3435"/>
                  </a:cubicBezTo>
                  <a:close/>
                  <a:moveTo>
                    <a:pt x="6238" y="7593"/>
                  </a:moveTo>
                  <a:cubicBezTo>
                    <a:pt x="6333" y="7782"/>
                    <a:pt x="6459" y="7971"/>
                    <a:pt x="6616" y="8097"/>
                  </a:cubicBezTo>
                  <a:lnTo>
                    <a:pt x="5198" y="9547"/>
                  </a:lnTo>
                  <a:lnTo>
                    <a:pt x="3718" y="8097"/>
                  </a:lnTo>
                  <a:cubicBezTo>
                    <a:pt x="3875" y="7971"/>
                    <a:pt x="4033" y="7782"/>
                    <a:pt x="4096" y="7593"/>
                  </a:cubicBezTo>
                  <a:cubicBezTo>
                    <a:pt x="4190" y="7625"/>
                    <a:pt x="4379" y="7625"/>
                    <a:pt x="4474" y="7625"/>
                  </a:cubicBezTo>
                  <a:lnTo>
                    <a:pt x="5860" y="7625"/>
                  </a:lnTo>
                  <a:cubicBezTo>
                    <a:pt x="5986" y="7625"/>
                    <a:pt x="6143" y="7625"/>
                    <a:pt x="6238" y="7593"/>
                  </a:cubicBezTo>
                  <a:close/>
                  <a:moveTo>
                    <a:pt x="2961" y="8318"/>
                  </a:moveTo>
                  <a:lnTo>
                    <a:pt x="4852" y="10177"/>
                  </a:lnTo>
                  <a:lnTo>
                    <a:pt x="4852" y="11122"/>
                  </a:lnTo>
                  <a:lnTo>
                    <a:pt x="662" y="11122"/>
                  </a:lnTo>
                  <a:lnTo>
                    <a:pt x="662" y="9358"/>
                  </a:lnTo>
                  <a:cubicBezTo>
                    <a:pt x="662" y="8759"/>
                    <a:pt x="1134" y="8318"/>
                    <a:pt x="1701" y="8318"/>
                  </a:cubicBezTo>
                  <a:close/>
                  <a:moveTo>
                    <a:pt x="8664" y="8318"/>
                  </a:moveTo>
                  <a:cubicBezTo>
                    <a:pt x="9262" y="8318"/>
                    <a:pt x="9672" y="8790"/>
                    <a:pt x="9672" y="9358"/>
                  </a:cubicBezTo>
                  <a:lnTo>
                    <a:pt x="9672" y="11122"/>
                  </a:lnTo>
                  <a:lnTo>
                    <a:pt x="5513" y="11122"/>
                  </a:lnTo>
                  <a:lnTo>
                    <a:pt x="5513" y="10177"/>
                  </a:lnTo>
                  <a:lnTo>
                    <a:pt x="7404" y="8318"/>
                  </a:lnTo>
                  <a:close/>
                  <a:moveTo>
                    <a:pt x="4537" y="1"/>
                  </a:moveTo>
                  <a:cubicBezTo>
                    <a:pt x="2804" y="1"/>
                    <a:pt x="1418" y="1418"/>
                    <a:pt x="1418" y="3120"/>
                  </a:cubicBezTo>
                  <a:lnTo>
                    <a:pt x="1418" y="4506"/>
                  </a:lnTo>
                  <a:cubicBezTo>
                    <a:pt x="1418" y="5356"/>
                    <a:pt x="2048" y="6050"/>
                    <a:pt x="2835" y="6207"/>
                  </a:cubicBezTo>
                  <a:cubicBezTo>
                    <a:pt x="2898" y="6648"/>
                    <a:pt x="3151" y="7026"/>
                    <a:pt x="3497" y="7278"/>
                  </a:cubicBezTo>
                  <a:cubicBezTo>
                    <a:pt x="3466" y="7467"/>
                    <a:pt x="3308" y="7625"/>
                    <a:pt x="3119" y="7625"/>
                  </a:cubicBezTo>
                  <a:lnTo>
                    <a:pt x="1733" y="7625"/>
                  </a:lnTo>
                  <a:cubicBezTo>
                    <a:pt x="788" y="7625"/>
                    <a:pt x="0" y="8412"/>
                    <a:pt x="0" y="9358"/>
                  </a:cubicBezTo>
                  <a:lnTo>
                    <a:pt x="0" y="11468"/>
                  </a:lnTo>
                  <a:cubicBezTo>
                    <a:pt x="0" y="11689"/>
                    <a:pt x="158" y="11846"/>
                    <a:pt x="347" y="11846"/>
                  </a:cubicBezTo>
                  <a:lnTo>
                    <a:pt x="10050" y="11846"/>
                  </a:lnTo>
                  <a:cubicBezTo>
                    <a:pt x="10239" y="11846"/>
                    <a:pt x="10397" y="11689"/>
                    <a:pt x="10397" y="11468"/>
                  </a:cubicBezTo>
                  <a:lnTo>
                    <a:pt x="10397" y="9358"/>
                  </a:lnTo>
                  <a:cubicBezTo>
                    <a:pt x="10397" y="8412"/>
                    <a:pt x="9609" y="7625"/>
                    <a:pt x="8664" y="7625"/>
                  </a:cubicBezTo>
                  <a:lnTo>
                    <a:pt x="7278" y="7625"/>
                  </a:lnTo>
                  <a:cubicBezTo>
                    <a:pt x="7089" y="7625"/>
                    <a:pt x="6931" y="7467"/>
                    <a:pt x="6931" y="7278"/>
                  </a:cubicBezTo>
                  <a:cubicBezTo>
                    <a:pt x="7278" y="7026"/>
                    <a:pt x="7530" y="6648"/>
                    <a:pt x="7593" y="6207"/>
                  </a:cubicBezTo>
                  <a:cubicBezTo>
                    <a:pt x="8380" y="6050"/>
                    <a:pt x="9010" y="5325"/>
                    <a:pt x="9010" y="4506"/>
                  </a:cubicBezTo>
                  <a:lnTo>
                    <a:pt x="9010" y="3120"/>
                  </a:lnTo>
                  <a:cubicBezTo>
                    <a:pt x="9010" y="1387"/>
                    <a:pt x="7593" y="1"/>
                    <a:pt x="58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870;p76">
              <a:extLst>
                <a:ext uri="{FF2B5EF4-FFF2-40B4-BE49-F238E27FC236}">
                  <a16:creationId xmlns:a16="http://schemas.microsoft.com/office/drawing/2014/main" id="{7DD45E31-D8A8-DCBF-B4C7-1D2DC122EB27}"/>
                </a:ext>
              </a:extLst>
            </p:cNvPr>
            <p:cNvSpPr/>
            <p:nvPr/>
          </p:nvSpPr>
          <p:spPr>
            <a:xfrm>
              <a:off x="5967300" y="2915375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40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B35E7F6-3F88-F8CF-A5F4-32ECF72EF28F}"/>
              </a:ext>
            </a:extLst>
          </p:cNvPr>
          <p:cNvSpPr txBox="1"/>
          <p:nvPr/>
        </p:nvSpPr>
        <p:spPr>
          <a:xfrm>
            <a:off x="668879" y="2751940"/>
            <a:ext cx="503732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Bridged</a:t>
            </a:r>
            <a:r>
              <a:rPr lang="es-MX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MX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  <a:r>
              <a:rPr lang="es-MX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Gap: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DA-NN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effectively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aligns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real and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synthetic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EEG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distributions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Sinkhorn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Optimal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reducing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discrepancy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24%.</a:t>
            </a:r>
          </a:p>
          <a:p>
            <a:endParaRPr lang="es-MX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Superior Performance: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Achieved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91.59%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outperforming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CNN-LSTM and Transformers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maintaining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specificity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MX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Practical</a:t>
            </a:r>
            <a:r>
              <a:rPr lang="es-MX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Robustness</a:t>
            </a:r>
            <a:r>
              <a:rPr lang="es-MX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Eliminated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extensive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labeled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target data,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offering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scalable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varying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recording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environments</a:t>
            </a:r>
            <a:r>
              <a:rPr lang="es-MX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031EB2A9-FB46-B626-8ACB-7D727D5738A0}"/>
              </a:ext>
            </a:extLst>
          </p:cNvPr>
          <p:cNvSpPr txBox="1"/>
          <p:nvPr/>
        </p:nvSpPr>
        <p:spPr>
          <a:xfrm>
            <a:off x="6707549" y="2751940"/>
            <a:ext cx="50829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Fully Unsupervised Learning: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Extend the architecture to leverage completely unlabeled real-world recordings, removing dependencies on synthetic priors.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MX" sz="1600" b="0" i="0" dirty="0">
              <a:solidFill>
                <a:srgbClr val="47556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Multi-Channel Integration: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Expand from single-channel processing to spatial-temporal modeling across full electrode montages for better artifact localization.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Real-Time Clinical Deployment: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Optimize the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ResNet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backbone for edge devices to enable live artifact removal during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Real-Time </a:t>
            </a:r>
            <a:r>
              <a:rPr lang="es-MX" sz="1600" dirty="0" err="1">
                <a:latin typeface="Arial" panose="020B0604020202020204" pitchFamily="34" charset="0"/>
                <a:cs typeface="Arial" panose="020B0604020202020204" pitchFamily="34" charset="0"/>
              </a:rPr>
              <a:t>Clinical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latin typeface="Arial" panose="020B0604020202020204" pitchFamily="34" charset="0"/>
                <a:cs typeface="Arial" panose="020B0604020202020204" pitchFamily="34" charset="0"/>
              </a:rPr>
              <a:t>Deployment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monitoring and BCI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077674085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810E3-5526-F241-8DEF-4D5A0ADE0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622BEE-D5F0-7C1D-C0B8-1FD70250B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1470" y="2337421"/>
            <a:ext cx="9144000" cy="1625607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THANK YOU FOR YOUR ATTENTION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DA-NN: A </a:t>
            </a:r>
            <a:r>
              <a:rPr lang="en-US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ResNet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-Based Architecture with Domain Adaptation for Automatic EEG Artifact Identification</a:t>
            </a:r>
            <a:endParaRPr lang="es-MX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1A99B9-C332-25A3-8181-39A76CAC3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94935" y="4265194"/>
            <a:ext cx="2431228" cy="1183106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s-MX" sz="1200" b="1" dirty="0">
                <a:latin typeface="Arial" panose="020B0604020202020204" pitchFamily="34" charset="0"/>
                <a:cs typeface="Arial" panose="020B0604020202020204" pitchFamily="34" charset="0"/>
              </a:rPr>
              <a:t>INFOTEC</a:t>
            </a:r>
          </a:p>
          <a:p>
            <a:pPr algn="l">
              <a:lnSpc>
                <a:spcPct val="110000"/>
              </a:lnSpc>
            </a:pP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Centro de Investigación e Innovación en Tecnologías de la Información y Comunicación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8319897-4CD5-EABB-D06C-323F25063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" y="-28364"/>
            <a:ext cx="12192000" cy="2084832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3653FA5-7337-6277-4180-3893DC18B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79" y="5877870"/>
            <a:ext cx="2510120" cy="723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1309B32-130E-C44A-025B-293E134969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046" y="5884300"/>
            <a:ext cx="1968500" cy="5461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1C83AB6-6ACE-0E43-E112-D175C5B852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893" y="5775138"/>
            <a:ext cx="952500" cy="889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3805990-6552-0874-73AF-63F16C645F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739" y="5827110"/>
            <a:ext cx="1701800" cy="825500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9070D68D-16B4-AC3D-6DD1-3F4E712CD933}"/>
              </a:ext>
            </a:extLst>
          </p:cNvPr>
          <p:cNvSpPr/>
          <p:nvPr/>
        </p:nvSpPr>
        <p:spPr>
          <a:xfrm>
            <a:off x="1708639" y="2227454"/>
            <a:ext cx="74441" cy="3065566"/>
          </a:xfrm>
          <a:prstGeom prst="rect">
            <a:avLst/>
          </a:prstGeom>
          <a:solidFill>
            <a:srgbClr val="008E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7574D0AC-4CE9-0DCC-0115-1F0A41B09F2C}"/>
              </a:ext>
            </a:extLst>
          </p:cNvPr>
          <p:cNvSpPr txBox="1">
            <a:spLocks/>
          </p:cNvSpPr>
          <p:nvPr/>
        </p:nvSpPr>
        <p:spPr>
          <a:xfrm>
            <a:off x="2850931" y="4265196"/>
            <a:ext cx="2431227" cy="90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Emmanuel de Jesús </a:t>
            </a:r>
          </a:p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Velásquez-Martínez</a:t>
            </a:r>
            <a:endParaRPr lang="es-MX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DFAFBACE-05EC-7001-620C-0129D68AB1D0}"/>
              </a:ext>
            </a:extLst>
          </p:cNvPr>
          <p:cNvSpPr txBox="1">
            <a:spLocks/>
          </p:cNvSpPr>
          <p:nvPr/>
        </p:nvSpPr>
        <p:spPr>
          <a:xfrm>
            <a:off x="6364580" y="4265196"/>
            <a:ext cx="2431228" cy="9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Miguel Ángel </a:t>
            </a:r>
          </a:p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Porta-García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3084174-7943-1BAF-2325-C16395E6C8A2}"/>
              </a:ext>
            </a:extLst>
          </p:cNvPr>
          <p:cNvSpPr/>
          <p:nvPr/>
        </p:nvSpPr>
        <p:spPr>
          <a:xfrm>
            <a:off x="1905804" y="4265196"/>
            <a:ext cx="864197" cy="864197"/>
          </a:xfrm>
          <a:prstGeom prst="ellipse">
            <a:avLst/>
          </a:prstGeom>
          <a:solidFill>
            <a:srgbClr val="008E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29EDE124-85EF-951F-5EAA-72C4FAC4A21E}"/>
              </a:ext>
            </a:extLst>
          </p:cNvPr>
          <p:cNvSpPr/>
          <p:nvPr/>
        </p:nvSpPr>
        <p:spPr>
          <a:xfrm>
            <a:off x="5634023" y="4265196"/>
            <a:ext cx="864197" cy="864197"/>
          </a:xfrm>
          <a:prstGeom prst="ellipse">
            <a:avLst/>
          </a:prstGeom>
          <a:solidFill>
            <a:srgbClr val="008E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</a:p>
        </p:txBody>
      </p:sp>
      <p:pic>
        <p:nvPicPr>
          <p:cNvPr id="1030" name="Picture 6" descr="School Vector Icons free download in SVG, PNG Format">
            <a:extLst>
              <a:ext uri="{FF2B5EF4-FFF2-40B4-BE49-F238E27FC236}">
                <a16:creationId xmlns:a16="http://schemas.microsoft.com/office/drawing/2014/main" id="{FDF20DDD-9F1E-3E90-046D-2EEA56A9D60C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1" t="16016" r="11487" b="14843"/>
          <a:stretch>
            <a:fillRect/>
          </a:stretch>
        </p:blipFill>
        <p:spPr bwMode="auto">
          <a:xfrm>
            <a:off x="8896350" y="4476750"/>
            <a:ext cx="368130" cy="378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94BCE10-1EFC-590D-8D7B-1A357C0434EF}"/>
              </a:ext>
            </a:extLst>
          </p:cNvPr>
          <p:cNvSpPr txBox="1"/>
          <p:nvPr/>
        </p:nvSpPr>
        <p:spPr>
          <a:xfrm>
            <a:off x="2850931" y="5168040"/>
            <a:ext cx="2431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iemmanuelvm@gmail.com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238830-59AF-8FA3-EC70-472B3EA88470}"/>
              </a:ext>
            </a:extLst>
          </p:cNvPr>
          <p:cNvSpPr txBox="1"/>
          <p:nvPr/>
        </p:nvSpPr>
        <p:spPr>
          <a:xfrm>
            <a:off x="6593470" y="5157035"/>
            <a:ext cx="2431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miguel.porta@infotec.mx</a:t>
            </a:r>
          </a:p>
        </p:txBody>
      </p:sp>
    </p:spTree>
    <p:extLst>
      <p:ext uri="{BB962C8B-B14F-4D97-AF65-F5344CB8AC3E}">
        <p14:creationId xmlns:p14="http://schemas.microsoft.com/office/powerpoint/2010/main" val="4031392508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93037-75DF-A5E0-9223-F289473C8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E4E02-D8A3-2100-3647-EB4632AEF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US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3C0503-8A16-F570-EFE2-9D1273657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431925"/>
            <a:ext cx="11520000" cy="4768850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Ahmed, A. (2022). A quick survey of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 signal noise removal methods. Global Journal of Engineering and Technology Advances, 11:098–104.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Azhar, M., Shafique, T., and Amjad, A. (2024). A convolutional neural network for the removal of simultaneous ocular and myogenic artifacts from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 signals. Electronics, 13(22).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Bahador, N., Erikson, K., Laurila, J.,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Koskenkari,J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., Ala-Kokko, T., and Kortelainen, J. (2020a).Automatic detection of artifacts in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 by combining deep learning and histogram contour processing. In2020 42nd Annual International Conference of the IEEE Engineering in Medicine &amp; Biology Society(EMBC), pages 138–141.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Bahador, N., Erikson, K., Laurila, J.,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Koskenkari,J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., Ala-Kokko, T., and Kortelainen, J. (2020b).A correlation-driven mapping for deep learning application in detecting artifacts within the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Journal of Neural Engineering, 17(5):056018.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Bao, C., Hao, Z., and Dou, W. (2022). Automatic removal of scalp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 artifacts using an interpretable hybrid deep learning method. In 2022 IEEE International Conference on Bioinformatics and Biomedicine (BIBM), pages 1451–1456.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Brophy, E., Redmond, P., Fleury, A., De Vos, M.,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Boylan,G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., and Ward, T. (2022). Denoising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 signals for real-world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bci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 applications using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gans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. Frontiers in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Neuroergonomics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, Volume 2 - 2021.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Cai, Y., Meng, Z., and Huang, D. (2025).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Dhct-gan:Improving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 signal quality with a dual-branch hybrid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cnn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–transformer network. Sensors, 25(1).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Choi, B. J. (2025). Removing neural signal artifacts with autoencoder-targeted adversarial transformers (at-at).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Chuang, C.-H., Chang, K.-Y., Huang, C.-S., and Jung, T.-P. (2022). Ic-u-net: A u-net-based denoising autoencoder using mixtures of independent components for automatic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 artifact removal.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NeuroImage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, 263:119586.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Epub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 ahead of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print,August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 27, 2022.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Courty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, N.,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Flamary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, R.,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Habrard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, A., and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Rakotomamonjy,A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. (2017a). Joint distribution optimal transportation for domain adaptation. In Proceedings of the31st International Conference on Neural Information Processing Systems, NIPS’17, page 3733–3742,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RedHook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, NY, USA. Curran Associates Inc.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Courty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, N.,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Flamary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, R., Tuia, D., and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Rakotomamonjy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, A.(2017b). Optimal transport for domain adaptation. IEEE Transactions on Pattern Analysis and Machine Intelligence, 39(9):1853–1865.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Farahani, A.,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Voghoei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, S., Rasheed, K., and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Arabnia,H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. R. (2021). A brief review of domain adaptation. In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Stahlbock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, R., Weiss, G.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M.,Abou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-Nasr, M., Yang, C.-Y.,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Arabnia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, H. R., and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Deligiannidis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, L., editors, Advances in Data Science and Information Engineering, pages 877–894,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Cham.Springer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 International Publishing.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Feydy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, J.,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Sejourne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, T.,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Vialard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, F.-X., Amari, S.-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.,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Trouve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, A., and Peyre, G. (2019). Interpolating between optimal transport and mmd using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sinkhorn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 divergences. In The 22nd International Conference on Artificial Intelligence and Statistics, pages2681–2690.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Fuglede, B. and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Topsoe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, F. (2004). Jensen-Shannon divergence and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hilbert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 space embedding. In International Symposium on Information Theory,2004. ISIT 2004. Proceedings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Gabardi, M.,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Saibene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, A., Gasparini, F., Rizzo, D., and Stella, F. A. (2023). A multi-artifact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 denoising by frequency-based deep learning.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Geron, A. (2019). Hands-On Machine Learning with Scikit-Learn,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Keras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, and TensorFlow: Concepts, Tools, and Techniques to Build Intelligent </a:t>
            </a:r>
            <a:r>
              <a:rPr lang="en-US" sz="950" noProof="0" dirty="0" err="1">
                <a:latin typeface="Arial" panose="020B0604020202020204" pitchFamily="34" charset="0"/>
                <a:cs typeface="Arial" panose="020B0604020202020204" pitchFamily="34" charset="0"/>
              </a:rPr>
              <a:t>Systems.O’Reilly</a:t>
            </a:r>
            <a:r>
              <a:rPr lang="en-US" sz="950" noProof="0" dirty="0">
                <a:latin typeface="Arial" panose="020B0604020202020204" pitchFamily="34" charset="0"/>
                <a:cs typeface="Arial" panose="020B0604020202020204" pitchFamily="34" charset="0"/>
              </a:rPr>
              <a:t> Media, 2nd edition.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9CB5F04-DAFF-E757-A04A-1A4F67EAB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8077" y="6356350"/>
            <a:ext cx="7447085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BIOSIGNAL 2026, 19TH INTERNATIONAL CONFERENCE ON BIO-INSPIRED SYSTEMS AND SIGNAL PROCESSING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FF1963-A3FA-377F-03BE-3DD54730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b="1" smtClean="0">
                <a:solidFill>
                  <a:schemeClr val="tx1"/>
                </a:solidFill>
              </a:rPr>
              <a:t>21</a:t>
            </a:fld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5BA87B1-9BB6-2A87-2BFD-0114E6798C77}"/>
              </a:ext>
            </a:extLst>
          </p:cNvPr>
          <p:cNvSpPr/>
          <p:nvPr/>
        </p:nvSpPr>
        <p:spPr>
          <a:xfrm>
            <a:off x="10703122" y="6667500"/>
            <a:ext cx="1488878" cy="193934"/>
          </a:xfrm>
          <a:prstGeom prst="rect">
            <a:avLst/>
          </a:prstGeom>
          <a:solidFill>
            <a:srgbClr val="2D7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571BE24-540D-2EC9-0298-0A935ECE8F96}"/>
              </a:ext>
            </a:extLst>
          </p:cNvPr>
          <p:cNvSpPr/>
          <p:nvPr/>
        </p:nvSpPr>
        <p:spPr>
          <a:xfrm>
            <a:off x="8918378" y="6777038"/>
            <a:ext cx="3273622" cy="88900"/>
          </a:xfrm>
          <a:prstGeom prst="rect">
            <a:avLst/>
          </a:prstGeom>
          <a:solidFill>
            <a:srgbClr val="0D8F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70401EF-06F6-97BD-B54F-916EB28BAA88}"/>
              </a:ext>
            </a:extLst>
          </p:cNvPr>
          <p:cNvSpPr/>
          <p:nvPr/>
        </p:nvSpPr>
        <p:spPr>
          <a:xfrm>
            <a:off x="0" y="-119062"/>
            <a:ext cx="12192000" cy="657225"/>
          </a:xfrm>
          <a:prstGeom prst="rect">
            <a:avLst/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>
                <a:latin typeface="Bahnschrift SemiBold" panose="020B0502040204020203" pitchFamily="34" charset="0"/>
                <a:cs typeface="Arial" panose="020B0604020202020204" pitchFamily="34" charset="0"/>
              </a:rPr>
              <a:t>    BIOSIGNALS </a:t>
            </a:r>
            <a:r>
              <a:rPr lang="es-MX" sz="2800" dirty="0">
                <a:solidFill>
                  <a:srgbClr val="0C3C57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600465507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209FD-0418-17A9-BBB5-88BEDF650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091BA-B8C4-79DA-5343-8BE8D20BF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US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808B64-7CBA-99AA-AD65-8D1FE7D73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559047"/>
            <a:ext cx="11520000" cy="4351338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 startAt="17"/>
            </a:pP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Geuter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, J.,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Kornhardt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, G., Tomasson, I., and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Laschos,V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. (2025). Universal neural optimal transport. In Singh, A., Fazel, M., Hsu, D., Lacoste-Julien, S.,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Berkenkamp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, F., Maharaj, T., Wagstaff, K., and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Zhu,J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., editors, Proceedings of the 42nd International Conference on Machine Learning, volume 267 of Proceedings of Machine Learning Research, pages19196–19232. PMLR.</a:t>
            </a:r>
          </a:p>
          <a:p>
            <a:pPr>
              <a:buFont typeface="+mj-lt"/>
              <a:buAutoNum type="arabicPeriod" startAt="17"/>
            </a:pP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Goyal, D. and Pabla, B. (2015). Condition based maintenance of machine tools—a review. CIRP Journal of Manufacturing Science and Technology,10:24–35.</a:t>
            </a:r>
          </a:p>
          <a:p>
            <a:pPr>
              <a:buFont typeface="+mj-lt"/>
              <a:buAutoNum type="arabicPeriod" startAt="17"/>
            </a:pP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Grandini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, M., Bagli, E., and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Visani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, G. (2020). Metrics for multi-class classification: an overview.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ArXiv,abs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/2008.05756.</a:t>
            </a:r>
          </a:p>
          <a:p>
            <a:pPr>
              <a:buFont typeface="+mj-lt"/>
              <a:buAutoNum type="arabicPeriod" startAt="17"/>
            </a:pP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Hamid, A., Gagliano, K., Rahman, S., Tulin, N.,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Tchiong,V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., Obeid, I., and Picone, J. (2020). The temple university artifact corpus: An annotated corpus of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artifacts. In 2020 IEEE Signal Processing in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Medicineand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Biology Symposium (SPMB), pages 1–4.</a:t>
            </a:r>
          </a:p>
          <a:p>
            <a:pPr>
              <a:buFont typeface="+mj-lt"/>
              <a:buAutoNum type="arabicPeriod" startAt="17"/>
            </a:pP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Huang, X., Li, C., Liu, A., Qian, R., and Chen, X.(2024).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Eegdfus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: A conditional diffusion model for fine-grained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denoising. IEEE Journal of Biomedical and Health Informatics, pages 1–13.</a:t>
            </a:r>
          </a:p>
          <a:p>
            <a:pPr>
              <a:buFont typeface="+mj-lt"/>
              <a:buAutoNum type="arabicPeriod" startAt="17"/>
            </a:pP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Jackson, A. F. and Bolger, D. J. (2014). The neurophysiological bases of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measurement: a review for the rest of us. Psychophysiology, 51(11):1061–1071.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Epub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2014 Jul17.</a:t>
            </a:r>
          </a:p>
          <a:p>
            <a:pPr>
              <a:buFont typeface="+mj-lt"/>
              <a:buAutoNum type="arabicPeriod" startAt="17"/>
            </a:pP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Kim, D. and Keene, S. (2019). Fast automatic artifact annotator for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signals using deep learning. In 2019IEEE Signal Processing in Medicine and Biology Symposium (SPMB), pages 1–5.</a:t>
            </a:r>
          </a:p>
          <a:p>
            <a:pPr>
              <a:buFont typeface="+mj-lt"/>
              <a:buAutoNum type="arabicPeriod" startAt="17"/>
            </a:pP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Lin, H.-Y., Tseng, H.-H., Lu, X., and Tsao, Y. (2021).Unsupervised noise adaptive speech enhancement by discriminator-constrained optimal transport.</a:t>
            </a:r>
          </a:p>
          <a:p>
            <a:pPr>
              <a:buFont typeface="+mj-lt"/>
              <a:buAutoNum type="arabicPeriod" startAt="17"/>
            </a:pP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Maiwald, A., Ackermann, L.,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Kalcher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, M., and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Wu,D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. J. (2023). Image-based data representations of time series: A comparative analysis in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artifact detection.</a:t>
            </a:r>
          </a:p>
          <a:p>
            <a:pPr>
              <a:buFont typeface="+mj-lt"/>
              <a:buAutoNum type="arabicPeriod" startAt="17"/>
            </a:pP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Mashhadi, N.,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Khuzani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, A. Z., Heidari, M., and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Khaledyan,D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. (2020). Deep learning denoising for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eog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artifacts removal from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signals. 2020 IEEE Global Humanitarian Technology Conference (GHTC), pages1–6.</a:t>
            </a:r>
          </a:p>
          <a:p>
            <a:pPr>
              <a:buFont typeface="+mj-lt"/>
              <a:buAutoNum type="arabicPeriod" startAt="17"/>
            </a:pP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Pandya, S., Patel, P., Nord, B. D., Walmsley, and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Ciprijanovic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, A. (2025). Sidda: Sinkhorn dynamic domain adaptation for image classification with equivariant neural networks.</a:t>
            </a:r>
          </a:p>
          <a:p>
            <a:pPr>
              <a:buFont typeface="+mj-lt"/>
              <a:buAutoNum type="arabicPeriod" startAt="17"/>
            </a:pP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Peh, W. Y., Yao, Y., and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Dauwels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, J. (2022).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Transformerconvolutional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neural networks for automated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artifactdetection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in scalp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. 2022 44th Annual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InternationalConference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of the IEEE Engineering in Medicine &amp;Biology Society (EMBC), pages 3599–3602.</a:t>
            </a:r>
          </a:p>
          <a:p>
            <a:pPr>
              <a:buFont typeface="+mj-lt"/>
              <a:buAutoNum type="arabicPeriod" startAt="17"/>
            </a:pP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Quintero-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Rinc´on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, A., Giano, C. D., and Batatia, H. (2021).Chapter 11. artefacts detection in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signals.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InArtefacts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Detection in EEG Signals.</a:t>
            </a:r>
          </a:p>
          <a:p>
            <a:pPr>
              <a:buFont typeface="+mj-lt"/>
              <a:buAutoNum type="arabicPeriod" startAt="17"/>
            </a:pP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Saba-Sadiya, S.,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Chantland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, E.,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Alhanai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, T., Liu, T.,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andGhassemi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, M. M. (2021). Unsupervised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artifactdetection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and correction. Frontiers in Digital Health,2.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27473C0-CA6E-F430-B98A-AD6BF278C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8077" y="6356350"/>
            <a:ext cx="7447085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BIOSIGNAL 2026, 19TH INTERNATIONAL CONFERENCE ON BIO-INSPIRED SYSTEMS AND SIGNAL PROCESSING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2FE086F-5322-861B-1A80-E69C247CB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b="1" smtClean="0">
                <a:solidFill>
                  <a:schemeClr val="tx1"/>
                </a:solidFill>
              </a:rPr>
              <a:t>22</a:t>
            </a:fld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F188EE0-230C-3C20-95E4-04444C825F91}"/>
              </a:ext>
            </a:extLst>
          </p:cNvPr>
          <p:cNvSpPr/>
          <p:nvPr/>
        </p:nvSpPr>
        <p:spPr>
          <a:xfrm>
            <a:off x="10703122" y="6667500"/>
            <a:ext cx="1488878" cy="193934"/>
          </a:xfrm>
          <a:prstGeom prst="rect">
            <a:avLst/>
          </a:prstGeom>
          <a:solidFill>
            <a:srgbClr val="2D7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D42875A-2A79-F5C9-92FC-DADBA0A94636}"/>
              </a:ext>
            </a:extLst>
          </p:cNvPr>
          <p:cNvSpPr/>
          <p:nvPr/>
        </p:nvSpPr>
        <p:spPr>
          <a:xfrm>
            <a:off x="8918378" y="6777038"/>
            <a:ext cx="3273622" cy="88900"/>
          </a:xfrm>
          <a:prstGeom prst="rect">
            <a:avLst/>
          </a:prstGeom>
          <a:solidFill>
            <a:srgbClr val="0D8F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649000-A6FE-9ED7-0F80-56291121F424}"/>
              </a:ext>
            </a:extLst>
          </p:cNvPr>
          <p:cNvSpPr/>
          <p:nvPr/>
        </p:nvSpPr>
        <p:spPr>
          <a:xfrm>
            <a:off x="0" y="-119062"/>
            <a:ext cx="12192000" cy="657225"/>
          </a:xfrm>
          <a:prstGeom prst="rect">
            <a:avLst/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>
                <a:latin typeface="Bahnschrift SemiBold" panose="020B0502040204020203" pitchFamily="34" charset="0"/>
                <a:cs typeface="Arial" panose="020B0604020202020204" pitchFamily="34" charset="0"/>
              </a:rPr>
              <a:t>    BIOSIGNALS </a:t>
            </a:r>
            <a:r>
              <a:rPr lang="es-MX" sz="2800" dirty="0">
                <a:solidFill>
                  <a:srgbClr val="0C3C57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173968956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BEF11-FEA7-8988-1453-F328B037A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2BBCE5-E948-33C8-BD6E-A0FE5173D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US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226896-B17D-FA9D-B1FB-F7A6E8665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427162"/>
            <a:ext cx="11520000" cy="4351338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 startAt="31"/>
            </a:pP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Shlens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, J. (2014). Notes on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kullback-leibler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divergence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andlikelihood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, abs/1404.2000.</a:t>
            </a:r>
          </a:p>
          <a:p>
            <a:pPr>
              <a:buFont typeface="+mj-lt"/>
              <a:buAutoNum type="arabicPeriod" startAt="31"/>
            </a:pP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Tohka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, J. and van Gils, M. (2021). Evaluation of machine learning algorithms for health and wellness applications: A tutorial. Computers in Biology and Medicine, 132:104324.</a:t>
            </a:r>
          </a:p>
          <a:p>
            <a:pPr>
              <a:buFont typeface="+mj-lt"/>
              <a:buAutoNum type="arabicPeriod" startAt="31"/>
            </a:pP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Xiong, W., Ma, L., and Li, H. (2024). A general dual-pathway network for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denoising. Frontiers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inNeuroscience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, 17.</a:t>
            </a:r>
          </a:p>
          <a:p>
            <a:pPr>
              <a:buFont typeface="+mj-lt"/>
              <a:buAutoNum type="arabicPeriod" startAt="31"/>
            </a:pP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Zhang, H., Zhao, M., Wei, C., Mantini, D., Li, Z., and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Liu,Q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. (2021).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Eegdenoisenet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: a benchmark dataset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fordeep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learning solutions of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eeg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denoising. Journal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ofNeural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Engineering, 18(5):056057.</a:t>
            </a:r>
          </a:p>
          <a:p>
            <a:pPr>
              <a:buFont typeface="+mj-lt"/>
              <a:buAutoNum type="arabicPeriod" startAt="31"/>
            </a:pP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Zunino, L., Olivares, F., Ribeiro, H. V., and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Rosso,O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. A. (2022). Permutation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jensen-shannon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distance:A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 versatile and fast symbolic tool for </a:t>
            </a:r>
            <a:r>
              <a:rPr lang="en-US" sz="950" dirty="0" err="1">
                <a:latin typeface="Arial" panose="020B0604020202020204" pitchFamily="34" charset="0"/>
                <a:cs typeface="Arial" panose="020B0604020202020204" pitchFamily="34" charset="0"/>
              </a:rPr>
              <a:t>complextime</a:t>
            </a:r>
            <a:r>
              <a:rPr lang="en-US" sz="950" dirty="0">
                <a:latin typeface="Arial" panose="020B0604020202020204" pitchFamily="34" charset="0"/>
                <a:cs typeface="Arial" panose="020B0604020202020204" pitchFamily="34" charset="0"/>
              </a:rPr>
              <a:t>-series analysis. Phys. Rev. E, 105:045310.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B0AE83A-D30D-D6F0-9AAA-81754259F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8077" y="6356350"/>
            <a:ext cx="7447085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BIOSIGNAL 2026, 19TH INTERNATIONAL CONFERENCE ON BIO-INSPIRED SYSTEMS AND SIGNAL PROCESSING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6605F3-14D5-BE37-98EC-12147AB2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AB0B9-C5C0-48C4-9184-1111787E7239}" type="slidenum">
              <a:rPr lang="es-MX" b="1" smtClean="0">
                <a:solidFill>
                  <a:schemeClr val="tx1"/>
                </a:solidFill>
              </a:rPr>
              <a:t>23</a:t>
            </a:fld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5F19110-E688-36AA-F691-CEC6211250A8}"/>
              </a:ext>
            </a:extLst>
          </p:cNvPr>
          <p:cNvSpPr/>
          <p:nvPr/>
        </p:nvSpPr>
        <p:spPr>
          <a:xfrm>
            <a:off x="10703122" y="6667500"/>
            <a:ext cx="1488878" cy="193934"/>
          </a:xfrm>
          <a:prstGeom prst="rect">
            <a:avLst/>
          </a:prstGeom>
          <a:solidFill>
            <a:srgbClr val="2D7B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CE18BA1-6321-27B6-324B-C77AB69C7D57}"/>
              </a:ext>
            </a:extLst>
          </p:cNvPr>
          <p:cNvSpPr/>
          <p:nvPr/>
        </p:nvSpPr>
        <p:spPr>
          <a:xfrm>
            <a:off x="8918378" y="6777038"/>
            <a:ext cx="3273622" cy="88900"/>
          </a:xfrm>
          <a:prstGeom prst="rect">
            <a:avLst/>
          </a:prstGeom>
          <a:solidFill>
            <a:srgbClr val="0D8F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21FC670-AC71-314C-ECB4-3541EC333897}"/>
              </a:ext>
            </a:extLst>
          </p:cNvPr>
          <p:cNvSpPr/>
          <p:nvPr/>
        </p:nvSpPr>
        <p:spPr>
          <a:xfrm>
            <a:off x="0" y="-119062"/>
            <a:ext cx="12192000" cy="657225"/>
          </a:xfrm>
          <a:prstGeom prst="rect">
            <a:avLst/>
          </a:prstGeom>
          <a:solidFill>
            <a:srgbClr val="4B80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dirty="0">
                <a:latin typeface="Bahnschrift SemiBold" panose="020B0502040204020203" pitchFamily="34" charset="0"/>
                <a:cs typeface="Arial" panose="020B0604020202020204" pitchFamily="34" charset="0"/>
              </a:rPr>
              <a:t>    BIOSIGNALS </a:t>
            </a:r>
            <a:r>
              <a:rPr lang="es-MX" sz="2800" dirty="0">
                <a:solidFill>
                  <a:srgbClr val="0C3C57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26772794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5915</TotalTime>
  <Words>2966</Words>
  <Application>Microsoft Office PowerPoint</Application>
  <PresentationFormat>Panorámica</PresentationFormat>
  <Paragraphs>347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Arial</vt:lpstr>
      <vt:lpstr>Bahnschrift SemiBold</vt:lpstr>
      <vt:lpstr>Calibri</vt:lpstr>
      <vt:lpstr>Calibri Light</vt:lpstr>
      <vt:lpstr>Times New Roman</vt:lpstr>
      <vt:lpstr>Tema de Office</vt:lpstr>
      <vt:lpstr>RESEARCH TOPIC: DA-NN: A ResNet-Based Architecture with Domain Adaptation for Automatic EEG Artifact Identification</vt:lpstr>
      <vt:lpstr>Agenda</vt:lpstr>
      <vt:lpstr>Agenda</vt:lpstr>
      <vt:lpstr>Background EEG Essentials</vt:lpstr>
      <vt:lpstr>PROBLEM DEFINITION Artifacts in EEG: Types and Impact</vt:lpstr>
      <vt:lpstr>Agenda</vt:lpstr>
      <vt:lpstr>PREVIOUS RESEARCH Related Works</vt:lpstr>
      <vt:lpstr>Agenda</vt:lpstr>
      <vt:lpstr>RESEARCH MOTIVATION Motivation and Objectives</vt:lpstr>
      <vt:lpstr>METHODOLOGY From data preparation to model evaluation</vt:lpstr>
      <vt:lpstr>Agenda</vt:lpstr>
      <vt:lpstr>Presentación de PowerPoint</vt:lpstr>
      <vt:lpstr>Agenda</vt:lpstr>
      <vt:lpstr>Presentación de PowerPoint</vt:lpstr>
      <vt:lpstr>Presentación de PowerPoint</vt:lpstr>
      <vt:lpstr>Presentación de PowerPoint</vt:lpstr>
      <vt:lpstr>Presentación de PowerPoint</vt:lpstr>
      <vt:lpstr>Agenda</vt:lpstr>
      <vt:lpstr>Summary &amp; Outlook Conclusions and Future Work</vt:lpstr>
      <vt:lpstr>THANK YOU FOR YOUR ATTENTION  DA-NN: A ResNet-Based Architecture with Domain Adaptation for Automatic EEG Artifact Identification</vt:lpstr>
      <vt:lpstr>References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de Jesus Velasquez Martinez</dc:creator>
  <cp:lastModifiedBy>Emmanuel de Jesus Velasquez Martinez</cp:lastModifiedBy>
  <cp:revision>51</cp:revision>
  <dcterms:created xsi:type="dcterms:W3CDTF">2026-01-01T19:43:49Z</dcterms:created>
  <dcterms:modified xsi:type="dcterms:W3CDTF">2026-01-11T15:45:29Z</dcterms:modified>
</cp:coreProperties>
</file>